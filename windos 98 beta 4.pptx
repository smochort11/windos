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8.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1" r:id="rId4"/>
    <p:sldId id="258" r:id="rId5"/>
    <p:sldId id="289" r:id="rId6"/>
    <p:sldId id="287" r:id="rId7"/>
    <p:sldId id="259" r:id="rId8"/>
    <p:sldId id="323" r:id="rId9"/>
    <p:sldId id="325" r:id="rId10"/>
    <p:sldId id="260" r:id="rId11"/>
    <p:sldId id="262" r:id="rId12"/>
    <p:sldId id="297" r:id="rId13"/>
    <p:sldId id="307" r:id="rId14"/>
    <p:sldId id="298" r:id="rId15"/>
    <p:sldId id="264" r:id="rId16"/>
    <p:sldId id="265" r:id="rId17"/>
    <p:sldId id="299" r:id="rId18"/>
    <p:sldId id="268" r:id="rId19"/>
    <p:sldId id="269" r:id="rId20"/>
    <p:sldId id="270" r:id="rId21"/>
    <p:sldId id="271" r:id="rId22"/>
    <p:sldId id="272" r:id="rId23"/>
    <p:sldId id="273" r:id="rId24"/>
    <p:sldId id="342" r:id="rId25"/>
    <p:sldId id="276" r:id="rId26"/>
    <p:sldId id="277" r:id="rId27"/>
    <p:sldId id="278" r:id="rId28"/>
    <p:sldId id="279" r:id="rId29"/>
    <p:sldId id="280" r:id="rId30"/>
    <p:sldId id="282" r:id="rId31"/>
    <p:sldId id="283" r:id="rId32"/>
    <p:sldId id="284" r:id="rId33"/>
    <p:sldId id="285" r:id="rId34"/>
    <p:sldId id="286" r:id="rId35"/>
    <p:sldId id="288" r:id="rId36"/>
    <p:sldId id="290" r:id="rId37"/>
    <p:sldId id="291" r:id="rId38"/>
    <p:sldId id="292" r:id="rId39"/>
    <p:sldId id="293" r:id="rId40"/>
    <p:sldId id="294" r:id="rId41"/>
    <p:sldId id="295" r:id="rId42"/>
    <p:sldId id="296" r:id="rId43"/>
    <p:sldId id="300" r:id="rId44"/>
    <p:sldId id="301" r:id="rId45"/>
    <p:sldId id="302" r:id="rId46"/>
    <p:sldId id="303" r:id="rId47"/>
    <p:sldId id="304" r:id="rId48"/>
    <p:sldId id="305" r:id="rId49"/>
    <p:sldId id="306" r:id="rId50"/>
    <p:sldId id="308" r:id="rId51"/>
    <p:sldId id="309" r:id="rId52"/>
    <p:sldId id="310" r:id="rId53"/>
    <p:sldId id="311" r:id="rId54"/>
    <p:sldId id="312" r:id="rId55"/>
    <p:sldId id="313" r:id="rId56"/>
    <p:sldId id="314" r:id="rId57"/>
    <p:sldId id="315" r:id="rId58"/>
    <p:sldId id="316" r:id="rId59"/>
    <p:sldId id="317" r:id="rId60"/>
    <p:sldId id="318" r:id="rId61"/>
    <p:sldId id="320" r:id="rId62"/>
    <p:sldId id="319" r:id="rId63"/>
    <p:sldId id="321" r:id="rId64"/>
    <p:sldId id="322" r:id="rId65"/>
    <p:sldId id="324" r:id="rId66"/>
    <p:sldId id="328" r:id="rId67"/>
    <p:sldId id="330" r:id="rId68"/>
    <p:sldId id="327" r:id="rId69"/>
    <p:sldId id="326" r:id="rId70"/>
    <p:sldId id="329" r:id="rId71"/>
    <p:sldId id="331" r:id="rId72"/>
    <p:sldId id="332" r:id="rId73"/>
    <p:sldId id="333" r:id="rId74"/>
    <p:sldId id="334" r:id="rId75"/>
    <p:sldId id="335" r:id="rId76"/>
    <p:sldId id="336" r:id="rId77"/>
    <p:sldId id="337" r:id="rId78"/>
    <p:sldId id="338" r:id="rId79"/>
    <p:sldId id="339" r:id="rId80"/>
    <p:sldId id="340" r:id="rId81"/>
    <p:sldId id="341"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58" autoAdjust="0"/>
    <p:restoredTop sz="94660"/>
  </p:normalViewPr>
  <p:slideViewPr>
    <p:cSldViewPr snapToGrid="0">
      <p:cViewPr varScale="1">
        <p:scale>
          <a:sx n="90" d="100"/>
          <a:sy n="90" d="100"/>
        </p:scale>
        <p:origin x="5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heme" Target="theme/theme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7CC4-0D06-44A4-9CF7-1A2AE1124A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F35222-A861-41B2-8FAC-1A62D958D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0CDBA24-3B41-43AB-B789-EC3CD6081AEC}"/>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9634C9B1-BECF-4D50-A3BA-874CD68776F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A3C6E2B-AADD-46B4-A2DC-960F62F11B5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1200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1C27-E4BC-4A9A-A686-5C0646F22D1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E8400F-EC96-4C33-82E9-A20CFD1DE3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6C563D-8F81-49FE-AC08-E05C45B7AEFB}"/>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D7CB68E0-2270-4A90-AF52-314F9CFE827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516EB6D-0A77-42AF-B4DE-32F461D8BE77}"/>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017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D52-80A2-4145-8AAE-958E5BF15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F3BC416-CCAD-4900-8D08-1A2021D8DC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A86158-2533-422A-8360-0133BEF6FF5A}"/>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6939F1E7-B59A-47F6-AAB5-1EE0C173250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4A377C8-0FF1-4632-902E-125A9074564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829089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E820-85CA-4423-A968-8A423FEC532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CADC71B-02B5-4B48-9917-F2076D420D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64A1177-9995-40A7-AF0B-458EDE1239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104C731-B474-4D6E-85C0-3FE759C359E9}"/>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6" name="Footer Placeholder 5">
            <a:extLst>
              <a:ext uri="{FF2B5EF4-FFF2-40B4-BE49-F238E27FC236}">
                <a16:creationId xmlns:a16="http://schemas.microsoft.com/office/drawing/2014/main" id="{64BD5F72-EFFC-424F-A77E-8A4B24C969B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7A3FC6B-7D17-482A-9150-10D9DFF45D1F}"/>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49836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FB2B-3002-43DE-B3D7-F4A97751722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D72071D-17FA-4B15-9683-9BD487281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2BBF06-76C9-480B-8538-B2259F039E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CF8B75-6D87-4F44-89CE-7196BDDCB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8A509-A2FF-42EF-93D1-A343879196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E476171-3A0E-4B4D-B77C-C9F7E84187C3}"/>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8" name="Footer Placeholder 7">
            <a:extLst>
              <a:ext uri="{FF2B5EF4-FFF2-40B4-BE49-F238E27FC236}">
                <a16:creationId xmlns:a16="http://schemas.microsoft.com/office/drawing/2014/main" id="{F7653C30-016F-4475-AF33-80AC374345B8}"/>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64F8B657-517D-4628-ADA4-5A81478A29AD}"/>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72554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61C2-7113-4699-98CA-AEFE09A7B1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5D5308-7301-4744-BFCF-4CEEC6ABB1DF}"/>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4" name="Footer Placeholder 3">
            <a:extLst>
              <a:ext uri="{FF2B5EF4-FFF2-40B4-BE49-F238E27FC236}">
                <a16:creationId xmlns:a16="http://schemas.microsoft.com/office/drawing/2014/main" id="{73D95728-EA55-4FF5-8597-E1202155755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61FB1B3-1A2C-45E3-873F-0806C79A408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85295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75E25C-7134-4806-99DA-C6808B9EBECD}"/>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3" name="Footer Placeholder 2">
            <a:extLst>
              <a:ext uri="{FF2B5EF4-FFF2-40B4-BE49-F238E27FC236}">
                <a16:creationId xmlns:a16="http://schemas.microsoft.com/office/drawing/2014/main" id="{1AE63138-3E73-4747-BBCB-7C629E9AFEEC}"/>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0BC826A2-51F9-4545-95E7-B92229179BB7}"/>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376272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EE4-D031-4F2F-86A2-E8F071726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E1BBD20-DF1B-44E5-B070-030944CEEB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7EE108-C52C-45B7-98C7-DF5DF0E0F3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766D07-3E32-41E8-9265-9D29E4D97352}"/>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6" name="Footer Placeholder 5">
            <a:extLst>
              <a:ext uri="{FF2B5EF4-FFF2-40B4-BE49-F238E27FC236}">
                <a16:creationId xmlns:a16="http://schemas.microsoft.com/office/drawing/2014/main" id="{0DE58CA7-7EC5-4F04-9BC7-15500F2ABFF0}"/>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2226E8E-8073-424C-BAFD-9FF9EF1A0A6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0309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290E-0EB9-46FC-BE2D-7C640400F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210FD39-323B-4553-8387-32B6CD9A18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8CD6C31D-9D85-44FC-B4A0-530889851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89D92-20EC-43E2-B448-C5C49DB1C676}"/>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6" name="Footer Placeholder 5">
            <a:extLst>
              <a:ext uri="{FF2B5EF4-FFF2-40B4-BE49-F238E27FC236}">
                <a16:creationId xmlns:a16="http://schemas.microsoft.com/office/drawing/2014/main" id="{E0CFEC05-79D9-4B63-8283-5B3DAA02DFE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3ED0475-773D-4E82-BDEB-602E5B1DAC6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420808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DEDD-2101-4156-BFDE-B7CECE96709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AC06B5-4D8F-461E-AA30-989F82B8B4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AC7DA-13A1-4A64-9852-3E2F402F176C}"/>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3FFE2708-5ED0-4C85-903A-D2118AC3579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641DB6B-06E6-4456-ADBC-D6DB89635442}"/>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2475992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E45538-370A-4A00-8953-7A201702BB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4AF04A-8A93-44EE-A84F-1C7FF210CA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0D982D-4B6E-41B2-BE39-4D58D0EC7F0B}"/>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509D02D0-1263-4D97-B0B0-8813884CE30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6CBED45-6AE3-4516-BF70-3B329C63953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2516287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8B49B7-E306-4D2F-BF3C-55FAE77674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92732E-5473-48E4-9145-F5B0F2DB1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8E7F33-967D-4359-A52C-44D513123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84214767-6EC3-4955-8DF1-2C66BE963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5D2D327D-39C4-4A69-B2DC-1381E1841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5A90C0-1A04-48CB-92B5-42F3155E64EB}" type="slidenum">
              <a:rPr lang="en-GB" smtClean="0"/>
              <a:t>‹#›</a:t>
            </a:fld>
            <a:endParaRPr lang="en-GB" dirty="0"/>
          </a:p>
        </p:txBody>
      </p:sp>
    </p:spTree>
    <p:extLst>
      <p:ext uri="{BB962C8B-B14F-4D97-AF65-F5344CB8AC3E}">
        <p14:creationId xmlns:p14="http://schemas.microsoft.com/office/powerpoint/2010/main" val="2488122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61.xml"/></Relationships>
</file>

<file path=ppt/slides/_rels/slide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4.png"/><Relationship Id="rId2" Type="http://schemas.openxmlformats.org/officeDocument/2006/relationships/slide" Target="slide12.xml"/><Relationship Id="rId1" Type="http://schemas.openxmlformats.org/officeDocument/2006/relationships/slideLayout" Target="../slideLayouts/slideLayout7.xml"/><Relationship Id="rId6" Type="http://schemas.openxmlformats.org/officeDocument/2006/relationships/slide" Target="slide29.xml"/><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slide" Target="slide21.xml"/><Relationship Id="rId9" Type="http://schemas.openxmlformats.org/officeDocument/2006/relationships/image" Target="../media/image9.png"/><Relationship Id="rId1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2.gif"/><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 Target="slide2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audio" Target="../media/audio1.wav"/><Relationship Id="rId5" Type="http://schemas.openxmlformats.org/officeDocument/2006/relationships/image" Target="../media/image11.png"/><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8" Type="http://schemas.openxmlformats.org/officeDocument/2006/relationships/slide" Target="slide59.xml"/><Relationship Id="rId13" Type="http://schemas.openxmlformats.org/officeDocument/2006/relationships/image" Target="../media/image16.png"/><Relationship Id="rId18" Type="http://schemas.openxmlformats.org/officeDocument/2006/relationships/slide" Target="slide36.xml"/><Relationship Id="rId3" Type="http://schemas.openxmlformats.org/officeDocument/2006/relationships/slide" Target="slide24.xml"/><Relationship Id="rId21" Type="http://schemas.openxmlformats.org/officeDocument/2006/relationships/slide" Target="slide85.xml"/><Relationship Id="rId7" Type="http://schemas.openxmlformats.org/officeDocument/2006/relationships/image" Target="../media/image11.png"/><Relationship Id="rId12" Type="http://schemas.openxmlformats.org/officeDocument/2006/relationships/slide" Target="slide27.xml"/><Relationship Id="rId17" Type="http://schemas.openxmlformats.org/officeDocument/2006/relationships/image" Target="../media/image17.png"/><Relationship Id="rId2" Type="http://schemas.openxmlformats.org/officeDocument/2006/relationships/image" Target="../media/image1.jpg"/><Relationship Id="rId16" Type="http://schemas.openxmlformats.org/officeDocument/2006/relationships/slide" Target="slide61.xml"/><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 Target="slide44.xml"/><Relationship Id="rId11" Type="http://schemas.openxmlformats.org/officeDocument/2006/relationships/image" Target="../media/image15.png"/><Relationship Id="rId5" Type="http://schemas.openxmlformats.org/officeDocument/2006/relationships/image" Target="../media/image12.png"/><Relationship Id="rId15" Type="http://schemas.openxmlformats.org/officeDocument/2006/relationships/image" Target="../media/image3.png"/><Relationship Id="rId10" Type="http://schemas.openxmlformats.org/officeDocument/2006/relationships/slide" Target="slide84.xml"/><Relationship Id="rId19" Type="http://schemas.openxmlformats.org/officeDocument/2006/relationships/image" Target="../media/image9.png"/><Relationship Id="rId4" Type="http://schemas.openxmlformats.org/officeDocument/2006/relationships/slide" Target="slide25.xml"/><Relationship Id="rId9" Type="http://schemas.openxmlformats.org/officeDocument/2006/relationships/image" Target="../media/image4.png"/><Relationship Id="rId14" Type="http://schemas.openxmlformats.org/officeDocument/2006/relationships/slide" Target="slide26.xml"/><Relationship Id="rId22"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slide" Target="slide36.xml"/><Relationship Id="rId13" Type="http://schemas.openxmlformats.org/officeDocument/2006/relationships/slide" Target="slide21.xml"/><Relationship Id="rId3" Type="http://schemas.openxmlformats.org/officeDocument/2006/relationships/image" Target="../media/image1.jpg"/><Relationship Id="rId7" Type="http://schemas.openxmlformats.org/officeDocument/2006/relationships/slide" Target="slide25.xml"/><Relationship Id="rId12" Type="http://schemas.openxmlformats.org/officeDocument/2006/relationships/image" Target="../media/image5.png"/><Relationship Id="rId17" Type="http://schemas.openxmlformats.org/officeDocument/2006/relationships/image" Target="../media/image19.jpg"/><Relationship Id="rId2" Type="http://schemas.openxmlformats.org/officeDocument/2006/relationships/slide" Target="slide22.xml"/><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slide" Target="slide30.xml"/><Relationship Id="rId11" Type="http://schemas.openxmlformats.org/officeDocument/2006/relationships/image" Target="../media/image16.png"/><Relationship Id="rId5" Type="http://schemas.openxmlformats.org/officeDocument/2006/relationships/slide" Target="slide27.xml"/><Relationship Id="rId1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slide" Target="slide26.xml"/><Relationship Id="rId9" Type="http://schemas.openxmlformats.org/officeDocument/2006/relationships/slide" Target="slide61.xml"/><Relationship Id="rId14"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image" Target="../media/image1.jpg"/><Relationship Id="rId7" Type="http://schemas.openxmlformats.org/officeDocument/2006/relationships/slide" Target="slide27.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slide" Target="slide30.xml"/><Relationship Id="rId5" Type="http://schemas.openxmlformats.org/officeDocument/2006/relationships/image" Target="../media/image19.jpg"/><Relationship Id="rId10" Type="http://schemas.openxmlformats.org/officeDocument/2006/relationships/slide" Target="slide36.xml"/><Relationship Id="rId4" Type="http://schemas.openxmlformats.org/officeDocument/2006/relationships/slide" Target="slide23.xml"/><Relationship Id="rId9" Type="http://schemas.openxmlformats.org/officeDocument/2006/relationships/slide" Target="slide61.xml"/></Relationships>
</file>

<file path=ppt/slides/_rels/slide25.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slide" Target="slide49.xml"/><Relationship Id="rId5" Type="http://schemas.openxmlformats.org/officeDocument/2006/relationships/slide" Target="slide43.xml"/><Relationship Id="rId4" Type="http://schemas.openxmlformats.org/officeDocument/2006/relationships/slide" Target="slide42.xml"/></Relationships>
</file>

<file path=ppt/slides/_rels/slide26.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slide" Target="slide50.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image" Target="../media/image4.png"/><Relationship Id="rId18" Type="http://schemas.openxmlformats.org/officeDocument/2006/relationships/slide" Target="slide61.xml"/><Relationship Id="rId3" Type="http://schemas.openxmlformats.org/officeDocument/2006/relationships/slide" Target="slide28.xml"/><Relationship Id="rId21" Type="http://schemas.openxmlformats.org/officeDocument/2006/relationships/image" Target="../media/image6.png"/><Relationship Id="rId7" Type="http://schemas.openxmlformats.org/officeDocument/2006/relationships/image" Target="../media/image3.png"/><Relationship Id="rId12" Type="http://schemas.openxmlformats.org/officeDocument/2006/relationships/slide" Target="slide59.xml"/><Relationship Id="rId17" Type="http://schemas.openxmlformats.org/officeDocument/2006/relationships/image" Target="../media/image24.jpg"/><Relationship Id="rId2" Type="http://schemas.openxmlformats.org/officeDocument/2006/relationships/slide" Target="slide22.xml"/><Relationship Id="rId16" Type="http://schemas.openxmlformats.org/officeDocument/2006/relationships/slide" Target="slide60.xml"/><Relationship Id="rId20"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image" Target="../media/image22.png"/><Relationship Id="rId5" Type="http://schemas.openxmlformats.org/officeDocument/2006/relationships/image" Target="../media/image8.svg"/><Relationship Id="rId15" Type="http://schemas.openxmlformats.org/officeDocument/2006/relationships/image" Target="../media/image23.png"/><Relationship Id="rId10" Type="http://schemas.openxmlformats.org/officeDocument/2006/relationships/slide" Target="slide44.xml"/><Relationship Id="rId19"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slide" Target="slide32.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31.xml"/><Relationship Id="rId2" Type="http://schemas.openxmlformats.org/officeDocument/2006/relationships/slide" Target="slide21.xml"/><Relationship Id="rId1" Type="http://schemas.openxmlformats.org/officeDocument/2006/relationships/slideLayout" Target="../slideLayouts/slideLayout7.xml"/><Relationship Id="rId6" Type="http://schemas.openxmlformats.org/officeDocument/2006/relationships/slide" Target="slide34.xml"/><Relationship Id="rId5" Type="http://schemas.openxmlformats.org/officeDocument/2006/relationships/slide" Target="slide1.xml"/><Relationship Id="rId4" Type="http://schemas.openxmlformats.org/officeDocument/2006/relationships/slide" Target="slide33.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8.png"/><Relationship Id="rId18" Type="http://schemas.openxmlformats.org/officeDocument/2006/relationships/image" Target="../media/image30.png"/><Relationship Id="rId26" Type="http://schemas.openxmlformats.org/officeDocument/2006/relationships/image" Target="../media/image21.png"/><Relationship Id="rId3" Type="http://schemas.openxmlformats.org/officeDocument/2006/relationships/slide" Target="slide26.xml"/><Relationship Id="rId21" Type="http://schemas.openxmlformats.org/officeDocument/2006/relationships/image" Target="../media/image16.png"/><Relationship Id="rId34" Type="http://schemas.openxmlformats.org/officeDocument/2006/relationships/image" Target="../media/image19.jpg"/><Relationship Id="rId7" Type="http://schemas.openxmlformats.org/officeDocument/2006/relationships/image" Target="../media/image12.png"/><Relationship Id="rId12" Type="http://schemas.openxmlformats.org/officeDocument/2006/relationships/image" Target="../media/image23.png"/><Relationship Id="rId17" Type="http://schemas.openxmlformats.org/officeDocument/2006/relationships/image" Target="../media/image29.png"/><Relationship Id="rId25" Type="http://schemas.openxmlformats.org/officeDocument/2006/relationships/image" Target="../media/image22.png"/><Relationship Id="rId33" Type="http://schemas.openxmlformats.org/officeDocument/2006/relationships/image" Target="../media/image37.png"/><Relationship Id="rId2" Type="http://schemas.openxmlformats.org/officeDocument/2006/relationships/slide" Target="slide22.xml"/><Relationship Id="rId16" Type="http://schemas.openxmlformats.org/officeDocument/2006/relationships/image" Target="../media/image10.png"/><Relationship Id="rId20" Type="http://schemas.openxmlformats.org/officeDocument/2006/relationships/image" Target="../media/image4.png"/><Relationship Id="rId29"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7.png"/><Relationship Id="rId24" Type="http://schemas.openxmlformats.org/officeDocument/2006/relationships/image" Target="../media/image2.gif"/><Relationship Id="rId32" Type="http://schemas.openxmlformats.org/officeDocument/2006/relationships/image" Target="../media/image36.png"/><Relationship Id="rId5" Type="http://schemas.openxmlformats.org/officeDocument/2006/relationships/image" Target="../media/image26.png"/><Relationship Id="rId15" Type="http://schemas.openxmlformats.org/officeDocument/2006/relationships/image" Target="../media/image11.png"/><Relationship Id="rId23" Type="http://schemas.openxmlformats.org/officeDocument/2006/relationships/image" Target="../media/image6.png"/><Relationship Id="rId28" Type="http://schemas.openxmlformats.org/officeDocument/2006/relationships/image" Target="../media/image32.png"/><Relationship Id="rId10" Type="http://schemas.openxmlformats.org/officeDocument/2006/relationships/image" Target="../media/image5.png"/><Relationship Id="rId19" Type="http://schemas.openxmlformats.org/officeDocument/2006/relationships/image" Target="../media/image13.png"/><Relationship Id="rId31" Type="http://schemas.openxmlformats.org/officeDocument/2006/relationships/image" Target="../media/image35.png"/><Relationship Id="rId4" Type="http://schemas.openxmlformats.org/officeDocument/2006/relationships/image" Target="../media/image3.png"/><Relationship Id="rId9" Type="http://schemas.openxmlformats.org/officeDocument/2006/relationships/image" Target="../media/image17.png"/><Relationship Id="rId14" Type="http://schemas.openxmlformats.org/officeDocument/2006/relationships/image" Target="../media/image18.png"/><Relationship Id="rId22" Type="http://schemas.openxmlformats.org/officeDocument/2006/relationships/slide" Target="slide21.xml"/><Relationship Id="rId27" Type="http://schemas.openxmlformats.org/officeDocument/2006/relationships/image" Target="../media/image31.png"/><Relationship Id="rId30" Type="http://schemas.openxmlformats.org/officeDocument/2006/relationships/image" Target="../media/image34.png"/></Relationships>
</file>

<file path=ppt/slides/_rels/slide3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7.png"/><Relationship Id="rId3" Type="http://schemas.openxmlformats.org/officeDocument/2006/relationships/slide" Target="slide26.xml"/><Relationship Id="rId7" Type="http://schemas.openxmlformats.org/officeDocument/2006/relationships/slide" Target="slide50.xml"/><Relationship Id="rId12" Type="http://schemas.openxmlformats.org/officeDocument/2006/relationships/slide" Target="slide10.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9.png"/><Relationship Id="rId5" Type="http://schemas.openxmlformats.org/officeDocument/2006/relationships/slide" Target="slide38.xml"/><Relationship Id="rId15" Type="http://schemas.openxmlformats.org/officeDocument/2006/relationships/image" Target="../media/image37.png"/><Relationship Id="rId10" Type="http://schemas.openxmlformats.org/officeDocument/2006/relationships/slide" Target="slide32.xml"/><Relationship Id="rId4" Type="http://schemas.openxmlformats.org/officeDocument/2006/relationships/image" Target="../media/image3.png"/><Relationship Id="rId9" Type="http://schemas.openxmlformats.org/officeDocument/2006/relationships/slide" Target="slide40.xml"/><Relationship Id="rId14" Type="http://schemas.openxmlformats.org/officeDocument/2006/relationships/image" Target="../media/image13.png"/></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26.xml"/><Relationship Id="rId7" Type="http://schemas.openxmlformats.org/officeDocument/2006/relationships/slide" Target="slide3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slide" Target="slide39.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slide" Target="slide45.xml"/><Relationship Id="rId10" Type="http://schemas.openxmlformats.org/officeDocument/2006/relationships/slide" Target="slide48.xml"/><Relationship Id="rId4" Type="http://schemas.openxmlformats.org/officeDocument/2006/relationships/image" Target="../media/image11.png"/><Relationship Id="rId9" Type="http://schemas.openxmlformats.org/officeDocument/2006/relationships/slide" Target="slide47.xml"/></Relationships>
</file>

<file path=ppt/slides/_rels/slide4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slide" Target="slide22.xml"/><Relationship Id="rId4" Type="http://schemas.openxmlformats.org/officeDocument/2006/relationships/slide" Target="slide58.xml"/></Relationships>
</file>

<file path=ppt/slides/_rels/slide4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54.xml"/><Relationship Id="rId3" Type="http://schemas.openxmlformats.org/officeDocument/2006/relationships/slide" Target="slide26.xml"/><Relationship Id="rId7" Type="http://schemas.openxmlformats.org/officeDocument/2006/relationships/slide" Target="slide41.xml"/><Relationship Id="rId12" Type="http://schemas.openxmlformats.org/officeDocument/2006/relationships/image" Target="../media/image32.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slide" Target="slide53.xml"/><Relationship Id="rId5" Type="http://schemas.openxmlformats.org/officeDocument/2006/relationships/slide" Target="slide51.xml"/><Relationship Id="rId10"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slide" Target="slide52.xml"/><Relationship Id="rId14"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slide" Target="slide1.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slide" Target="slide3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5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57.xml"/></Relationships>
</file>

<file path=ppt/slides/_rels/slide5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5.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slide" Target="slide60.xml"/></Relationships>
</file>

<file path=ppt/slides/_rels/slide6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1.png"/><Relationship Id="rId7" Type="http://schemas.openxmlformats.org/officeDocument/2006/relationships/slide" Target="slide6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slide" Target="slide64.xml"/><Relationship Id="rId9" Type="http://schemas.openxmlformats.org/officeDocument/2006/relationships/slide" Target="slide63.xml"/></Relationships>
</file>

<file path=ppt/slides/_rels/slide6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slide" Target="slide61.xml"/></Relationships>
</file>

<file path=ppt/slides/_rels/slide6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slide" Target="slide21.xml"/><Relationship Id="rId4" Type="http://schemas.openxmlformats.org/officeDocument/2006/relationships/slide" Target="slide61.xml"/></Relationships>
</file>

<file path=ppt/slides/_rels/slide6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56.xml"/><Relationship Id="rId5" Type="http://schemas.openxmlformats.org/officeDocument/2006/relationships/slide" Target="slide27.xml"/><Relationship Id="rId4" Type="http://schemas.openxmlformats.org/officeDocument/2006/relationships/slide" Target="slide61.xml"/></Relationships>
</file>

<file path=ppt/slides/_rels/slide6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 Target="slide7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 Target="slide7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8.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8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0.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8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1.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1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5.xml.rels><?xml version="1.0" encoding="UTF-8" standalone="yes"?>
<Relationships xmlns="http://schemas.openxmlformats.org/package/2006/relationships"><Relationship Id="rId8" Type="http://schemas.openxmlformats.org/officeDocument/2006/relationships/slide" Target="slide91.xml"/><Relationship Id="rId13" Type="http://schemas.openxmlformats.org/officeDocument/2006/relationships/slide" Target="slide96.xml"/><Relationship Id="rId18" Type="http://schemas.openxmlformats.org/officeDocument/2006/relationships/slide" Target="slide101.xml"/><Relationship Id="rId3" Type="http://schemas.openxmlformats.org/officeDocument/2006/relationships/slide" Target="slide86.xml"/><Relationship Id="rId21" Type="http://schemas.openxmlformats.org/officeDocument/2006/relationships/slide" Target="slide85.xml"/><Relationship Id="rId7" Type="http://schemas.openxmlformats.org/officeDocument/2006/relationships/slide" Target="slide90.xml"/><Relationship Id="rId12" Type="http://schemas.openxmlformats.org/officeDocument/2006/relationships/slide" Target="slide95.xml"/><Relationship Id="rId17" Type="http://schemas.openxmlformats.org/officeDocument/2006/relationships/slide" Target="slide100.xml"/><Relationship Id="rId2" Type="http://schemas.openxmlformats.org/officeDocument/2006/relationships/slide" Target="slide22.xml"/><Relationship Id="rId16" Type="http://schemas.openxmlformats.org/officeDocument/2006/relationships/slide" Target="slide99.xml"/><Relationship Id="rId20" Type="http://schemas.openxmlformats.org/officeDocument/2006/relationships/slide" Target="slide103.xml"/><Relationship Id="rId1" Type="http://schemas.openxmlformats.org/officeDocument/2006/relationships/slideLayout" Target="../slideLayouts/slideLayout7.xml"/><Relationship Id="rId6" Type="http://schemas.openxmlformats.org/officeDocument/2006/relationships/slide" Target="slide89.xml"/><Relationship Id="rId11" Type="http://schemas.openxmlformats.org/officeDocument/2006/relationships/slide" Target="slide94.xml"/><Relationship Id="rId5" Type="http://schemas.openxmlformats.org/officeDocument/2006/relationships/slide" Target="slide88.xml"/><Relationship Id="rId15" Type="http://schemas.openxmlformats.org/officeDocument/2006/relationships/slide" Target="slide98.xml"/><Relationship Id="rId10" Type="http://schemas.openxmlformats.org/officeDocument/2006/relationships/slide" Target="slide93.xml"/><Relationship Id="rId19" Type="http://schemas.openxmlformats.org/officeDocument/2006/relationships/slide" Target="slide102.xml"/><Relationship Id="rId4" Type="http://schemas.openxmlformats.org/officeDocument/2006/relationships/slide" Target="slide87.xml"/><Relationship Id="rId9" Type="http://schemas.openxmlformats.org/officeDocument/2006/relationships/slide" Target="slide92.xml"/><Relationship Id="rId14" Type="http://schemas.openxmlformats.org/officeDocument/2006/relationships/slide" Target="slide97.xml"/><Relationship Id="rId22" Type="http://schemas.openxmlformats.org/officeDocument/2006/relationships/image" Target="../media/image18.png"/></Relationships>
</file>

<file path=ppt/slides/_rels/slide86.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7.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8.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18.png"/></Relationships>
</file>

<file path=ppt/slides/_rels/slide89.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1.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18.png"/></Relationships>
</file>

<file path=ppt/slides/_rels/slide92.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8.png"/></Relationships>
</file>

<file path=ppt/slides/_rels/slide93.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8.png"/></Relationships>
</file>

<file path=ppt/slides/_rels/slide94.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8.png"/></Relationships>
</file>

<file path=ppt/slides/_rels/slide95.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18.png"/></Relationships>
</file>

<file path=ppt/slides/_rels/slide96.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7.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8.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18.png"/></Relationships>
</file>

<file path=ppt/slides/_rels/slide99.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8.png"/></Relationships>
</file>

<file path=ppt/slides/_rels/slide10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18.png"/></Relationships>
</file>

<file path=ppt/slides/_rels/slide101.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18.png"/></Relationships>
</file>

<file path=ppt/slides/_rels/slide102.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3.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hyperlink" Target="mailto:szymonmochort11@gmail.com?subject=windos%2098%20feedback" TargetMode="Externa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60392-19A1-4D8F-AD56-988F1EFC7E61}"/>
              </a:ext>
            </a:extLst>
          </p:cNvPr>
          <p:cNvSpPr/>
          <p:nvPr/>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58E45B9F-0CF7-4499-9B05-15822017B9B6}"/>
              </a:ext>
            </a:extLst>
          </p:cNvPr>
          <p:cNvSpPr txBox="1"/>
          <p:nvPr/>
        </p:nvSpPr>
        <p:spPr>
          <a:xfrm>
            <a:off x="116958" y="106326"/>
            <a:ext cx="10568763" cy="1200329"/>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Starting Windos 98…</a:t>
            </a:r>
          </a:p>
          <a:p>
            <a:endParaRPr lang="en-GB" dirty="0">
              <a:solidFill>
                <a:schemeClr val="bg1"/>
              </a:solidFill>
            </a:endParaRPr>
          </a:p>
          <a:p>
            <a:r>
              <a:rPr lang="en-GB" dirty="0">
                <a:solidFill>
                  <a:schemeClr val="bg1"/>
                </a:solidFill>
                <a:hlinkClick r:id="rId2" action="ppaction://hlinksldjump"/>
              </a:rPr>
              <a:t>Start now </a:t>
            </a:r>
            <a:endParaRPr lang="en-GB" dirty="0">
              <a:solidFill>
                <a:schemeClr val="bg1"/>
              </a:solidFill>
            </a:endParaRPr>
          </a:p>
        </p:txBody>
      </p:sp>
      <p:sp>
        <p:nvSpPr>
          <p:cNvPr id="5" name="Speech Bubble: Rectangle 4">
            <a:extLst>
              <a:ext uri="{FF2B5EF4-FFF2-40B4-BE49-F238E27FC236}">
                <a16:creationId xmlns:a16="http://schemas.microsoft.com/office/drawing/2014/main" id="{ED4B80B5-137B-4A48-8D80-3C1ED8534A90}"/>
              </a:ext>
            </a:extLst>
          </p:cNvPr>
          <p:cNvSpPr/>
          <p:nvPr/>
        </p:nvSpPr>
        <p:spPr>
          <a:xfrm>
            <a:off x="584791" y="1637414"/>
            <a:ext cx="1998921" cy="701749"/>
          </a:xfrm>
          <a:prstGeom prst="wedgeRectCallout">
            <a:avLst>
              <a:gd name="adj1" fmla="val -37322"/>
              <a:gd name="adj2" fmla="val -1087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405778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Tree>
    <p:extLst>
      <p:ext uri="{BB962C8B-B14F-4D97-AF65-F5344CB8AC3E}">
        <p14:creationId xmlns:p14="http://schemas.microsoft.com/office/powerpoint/2010/main" val="2297475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F0F52C57-D14E-43D0-9B67-F26CA0AEE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0927" y="3761269"/>
            <a:ext cx="2730145" cy="476692"/>
          </a:xfrm>
          <a:prstGeom prst="rect">
            <a:avLst/>
          </a:prstGeom>
        </p:spPr>
      </p:pic>
    </p:spTree>
    <p:extLst>
      <p:ext uri="{BB962C8B-B14F-4D97-AF65-F5344CB8AC3E}">
        <p14:creationId xmlns:p14="http://schemas.microsoft.com/office/powerpoint/2010/main" val="223362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7957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91479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8427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7222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2020040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Hello!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Are you new to Windos?</a:t>
            </a:r>
          </a:p>
          <a:p>
            <a:pPr algn="ctr"/>
            <a:r>
              <a:rPr lang="en-GB" dirty="0"/>
              <a:t>If so, </a:t>
            </a:r>
            <a:r>
              <a:rPr lang="en-GB" dirty="0">
                <a:hlinkClick r:id="rId3" action="ppaction://hlinksldjump"/>
              </a:rPr>
              <a:t>click here </a:t>
            </a:r>
            <a:r>
              <a:rPr lang="en-GB" dirty="0"/>
              <a:t>to start the welcome to Windos tour. If not, close the window.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7378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hlinkClick r:id="rId2" action="ppaction://hlinksldjump"/>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Windos 98!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Welcome to setup</a:t>
            </a:r>
          </a:p>
          <a:p>
            <a:r>
              <a:rPr lang="en-GB" dirty="0"/>
              <a:t>Close the window to start the setup wizard!</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2C1E4982-4394-439F-9641-28849C81E8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2270" y="4667692"/>
            <a:ext cx="1437167" cy="1437167"/>
          </a:xfrm>
          <a:prstGeom prst="rect">
            <a:avLst/>
          </a:prstGeom>
        </p:spPr>
      </p:pic>
    </p:spTree>
    <p:extLst>
      <p:ext uri="{BB962C8B-B14F-4D97-AF65-F5344CB8AC3E}">
        <p14:creationId xmlns:p14="http://schemas.microsoft.com/office/powerpoint/2010/main" val="1774249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Welcome to Windos 98!</a:t>
            </a:r>
          </a:p>
          <a:p>
            <a:pPr algn="ctr"/>
            <a:r>
              <a:rPr lang="en-GB" sz="2000" dirty="0"/>
              <a:t>This OS features:</a:t>
            </a:r>
          </a:p>
          <a:p>
            <a:pPr algn="ctr"/>
            <a:endParaRPr lang="en-GB" sz="2000" dirty="0"/>
          </a:p>
          <a:p>
            <a:pPr marL="285750" indent="-285750" algn="ctr">
              <a:buFont typeface="Arial" panose="020B0604020202020204" pitchFamily="34" charset="0"/>
              <a:buChar char="•"/>
            </a:pPr>
            <a:r>
              <a:rPr lang="en-GB" sz="2000" dirty="0"/>
              <a:t>New, tighter security</a:t>
            </a:r>
          </a:p>
          <a:p>
            <a:pPr marL="285750" indent="-285750" algn="ctr">
              <a:buFont typeface="Arial" panose="020B0604020202020204" pitchFamily="34" charset="0"/>
              <a:buChar char="•"/>
            </a:pPr>
            <a:r>
              <a:rPr lang="en-GB" sz="2000" dirty="0"/>
              <a:t>New Internet Explorer 22.5 to provide the best browsing experience</a:t>
            </a:r>
          </a:p>
          <a:p>
            <a:pPr marL="285750" indent="-285750" algn="ctr">
              <a:buFont typeface="Arial" panose="020B0604020202020204" pitchFamily="34" charset="0"/>
              <a:buChar char="•"/>
            </a:pPr>
            <a:r>
              <a:rPr lang="en-GB" sz="2000" dirty="0"/>
              <a:t>New email client to help you manage emails better</a:t>
            </a:r>
          </a:p>
          <a:p>
            <a:pPr marL="285750" indent="-285750" algn="ctr">
              <a:buFont typeface="Arial" panose="020B0604020202020204" pitchFamily="34" charset="0"/>
              <a:buChar char="•"/>
            </a:pPr>
            <a:r>
              <a:rPr lang="en-GB" sz="2000" dirty="0"/>
              <a:t>New software to get things done!</a:t>
            </a:r>
          </a:p>
          <a:p>
            <a:pPr marL="285750" indent="-285750" algn="ctr">
              <a:buFont typeface="Arial" panose="020B0604020202020204" pitchFamily="34" charset="0"/>
              <a:buChar char="•"/>
            </a:pPr>
            <a:r>
              <a:rPr lang="en-GB" sz="2000" dirty="0"/>
              <a:t>A rock- solid filesystem makes Windos a lot less prone to crashing</a:t>
            </a:r>
          </a:p>
          <a:p>
            <a:pPr marL="285750" indent="-285750" algn="ctr">
              <a:buFont typeface="Arial" panose="020B0604020202020204" pitchFamily="34" charset="0"/>
              <a:buChar char="•"/>
            </a:pPr>
            <a:r>
              <a:rPr lang="en-GB" sz="2000" dirty="0"/>
              <a:t>Alerts tell you when your security is not optimal</a:t>
            </a:r>
          </a:p>
          <a:p>
            <a:pPr marL="285750" indent="-285750" algn="ctr">
              <a:buFont typeface="Arial" panose="020B0604020202020204" pitchFamily="34" charset="0"/>
              <a:buChar char="•"/>
            </a:pPr>
            <a:r>
              <a:rPr lang="en-GB" sz="2000" dirty="0"/>
              <a:t>Many pre installed programs that are your to keep</a:t>
            </a:r>
          </a:p>
          <a:p>
            <a:pPr marL="285750" indent="-285750" algn="ctr">
              <a:buFont typeface="Arial" panose="020B0604020202020204" pitchFamily="34" charset="0"/>
              <a:buChar char="•"/>
            </a:pPr>
            <a:r>
              <a:rPr lang="en-GB" sz="2000" dirty="0"/>
              <a:t>Sleek icons</a:t>
            </a:r>
          </a:p>
          <a:p>
            <a:pPr marL="285750" indent="-285750" algn="ctr">
              <a:buFont typeface="Arial" panose="020B0604020202020204" pitchFamily="34" charset="0"/>
              <a:buChar char="•"/>
            </a:pPr>
            <a:r>
              <a:rPr lang="en-GB" sz="2000" dirty="0"/>
              <a:t>Great internet connectivity</a:t>
            </a:r>
          </a:p>
          <a:p>
            <a:pPr marL="285750" indent="-285750" algn="ctr">
              <a:buFont typeface="Arial" panose="020B0604020202020204" pitchFamily="34" charset="0"/>
              <a:buChar char="•"/>
            </a:pPr>
            <a:r>
              <a:rPr lang="en-GB" sz="2000" dirty="0"/>
              <a:t>Easy Internet Setup®</a:t>
            </a:r>
          </a:p>
          <a:p>
            <a:pPr marL="285750" indent="-285750" algn="ctr">
              <a:buFont typeface="Arial" panose="020B0604020202020204" pitchFamily="34" charset="0"/>
              <a:buChar char="•"/>
            </a:pPr>
            <a:r>
              <a:rPr lang="en-GB" sz="2000" dirty="0"/>
              <a:t>A beautiful interface which is optimised for readability</a:t>
            </a:r>
          </a:p>
          <a:p>
            <a:pPr algn="ctr"/>
            <a:r>
              <a:rPr lang="en-GB" sz="2000" dirty="0">
                <a:solidFill>
                  <a:srgbClr val="FF0000"/>
                </a:solidFill>
              </a:rPr>
              <a:t>Close window to proceed</a:t>
            </a:r>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5FF2A550-8597-4F2E-8D2C-CF98003BA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9488" y="1925375"/>
            <a:ext cx="609600" cy="609600"/>
          </a:xfrm>
          <a:prstGeom prst="rect">
            <a:avLst/>
          </a:prstGeom>
        </p:spPr>
      </p:pic>
      <p:pic>
        <p:nvPicPr>
          <p:cNvPr id="7" name="Picture 6">
            <a:hlinkClick r:id="rId4" action="ppaction://hlinksldjump"/>
            <a:extLst>
              <a:ext uri="{FF2B5EF4-FFF2-40B4-BE49-F238E27FC236}">
                <a16:creationId xmlns:a16="http://schemas.microsoft.com/office/drawing/2014/main" id="{FE024831-1B2C-4897-A323-817D93D26E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12569" y="2488016"/>
            <a:ext cx="615950" cy="609600"/>
          </a:xfrm>
          <a:prstGeom prst="rect">
            <a:avLst/>
          </a:prstGeom>
        </p:spPr>
      </p:pic>
      <p:pic>
        <p:nvPicPr>
          <p:cNvPr id="8" name="Graphic 7">
            <a:hlinkClick r:id="rId6" action="ppaction://hlinksldjump"/>
            <a:extLst>
              <a:ext uri="{FF2B5EF4-FFF2-40B4-BE49-F238E27FC236}">
                <a16:creationId xmlns:a16="http://schemas.microsoft.com/office/drawing/2014/main" id="{1DB7EEA3-618D-4C4C-A979-DBFDB1E12E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2612" y="2963826"/>
            <a:ext cx="451883" cy="451883"/>
          </a:xfrm>
          <a:prstGeom prst="rect">
            <a:avLst/>
          </a:prstGeom>
        </p:spPr>
      </p:pic>
      <p:pic>
        <p:nvPicPr>
          <p:cNvPr id="9" name="Picture 8">
            <a:extLst>
              <a:ext uri="{FF2B5EF4-FFF2-40B4-BE49-F238E27FC236}">
                <a16:creationId xmlns:a16="http://schemas.microsoft.com/office/drawing/2014/main" id="{ACC620B1-886C-4CE0-84C3-7E6608F138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20884" y="3272168"/>
            <a:ext cx="523654" cy="523654"/>
          </a:xfrm>
          <a:prstGeom prst="rect">
            <a:avLst/>
          </a:prstGeom>
        </p:spPr>
      </p:pic>
      <p:pic>
        <p:nvPicPr>
          <p:cNvPr id="10" name="Picture 9">
            <a:extLst>
              <a:ext uri="{FF2B5EF4-FFF2-40B4-BE49-F238E27FC236}">
                <a16:creationId xmlns:a16="http://schemas.microsoft.com/office/drawing/2014/main" id="{5ECFEA5B-937C-499D-98DC-330061B651C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695241" y="3533995"/>
            <a:ext cx="425303" cy="425303"/>
          </a:xfrm>
          <a:prstGeom prst="rect">
            <a:avLst/>
          </a:prstGeom>
        </p:spPr>
      </p:pic>
      <p:pic>
        <p:nvPicPr>
          <p:cNvPr id="11" name="Picture 10">
            <a:extLst>
              <a:ext uri="{FF2B5EF4-FFF2-40B4-BE49-F238E27FC236}">
                <a16:creationId xmlns:a16="http://schemas.microsoft.com/office/drawing/2014/main" id="{827F91F5-33D8-455C-AB89-65CDE70E1DF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21352" y="3841011"/>
            <a:ext cx="457201" cy="457201"/>
          </a:xfrm>
          <a:prstGeom prst="rect">
            <a:avLst/>
          </a:prstGeom>
        </p:spPr>
      </p:pic>
      <p:pic>
        <p:nvPicPr>
          <p:cNvPr id="12" name="Picture 11">
            <a:extLst>
              <a:ext uri="{FF2B5EF4-FFF2-40B4-BE49-F238E27FC236}">
                <a16:creationId xmlns:a16="http://schemas.microsoft.com/office/drawing/2014/main" id="{071301B9-8A47-4857-ABF2-CCD006A5B6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80841" y="4171949"/>
            <a:ext cx="523654" cy="523654"/>
          </a:xfrm>
          <a:prstGeom prst="rect">
            <a:avLst/>
          </a:prstGeom>
        </p:spPr>
      </p:pic>
      <p:pic>
        <p:nvPicPr>
          <p:cNvPr id="13" name="Picture 12">
            <a:extLst>
              <a:ext uri="{FF2B5EF4-FFF2-40B4-BE49-F238E27FC236}">
                <a16:creationId xmlns:a16="http://schemas.microsoft.com/office/drawing/2014/main" id="{E15B0AF9-C9D5-4AC6-9850-0F6FB54D9E6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91993" y="4467003"/>
            <a:ext cx="457200" cy="457200"/>
          </a:xfrm>
          <a:prstGeom prst="rect">
            <a:avLst/>
          </a:prstGeom>
        </p:spPr>
      </p:pic>
      <p:pic>
        <p:nvPicPr>
          <p:cNvPr id="14" name="Picture 13">
            <a:extLst>
              <a:ext uri="{FF2B5EF4-FFF2-40B4-BE49-F238E27FC236}">
                <a16:creationId xmlns:a16="http://schemas.microsoft.com/office/drawing/2014/main" id="{EDC4A98D-F0FE-42CD-B47B-82BD9A4E1F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39713" y="4901607"/>
            <a:ext cx="609600" cy="609600"/>
          </a:xfrm>
          <a:prstGeom prst="rect">
            <a:avLst/>
          </a:prstGeom>
        </p:spPr>
      </p:pic>
      <p:pic>
        <p:nvPicPr>
          <p:cNvPr id="16" name="Picture 15">
            <a:extLst>
              <a:ext uri="{FF2B5EF4-FFF2-40B4-BE49-F238E27FC236}">
                <a16:creationId xmlns:a16="http://schemas.microsoft.com/office/drawing/2014/main" id="{9D22F765-436D-4438-9BB7-F9FC53BAA34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202969" y="5331340"/>
            <a:ext cx="609600" cy="609600"/>
          </a:xfrm>
          <a:prstGeom prst="rect">
            <a:avLst/>
          </a:prstGeom>
        </p:spPr>
      </p:pic>
    </p:spTree>
    <p:extLst>
      <p:ext uri="{BB962C8B-B14F-4D97-AF65-F5344CB8AC3E}">
        <p14:creationId xmlns:p14="http://schemas.microsoft.com/office/powerpoint/2010/main" val="2004276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hlinkClick r:id="rId3" action="ppaction://hlinksldjump"/>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OS is under construction.</a:t>
            </a:r>
          </a:p>
          <a:p>
            <a:pPr algn="ctr"/>
            <a:r>
              <a:rPr lang="en-GB" dirty="0"/>
              <a:t>Please only use it for testing purposes. </a:t>
            </a:r>
          </a:p>
          <a:p>
            <a:pPr algn="ctr"/>
            <a:r>
              <a:rPr lang="en-GB" dirty="0"/>
              <a:t>Please click me to continue</a:t>
            </a:r>
          </a:p>
        </p:txBody>
      </p:sp>
    </p:spTree>
    <p:extLst>
      <p:ext uri="{BB962C8B-B14F-4D97-AF65-F5344CB8AC3E}">
        <p14:creationId xmlns:p14="http://schemas.microsoft.com/office/powerpoint/2010/main" val="3178318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Installing Windos 98…</a:t>
            </a:r>
          </a:p>
        </p:txBody>
      </p:sp>
      <p:pic>
        <p:nvPicPr>
          <p:cNvPr id="4" name="Picture 3">
            <a:hlinkClick r:id="rId3" action="ppaction://hlinksldjump"/>
            <a:extLst>
              <a:ext uri="{FF2B5EF4-FFF2-40B4-BE49-F238E27FC236}">
                <a16:creationId xmlns:a16="http://schemas.microsoft.com/office/drawing/2014/main" id="{F0F52C57-D14E-43D0-9B67-F26CA0AEE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7" y="3761269"/>
            <a:ext cx="2730145" cy="476692"/>
          </a:xfrm>
          <a:prstGeom prst="rect">
            <a:avLst/>
          </a:prstGeom>
        </p:spPr>
      </p:pic>
    </p:spTree>
    <p:extLst>
      <p:ext uri="{BB962C8B-B14F-4D97-AF65-F5344CB8AC3E}">
        <p14:creationId xmlns:p14="http://schemas.microsoft.com/office/powerpoint/2010/main" val="147747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Complete!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has finished installing Windos 98.</a:t>
            </a:r>
          </a:p>
          <a:p>
            <a:pPr algn="ctr"/>
            <a:r>
              <a:rPr lang="en-GB" dirty="0"/>
              <a:t>Please close the window to proceed with setting up Windos.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2190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set a password to use with this computer:</a:t>
            </a:r>
          </a:p>
        </p:txBody>
      </p:sp>
      <p:sp>
        <p:nvSpPr>
          <p:cNvPr id="3" name="Rectangle 2">
            <a:extLst>
              <a:ext uri="{FF2B5EF4-FFF2-40B4-BE49-F238E27FC236}">
                <a16:creationId xmlns:a16="http://schemas.microsoft.com/office/drawing/2014/main" id="{8242BD11-B01E-4D60-99EC-567916E36982}"/>
              </a:ext>
            </a:extLst>
          </p:cNvPr>
          <p:cNvSpPr/>
          <p:nvPr/>
        </p:nvSpPr>
        <p:spPr>
          <a:xfrm>
            <a:off x="2594343" y="5220586"/>
            <a:ext cx="321103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C9A8879D-D434-48F5-8CC9-174D9F56322D}"/>
              </a:ext>
            </a:extLst>
          </p:cNvPr>
          <p:cNvSpPr/>
          <p:nvPr/>
        </p:nvSpPr>
        <p:spPr>
          <a:xfrm>
            <a:off x="6198781" y="5220586"/>
            <a:ext cx="914400" cy="9144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621558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Security alert</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Setting a blank password is dangerous and this allows anyone to access the system without your contest! </a:t>
            </a:r>
          </a:p>
          <a:p>
            <a:r>
              <a:rPr lang="en-GB" dirty="0"/>
              <a:t>Close to proceed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F0B89CC5-706F-4AE2-9B1F-7524282257F3}"/>
              </a:ext>
            </a:extLst>
          </p:cNvPr>
          <p:cNvSpPr/>
          <p:nvPr/>
        </p:nvSpPr>
        <p:spPr>
          <a:xfrm>
            <a:off x="609600" y="5858540"/>
            <a:ext cx="5270204" cy="733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 back and set a password</a:t>
            </a:r>
          </a:p>
        </p:txBody>
      </p:sp>
      <p:pic>
        <p:nvPicPr>
          <p:cNvPr id="8" name="Picture 7">
            <a:extLst>
              <a:ext uri="{FF2B5EF4-FFF2-40B4-BE49-F238E27FC236}">
                <a16:creationId xmlns:a16="http://schemas.microsoft.com/office/drawing/2014/main" id="{733D798E-6857-4963-994D-2166C7B13C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2236" y="5188688"/>
            <a:ext cx="457201" cy="457201"/>
          </a:xfrm>
          <a:prstGeom prst="rect">
            <a:avLst/>
          </a:prstGeom>
        </p:spPr>
      </p:pic>
    </p:spTree>
    <p:extLst>
      <p:ext uri="{BB962C8B-B14F-4D97-AF65-F5344CB8AC3E}">
        <p14:creationId xmlns:p14="http://schemas.microsoft.com/office/powerpoint/2010/main" val="1094361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Connecting to the Internet…</a:t>
            </a:r>
          </a:p>
        </p:txBody>
      </p:sp>
      <p:pic>
        <p:nvPicPr>
          <p:cNvPr id="4" name="Picture 3">
            <a:extLst>
              <a:ext uri="{FF2B5EF4-FFF2-40B4-BE49-F238E27FC236}">
                <a16:creationId xmlns:a16="http://schemas.microsoft.com/office/drawing/2014/main" id="{3D3A29D5-F691-43D3-ACD3-D8EDE6F12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9384" y="2647505"/>
            <a:ext cx="1031360" cy="1031360"/>
          </a:xfrm>
          <a:prstGeom prst="rect">
            <a:avLst/>
          </a:prstGeom>
        </p:spPr>
      </p:pic>
      <p:pic>
        <p:nvPicPr>
          <p:cNvPr id="5" name="Picture 4">
            <a:hlinkClick r:id="rId4" action="ppaction://hlinksldjump"/>
            <a:extLst>
              <a:ext uri="{FF2B5EF4-FFF2-40B4-BE49-F238E27FC236}">
                <a16:creationId xmlns:a16="http://schemas.microsoft.com/office/drawing/2014/main" id="{80F66593-9BB2-41CB-80CE-124FC171DC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0352" y="3563680"/>
            <a:ext cx="2730145" cy="476692"/>
          </a:xfrm>
          <a:prstGeom prst="rect">
            <a:avLst/>
          </a:prstGeom>
        </p:spPr>
      </p:pic>
    </p:spTree>
    <p:extLst>
      <p:ext uri="{BB962C8B-B14F-4D97-AF65-F5344CB8AC3E}">
        <p14:creationId xmlns:p14="http://schemas.microsoft.com/office/powerpoint/2010/main" val="1725382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is ready to install updates to Windos 98.</a:t>
            </a:r>
          </a:p>
          <a:p>
            <a:pPr algn="ctr"/>
            <a:r>
              <a:rPr lang="en-GB" dirty="0"/>
              <a:t>Please close the Window to proceed. </a:t>
            </a:r>
          </a:p>
          <a:p>
            <a:pPr algn="ctr"/>
            <a:r>
              <a:rPr lang="en-GB" dirty="0">
                <a:solidFill>
                  <a:srgbClr val="FF0000"/>
                </a:solidFill>
              </a:rPr>
              <a:t>This cannot be skipped!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07804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D8A1CD2C-8108-4AB1-96E0-655FFFFB8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220"/>
            <a:ext cx="12192000" cy="6861262"/>
          </a:xfrm>
          <a:prstGeom prst="rect">
            <a:avLst/>
          </a:prstGeom>
        </p:spPr>
      </p:pic>
    </p:spTree>
    <p:extLst>
      <p:ext uri="{BB962C8B-B14F-4D97-AF65-F5344CB8AC3E}">
        <p14:creationId xmlns:p14="http://schemas.microsoft.com/office/powerpoint/2010/main" val="1468896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updater</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Updates have been installed and Windos 98 has been installed.</a:t>
            </a:r>
          </a:p>
          <a:p>
            <a:pPr algn="ctr"/>
            <a:r>
              <a:rPr lang="en-GB" dirty="0"/>
              <a:t>Please close the window and log on.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74725378"/>
      </p:ext>
    </p:extLst>
  </p:cSld>
  <p:clrMapOvr>
    <a:masterClrMapping/>
  </p:clrMapOvr>
  <mc:AlternateContent xmlns:mc="http://schemas.openxmlformats.org/markup-compatibility/2006" xmlns:p14="http://schemas.microsoft.com/office/powerpoint/2010/main">
    <mc:Choice Requires="p14">
      <p:transition spd="slow" p14:dur="2000">
        <p:sndAc>
          <p:endSnd/>
        </p:sndAc>
      </p:transition>
    </mc:Choice>
    <mc:Fallback xmlns="">
      <p:transition spd="slow">
        <p:sndAc>
          <p:endSnd/>
        </p:sndAc>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press the button to sign in:</a:t>
            </a:r>
          </a:p>
        </p:txBody>
      </p:sp>
      <p:sp>
        <p:nvSpPr>
          <p:cNvPr id="3" name="Rectangle 2">
            <a:hlinkClick r:id="rId4" action="ppaction://hlinksldjump"/>
            <a:extLst>
              <a:ext uri="{FF2B5EF4-FFF2-40B4-BE49-F238E27FC236}">
                <a16:creationId xmlns:a16="http://schemas.microsoft.com/office/drawing/2014/main" id="{61384998-C49A-43F5-A143-CB355B1AC1F5}"/>
              </a:ext>
            </a:extLst>
          </p:cNvPr>
          <p:cNvSpPr/>
          <p:nvPr/>
        </p:nvSpPr>
        <p:spPr>
          <a:xfrm>
            <a:off x="1350335" y="5741581"/>
            <a:ext cx="206271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Sign in</a:t>
            </a:r>
          </a:p>
        </p:txBody>
      </p:sp>
      <p:sp>
        <p:nvSpPr>
          <p:cNvPr id="5" name="Speech Bubble: Rectangle 4">
            <a:extLst>
              <a:ext uri="{FF2B5EF4-FFF2-40B4-BE49-F238E27FC236}">
                <a16:creationId xmlns:a16="http://schemas.microsoft.com/office/drawing/2014/main" id="{54F9F190-775F-4ACA-B970-C03DCE380607}"/>
              </a:ext>
            </a:extLst>
          </p:cNvPr>
          <p:cNvSpPr/>
          <p:nvPr/>
        </p:nvSpPr>
        <p:spPr>
          <a:xfrm>
            <a:off x="6358270" y="2998381"/>
            <a:ext cx="3487479" cy="1541721"/>
          </a:xfrm>
          <a:prstGeom prst="wedgeRectCallout">
            <a:avLst>
              <a:gd name="adj1" fmla="val -72053"/>
              <a:gd name="adj2" fmla="val 928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You need a password!</a:t>
            </a:r>
          </a:p>
          <a:p>
            <a:r>
              <a:rPr lang="en-GB" dirty="0"/>
              <a:t>Please add one by reinstalling Windos 98! </a:t>
            </a:r>
          </a:p>
        </p:txBody>
      </p:sp>
      <p:pic>
        <p:nvPicPr>
          <p:cNvPr id="8" name="Picture 7">
            <a:extLst>
              <a:ext uri="{FF2B5EF4-FFF2-40B4-BE49-F238E27FC236}">
                <a16:creationId xmlns:a16="http://schemas.microsoft.com/office/drawing/2014/main" id="{F39626D1-5F8E-497F-9F8C-E5C3BE572D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3485" y="3540640"/>
            <a:ext cx="457201" cy="457201"/>
          </a:xfrm>
          <a:prstGeom prst="rect">
            <a:avLst/>
          </a:prstGeom>
        </p:spPr>
      </p:pic>
    </p:spTree>
    <p:extLst>
      <p:ext uri="{BB962C8B-B14F-4D97-AF65-F5344CB8AC3E}">
        <p14:creationId xmlns:p14="http://schemas.microsoft.com/office/powerpoint/2010/main" val="415217786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Microsoft Windows 7 Startup Sound.wav"/>
          </p:stSnd>
        </p:sndAc>
      </p:transition>
    </mc:Choice>
    <mc:Fallback xmlns="">
      <p:transition spd="slow">
        <p:sndAc>
          <p:stSnd>
            <p:snd r:embed="rId6" name="Microsoft Windows 7 Startup Sound.wav"/>
          </p:stSnd>
        </p:sndAc>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4" name="Oval 3">
            <a:hlinkClick r:id="rId3" action="ppaction://hlinksldjump"/>
            <a:extLst>
              <a:ext uri="{FF2B5EF4-FFF2-40B4-BE49-F238E27FC236}">
                <a16:creationId xmlns:a16="http://schemas.microsoft.com/office/drawing/2014/main" id="{208836F8-A8F6-414C-8090-59449178CCB5}"/>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F9B58117-E816-4028-8A68-C24F8E057CB7}"/>
              </a:ext>
            </a:extLst>
          </p:cNvPr>
          <p:cNvSpPr txBox="1"/>
          <p:nvPr/>
        </p:nvSpPr>
        <p:spPr>
          <a:xfrm>
            <a:off x="11045678" y="5311814"/>
            <a:ext cx="1234928" cy="923330"/>
          </a:xfrm>
          <a:prstGeom prst="rect">
            <a:avLst/>
          </a:prstGeom>
          <a:noFill/>
        </p:spPr>
        <p:txBody>
          <a:bodyPr wrap="square" rtlCol="0">
            <a:spAutoFit/>
          </a:bodyPr>
          <a:lstStyle/>
          <a:p>
            <a:r>
              <a:rPr lang="en-GB" dirty="0"/>
              <a:t>Windos 98</a:t>
            </a:r>
          </a:p>
          <a:p>
            <a:r>
              <a:rPr lang="en-GB" dirty="0"/>
              <a:t>Beta 4</a:t>
            </a:r>
          </a:p>
          <a:p>
            <a:r>
              <a:rPr lang="en-GB" dirty="0"/>
              <a:t> </a:t>
            </a:r>
          </a:p>
        </p:txBody>
      </p:sp>
      <p:sp>
        <p:nvSpPr>
          <p:cNvPr id="7" name="Rectangle 6">
            <a:extLst>
              <a:ext uri="{FF2B5EF4-FFF2-40B4-BE49-F238E27FC236}">
                <a16:creationId xmlns:a16="http://schemas.microsoft.com/office/drawing/2014/main" id="{17ACA4EE-923F-4581-8BCE-9EE8635628A3}"/>
              </a:ext>
            </a:extLst>
          </p:cNvPr>
          <p:cNvSpPr/>
          <p:nvPr/>
        </p:nvSpPr>
        <p:spPr>
          <a:xfrm>
            <a:off x="1587239" y="417754"/>
            <a:ext cx="3923414" cy="5209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AED0888D-13E8-47A9-9CCA-FF06C7AE399A}"/>
              </a:ext>
            </a:extLst>
          </p:cNvPr>
          <p:cNvSpPr txBox="1"/>
          <p:nvPr/>
        </p:nvSpPr>
        <p:spPr>
          <a:xfrm>
            <a:off x="1587239" y="340241"/>
            <a:ext cx="3923414" cy="1200329"/>
          </a:xfrm>
          <a:prstGeom prst="rect">
            <a:avLst/>
          </a:prstGeom>
          <a:noFill/>
        </p:spPr>
        <p:txBody>
          <a:bodyPr wrap="square" rtlCol="0">
            <a:spAutoFit/>
          </a:bodyPr>
          <a:lstStyle/>
          <a:p>
            <a:r>
              <a:rPr lang="en-GB" u="sng" dirty="0"/>
              <a:t>What’s new:</a:t>
            </a:r>
          </a:p>
          <a:p>
            <a:pPr marL="285750" indent="-285750">
              <a:buFont typeface="Arial" panose="020B0604020202020204" pitchFamily="34" charset="0"/>
              <a:buChar char="•"/>
            </a:pPr>
            <a:r>
              <a:rPr lang="en-GB" dirty="0"/>
              <a:t>The whole update was focused on adding a help utility</a:t>
            </a:r>
          </a:p>
          <a:p>
            <a:pPr marL="285750" indent="-285750">
              <a:buFont typeface="Arial" panose="020B0604020202020204" pitchFamily="34" charset="0"/>
              <a:buChar char="•"/>
            </a:pPr>
            <a:endParaRPr lang="en-GB" dirty="0"/>
          </a:p>
        </p:txBody>
      </p:sp>
      <p:pic>
        <p:nvPicPr>
          <p:cNvPr id="11" name="Picture 10">
            <a:hlinkClick r:id="rId4" action="ppaction://hlinksldjump"/>
            <a:extLst>
              <a:ext uri="{FF2B5EF4-FFF2-40B4-BE49-F238E27FC236}">
                <a16:creationId xmlns:a16="http://schemas.microsoft.com/office/drawing/2014/main" id="{02DE51AE-E47E-4EE8-9D65-250CA8AC3A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2" name="Picture 11">
            <a:hlinkClick r:id="rId6" action="ppaction://hlinksldjump"/>
            <a:extLst>
              <a:ext uri="{FF2B5EF4-FFF2-40B4-BE49-F238E27FC236}">
                <a16:creationId xmlns:a16="http://schemas.microsoft.com/office/drawing/2014/main" id="{287B5EE6-E564-4E01-9C9D-B6448B59AE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3" name="Picture 12">
            <a:hlinkClick r:id="rId8" action="ppaction://hlinksldjump"/>
            <a:extLst>
              <a:ext uri="{FF2B5EF4-FFF2-40B4-BE49-F238E27FC236}">
                <a16:creationId xmlns:a16="http://schemas.microsoft.com/office/drawing/2014/main" id="{4A102331-50E7-4798-A5EF-6AAC50E4F8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4" name="Picture 13">
            <a:hlinkClick r:id="rId10" action="ppaction://hlinksldjump"/>
            <a:extLst>
              <a:ext uri="{FF2B5EF4-FFF2-40B4-BE49-F238E27FC236}">
                <a16:creationId xmlns:a16="http://schemas.microsoft.com/office/drawing/2014/main" id="{B579F1A7-CD63-4562-948F-B2054F6C015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5" name="Picture 14">
            <a:hlinkClick r:id="rId12" action="ppaction://hlinksldjump"/>
            <a:extLst>
              <a:ext uri="{FF2B5EF4-FFF2-40B4-BE49-F238E27FC236}">
                <a16:creationId xmlns:a16="http://schemas.microsoft.com/office/drawing/2014/main" id="{DEBF65E0-6EC8-4600-A35F-6953070C523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pic>
        <p:nvPicPr>
          <p:cNvPr id="16" name="Picture 15">
            <a:hlinkClick r:id="rId14" action="ppaction://hlinksldjump"/>
            <a:extLst>
              <a:ext uri="{FF2B5EF4-FFF2-40B4-BE49-F238E27FC236}">
                <a16:creationId xmlns:a16="http://schemas.microsoft.com/office/drawing/2014/main" id="{BEACF0EE-C442-4D30-AE93-CEA18F1130A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972801" y="127590"/>
            <a:ext cx="425302" cy="425302"/>
          </a:xfrm>
          <a:prstGeom prst="rect">
            <a:avLst/>
          </a:prstGeom>
        </p:spPr>
      </p:pic>
      <p:pic>
        <p:nvPicPr>
          <p:cNvPr id="17" name="Picture 16">
            <a:hlinkClick r:id="rId12" action="ppaction://hlinksldjump"/>
            <a:extLst>
              <a:ext uri="{FF2B5EF4-FFF2-40B4-BE49-F238E27FC236}">
                <a16:creationId xmlns:a16="http://schemas.microsoft.com/office/drawing/2014/main" id="{71E7874C-57F4-4596-A83F-1FC82507ECD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72801" y="765541"/>
            <a:ext cx="457200" cy="457200"/>
          </a:xfrm>
          <a:prstGeom prst="rect">
            <a:avLst/>
          </a:prstGeom>
        </p:spPr>
      </p:pic>
      <p:pic>
        <p:nvPicPr>
          <p:cNvPr id="19" name="Picture 18">
            <a:hlinkClick r:id="rId16" action="ppaction://hlinksldjump"/>
            <a:extLst>
              <a:ext uri="{FF2B5EF4-FFF2-40B4-BE49-F238E27FC236}">
                <a16:creationId xmlns:a16="http://schemas.microsoft.com/office/drawing/2014/main" id="{8142D793-CC2D-439A-970D-6484A125B27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940902" y="2396244"/>
            <a:ext cx="457200" cy="457200"/>
          </a:xfrm>
          <a:prstGeom prst="rect">
            <a:avLst/>
          </a:prstGeom>
        </p:spPr>
      </p:pic>
      <p:pic>
        <p:nvPicPr>
          <p:cNvPr id="20" name="Picture 19">
            <a:hlinkClick r:id="rId18" action="ppaction://hlinksldjump"/>
            <a:extLst>
              <a:ext uri="{FF2B5EF4-FFF2-40B4-BE49-F238E27FC236}">
                <a16:creationId xmlns:a16="http://schemas.microsoft.com/office/drawing/2014/main" id="{BB4A7464-2365-4E85-91D6-EF2EABC7A211}"/>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923625" y="2870296"/>
            <a:ext cx="523654" cy="523654"/>
          </a:xfrm>
          <a:prstGeom prst="rect">
            <a:avLst/>
          </a:prstGeom>
        </p:spPr>
      </p:pic>
      <p:pic>
        <p:nvPicPr>
          <p:cNvPr id="22" name="Picture 21">
            <a:hlinkClick r:id="rId4" action="ppaction://hlinksldjump"/>
            <a:extLst>
              <a:ext uri="{FF2B5EF4-FFF2-40B4-BE49-F238E27FC236}">
                <a16:creationId xmlns:a16="http://schemas.microsoft.com/office/drawing/2014/main" id="{9B2AD7F2-C953-40A0-8F85-F4CB4F43B8FB}"/>
              </a:ext>
            </a:extLst>
          </p:cNvPr>
          <p:cNvPicPr>
            <a:picLocks noChangeAspect="1"/>
          </p:cNvPicPr>
          <p:nvPr/>
        </p:nvPicPr>
        <p:blipFill>
          <a:blip r:embed="rId20">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0587146" y="1425486"/>
            <a:ext cx="924054" cy="914528"/>
          </a:xfrm>
          <a:prstGeom prst="rect">
            <a:avLst/>
          </a:prstGeom>
        </p:spPr>
      </p:pic>
      <p:pic>
        <p:nvPicPr>
          <p:cNvPr id="23" name="Picture 22">
            <a:hlinkClick r:id="rId21" action="ppaction://hlinksldjump"/>
            <a:extLst>
              <a:ext uri="{FF2B5EF4-FFF2-40B4-BE49-F238E27FC236}">
                <a16:creationId xmlns:a16="http://schemas.microsoft.com/office/drawing/2014/main" id="{C326429A-712E-4CFE-9B32-F518A9C7AB5B}"/>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213269" y="6235144"/>
            <a:ext cx="457200" cy="457200"/>
          </a:xfrm>
          <a:prstGeom prst="rect">
            <a:avLst/>
          </a:prstGeom>
        </p:spPr>
      </p:pic>
    </p:spTree>
    <p:extLst>
      <p:ext uri="{BB962C8B-B14F-4D97-AF65-F5344CB8AC3E}">
        <p14:creationId xmlns:p14="http://schemas.microsoft.com/office/powerpoint/2010/main" val="1987044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Oval 3">
            <a:hlinkClick r:id="rId2" action="ppaction://hlinksldjump"/>
            <a:extLst>
              <a:ext uri="{FF2B5EF4-FFF2-40B4-BE49-F238E27FC236}">
                <a16:creationId xmlns:a16="http://schemas.microsoft.com/office/drawing/2014/main" id="{208836F8-A8F6-414C-8090-59449178CCB5}"/>
              </a:ext>
            </a:extLst>
          </p:cNvPr>
          <p:cNvSpPr/>
          <p:nvPr/>
        </p:nvSpPr>
        <p:spPr>
          <a:xfrm>
            <a:off x="180754" y="6049925"/>
            <a:ext cx="609600" cy="701749"/>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5E9EFB7F-5AD3-4FBF-981D-59C26CC17322}"/>
              </a:ext>
            </a:extLst>
          </p:cNvPr>
          <p:cNvSpPr/>
          <p:nvPr/>
        </p:nvSpPr>
        <p:spPr>
          <a:xfrm>
            <a:off x="-15013" y="1531089"/>
            <a:ext cx="2619990" cy="4423144"/>
          </a:xfrm>
          <a:custGeom>
            <a:avLst/>
            <a:gdLst>
              <a:gd name="connsiteX0" fmla="*/ 0 w 2604977"/>
              <a:gd name="connsiteY0" fmla="*/ 434172 h 4412511"/>
              <a:gd name="connsiteX1" fmla="*/ 434172 w 2604977"/>
              <a:gd name="connsiteY1" fmla="*/ 0 h 4412511"/>
              <a:gd name="connsiteX2" fmla="*/ 2170805 w 2604977"/>
              <a:gd name="connsiteY2" fmla="*/ 0 h 4412511"/>
              <a:gd name="connsiteX3" fmla="*/ 2604977 w 2604977"/>
              <a:gd name="connsiteY3" fmla="*/ 434172 h 4412511"/>
              <a:gd name="connsiteX4" fmla="*/ 2604977 w 2604977"/>
              <a:gd name="connsiteY4" fmla="*/ 3978339 h 4412511"/>
              <a:gd name="connsiteX5" fmla="*/ 2170805 w 2604977"/>
              <a:gd name="connsiteY5" fmla="*/ 4412511 h 4412511"/>
              <a:gd name="connsiteX6" fmla="*/ 434172 w 2604977"/>
              <a:gd name="connsiteY6" fmla="*/ 4412511 h 4412511"/>
              <a:gd name="connsiteX7" fmla="*/ 0 w 2604977"/>
              <a:gd name="connsiteY7" fmla="*/ 3978339 h 4412511"/>
              <a:gd name="connsiteX8" fmla="*/ 0 w 2604977"/>
              <a:gd name="connsiteY8" fmla="*/ 434172 h 4412511"/>
              <a:gd name="connsiteX0" fmla="*/ 27 w 2605004"/>
              <a:gd name="connsiteY0" fmla="*/ 434172 h 4423144"/>
              <a:gd name="connsiteX1" fmla="*/ 434199 w 2605004"/>
              <a:gd name="connsiteY1" fmla="*/ 0 h 4423144"/>
              <a:gd name="connsiteX2" fmla="*/ 2170832 w 2605004"/>
              <a:gd name="connsiteY2" fmla="*/ 0 h 4423144"/>
              <a:gd name="connsiteX3" fmla="*/ 2605004 w 2605004"/>
              <a:gd name="connsiteY3" fmla="*/ 434172 h 4423144"/>
              <a:gd name="connsiteX4" fmla="*/ 2605004 w 2605004"/>
              <a:gd name="connsiteY4" fmla="*/ 3978339 h 4423144"/>
              <a:gd name="connsiteX5" fmla="*/ 2170832 w 2605004"/>
              <a:gd name="connsiteY5" fmla="*/ 4412511 h 4423144"/>
              <a:gd name="connsiteX6" fmla="*/ 232180 w 2605004"/>
              <a:gd name="connsiteY6" fmla="*/ 4423144 h 4423144"/>
              <a:gd name="connsiteX7" fmla="*/ 27 w 2605004"/>
              <a:gd name="connsiteY7" fmla="*/ 3978339 h 4423144"/>
              <a:gd name="connsiteX8" fmla="*/ 27 w 2605004"/>
              <a:gd name="connsiteY8" fmla="*/ 434172 h 4423144"/>
              <a:gd name="connsiteX0" fmla="*/ 15013 w 2619990"/>
              <a:gd name="connsiteY0" fmla="*/ 434172 h 4423144"/>
              <a:gd name="connsiteX1" fmla="*/ 449185 w 2619990"/>
              <a:gd name="connsiteY1" fmla="*/ 0 h 4423144"/>
              <a:gd name="connsiteX2" fmla="*/ 2185818 w 2619990"/>
              <a:gd name="connsiteY2" fmla="*/ 0 h 4423144"/>
              <a:gd name="connsiteX3" fmla="*/ 2619990 w 2619990"/>
              <a:gd name="connsiteY3" fmla="*/ 434172 h 4423144"/>
              <a:gd name="connsiteX4" fmla="*/ 2619990 w 2619990"/>
              <a:gd name="connsiteY4" fmla="*/ 3978339 h 4423144"/>
              <a:gd name="connsiteX5" fmla="*/ 2185818 w 2619990"/>
              <a:gd name="connsiteY5" fmla="*/ 4412511 h 4423144"/>
              <a:gd name="connsiteX6" fmla="*/ 247166 w 2619990"/>
              <a:gd name="connsiteY6" fmla="*/ 4423144 h 4423144"/>
              <a:gd name="connsiteX7" fmla="*/ 15013 w 2619990"/>
              <a:gd name="connsiteY7" fmla="*/ 3978339 h 4423144"/>
              <a:gd name="connsiteX8" fmla="*/ 15013 w 2619990"/>
              <a:gd name="connsiteY8" fmla="*/ 434172 h 442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9990" h="4423144">
                <a:moveTo>
                  <a:pt x="15013" y="434172"/>
                </a:moveTo>
                <a:cubicBezTo>
                  <a:pt x="15013" y="194385"/>
                  <a:pt x="209398" y="0"/>
                  <a:pt x="449185" y="0"/>
                </a:cubicBezTo>
                <a:lnTo>
                  <a:pt x="2185818" y="0"/>
                </a:lnTo>
                <a:cubicBezTo>
                  <a:pt x="2425605" y="0"/>
                  <a:pt x="2619990" y="194385"/>
                  <a:pt x="2619990" y="434172"/>
                </a:cubicBezTo>
                <a:lnTo>
                  <a:pt x="2619990" y="3978339"/>
                </a:lnTo>
                <a:cubicBezTo>
                  <a:pt x="2619990" y="4218126"/>
                  <a:pt x="2425605" y="4412511"/>
                  <a:pt x="2185818" y="4412511"/>
                </a:cubicBezTo>
                <a:lnTo>
                  <a:pt x="247166" y="4423144"/>
                </a:lnTo>
                <a:cubicBezTo>
                  <a:pt x="-88314" y="4423144"/>
                  <a:pt x="15013" y="4218126"/>
                  <a:pt x="15013" y="3978339"/>
                </a:cubicBezTo>
                <a:lnTo>
                  <a:pt x="15013" y="43417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a:p>
            <a:endParaRPr lang="en-GB" dirty="0"/>
          </a:p>
        </p:txBody>
      </p:sp>
      <p:sp>
        <p:nvSpPr>
          <p:cNvPr id="6" name="Rectangle: Rounded Corners 4">
            <a:extLst>
              <a:ext uri="{FF2B5EF4-FFF2-40B4-BE49-F238E27FC236}">
                <a16:creationId xmlns:a16="http://schemas.microsoft.com/office/drawing/2014/main" id="{2FBD5FBB-5A77-4C83-A864-6DB21C8A74FA}"/>
              </a:ext>
            </a:extLst>
          </p:cNvPr>
          <p:cNvSpPr/>
          <p:nvPr/>
        </p:nvSpPr>
        <p:spPr>
          <a:xfrm>
            <a:off x="2619990" y="1520456"/>
            <a:ext cx="2619990" cy="4423144"/>
          </a:xfrm>
          <a:custGeom>
            <a:avLst/>
            <a:gdLst>
              <a:gd name="connsiteX0" fmla="*/ 0 w 2604977"/>
              <a:gd name="connsiteY0" fmla="*/ 434172 h 4412511"/>
              <a:gd name="connsiteX1" fmla="*/ 434172 w 2604977"/>
              <a:gd name="connsiteY1" fmla="*/ 0 h 4412511"/>
              <a:gd name="connsiteX2" fmla="*/ 2170805 w 2604977"/>
              <a:gd name="connsiteY2" fmla="*/ 0 h 4412511"/>
              <a:gd name="connsiteX3" fmla="*/ 2604977 w 2604977"/>
              <a:gd name="connsiteY3" fmla="*/ 434172 h 4412511"/>
              <a:gd name="connsiteX4" fmla="*/ 2604977 w 2604977"/>
              <a:gd name="connsiteY4" fmla="*/ 3978339 h 4412511"/>
              <a:gd name="connsiteX5" fmla="*/ 2170805 w 2604977"/>
              <a:gd name="connsiteY5" fmla="*/ 4412511 h 4412511"/>
              <a:gd name="connsiteX6" fmla="*/ 434172 w 2604977"/>
              <a:gd name="connsiteY6" fmla="*/ 4412511 h 4412511"/>
              <a:gd name="connsiteX7" fmla="*/ 0 w 2604977"/>
              <a:gd name="connsiteY7" fmla="*/ 3978339 h 4412511"/>
              <a:gd name="connsiteX8" fmla="*/ 0 w 2604977"/>
              <a:gd name="connsiteY8" fmla="*/ 434172 h 4412511"/>
              <a:gd name="connsiteX0" fmla="*/ 27 w 2605004"/>
              <a:gd name="connsiteY0" fmla="*/ 434172 h 4423144"/>
              <a:gd name="connsiteX1" fmla="*/ 434199 w 2605004"/>
              <a:gd name="connsiteY1" fmla="*/ 0 h 4423144"/>
              <a:gd name="connsiteX2" fmla="*/ 2170832 w 2605004"/>
              <a:gd name="connsiteY2" fmla="*/ 0 h 4423144"/>
              <a:gd name="connsiteX3" fmla="*/ 2605004 w 2605004"/>
              <a:gd name="connsiteY3" fmla="*/ 434172 h 4423144"/>
              <a:gd name="connsiteX4" fmla="*/ 2605004 w 2605004"/>
              <a:gd name="connsiteY4" fmla="*/ 3978339 h 4423144"/>
              <a:gd name="connsiteX5" fmla="*/ 2170832 w 2605004"/>
              <a:gd name="connsiteY5" fmla="*/ 4412511 h 4423144"/>
              <a:gd name="connsiteX6" fmla="*/ 232180 w 2605004"/>
              <a:gd name="connsiteY6" fmla="*/ 4423144 h 4423144"/>
              <a:gd name="connsiteX7" fmla="*/ 27 w 2605004"/>
              <a:gd name="connsiteY7" fmla="*/ 3978339 h 4423144"/>
              <a:gd name="connsiteX8" fmla="*/ 27 w 2605004"/>
              <a:gd name="connsiteY8" fmla="*/ 434172 h 4423144"/>
              <a:gd name="connsiteX0" fmla="*/ 15013 w 2619990"/>
              <a:gd name="connsiteY0" fmla="*/ 434172 h 4423144"/>
              <a:gd name="connsiteX1" fmla="*/ 449185 w 2619990"/>
              <a:gd name="connsiteY1" fmla="*/ 0 h 4423144"/>
              <a:gd name="connsiteX2" fmla="*/ 2185818 w 2619990"/>
              <a:gd name="connsiteY2" fmla="*/ 0 h 4423144"/>
              <a:gd name="connsiteX3" fmla="*/ 2619990 w 2619990"/>
              <a:gd name="connsiteY3" fmla="*/ 434172 h 4423144"/>
              <a:gd name="connsiteX4" fmla="*/ 2619990 w 2619990"/>
              <a:gd name="connsiteY4" fmla="*/ 3978339 h 4423144"/>
              <a:gd name="connsiteX5" fmla="*/ 2185818 w 2619990"/>
              <a:gd name="connsiteY5" fmla="*/ 4412511 h 4423144"/>
              <a:gd name="connsiteX6" fmla="*/ 247166 w 2619990"/>
              <a:gd name="connsiteY6" fmla="*/ 4423144 h 4423144"/>
              <a:gd name="connsiteX7" fmla="*/ 15013 w 2619990"/>
              <a:gd name="connsiteY7" fmla="*/ 3978339 h 4423144"/>
              <a:gd name="connsiteX8" fmla="*/ 15013 w 2619990"/>
              <a:gd name="connsiteY8" fmla="*/ 434172 h 442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9990" h="4423144">
                <a:moveTo>
                  <a:pt x="15013" y="434172"/>
                </a:moveTo>
                <a:cubicBezTo>
                  <a:pt x="15013" y="194385"/>
                  <a:pt x="209398" y="0"/>
                  <a:pt x="449185" y="0"/>
                </a:cubicBezTo>
                <a:lnTo>
                  <a:pt x="2185818" y="0"/>
                </a:lnTo>
                <a:cubicBezTo>
                  <a:pt x="2425605" y="0"/>
                  <a:pt x="2619990" y="194385"/>
                  <a:pt x="2619990" y="434172"/>
                </a:cubicBezTo>
                <a:lnTo>
                  <a:pt x="2619990" y="3978339"/>
                </a:lnTo>
                <a:cubicBezTo>
                  <a:pt x="2619990" y="4218126"/>
                  <a:pt x="2425605" y="4412511"/>
                  <a:pt x="2185818" y="4412511"/>
                </a:cubicBezTo>
                <a:lnTo>
                  <a:pt x="247166" y="4423144"/>
                </a:lnTo>
                <a:cubicBezTo>
                  <a:pt x="-88314" y="4423144"/>
                  <a:pt x="15013" y="4218126"/>
                  <a:pt x="15013" y="3978339"/>
                </a:cubicBezTo>
                <a:lnTo>
                  <a:pt x="15013" y="434172"/>
                </a:lnTo>
                <a:close/>
              </a:path>
            </a:pathLst>
          </a:cu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C4BED495-DB9A-4AC2-81EC-EEA26C944DC8}"/>
              </a:ext>
            </a:extLst>
          </p:cNvPr>
          <p:cNvSpPr txBox="1"/>
          <p:nvPr/>
        </p:nvSpPr>
        <p:spPr>
          <a:xfrm>
            <a:off x="2849526" y="1669312"/>
            <a:ext cx="2222204" cy="4247317"/>
          </a:xfrm>
          <a:prstGeom prst="rect">
            <a:avLst/>
          </a:prstGeom>
          <a:noFill/>
        </p:spPr>
        <p:txBody>
          <a:bodyPr wrap="square" rtlCol="0">
            <a:spAutoFit/>
          </a:bodyPr>
          <a:lstStyle/>
          <a:p>
            <a:r>
              <a:rPr lang="en-GB" u="sng" dirty="0"/>
              <a:t>Shortcuts:</a:t>
            </a:r>
          </a:p>
          <a:p>
            <a:endParaRPr lang="en-GB" dirty="0"/>
          </a:p>
          <a:p>
            <a:r>
              <a:rPr lang="en-GB" dirty="0">
                <a:hlinkClick r:id="rId4" action="ppaction://hlinksldjump"/>
              </a:rPr>
              <a:t>Computer</a:t>
            </a:r>
            <a:endParaRPr lang="en-GB" dirty="0"/>
          </a:p>
          <a:p>
            <a:endParaRPr lang="en-GB" dirty="0"/>
          </a:p>
          <a:p>
            <a:r>
              <a:rPr lang="en-GB" dirty="0">
                <a:hlinkClick r:id="rId5" action="ppaction://hlinksldjump"/>
              </a:rPr>
              <a:t>All Apps</a:t>
            </a:r>
            <a:endParaRPr lang="en-GB" dirty="0"/>
          </a:p>
          <a:p>
            <a:endParaRPr lang="en-GB" dirty="0"/>
          </a:p>
          <a:p>
            <a:r>
              <a:rPr lang="en-GB" dirty="0">
                <a:hlinkClick r:id="rId6" action="ppaction://hlinksldjump"/>
              </a:rPr>
              <a:t>Power Menu</a:t>
            </a:r>
            <a:endParaRPr lang="en-GB" dirty="0"/>
          </a:p>
          <a:p>
            <a:endParaRPr lang="en-GB" dirty="0"/>
          </a:p>
          <a:p>
            <a:r>
              <a:rPr lang="en-GB" dirty="0">
                <a:hlinkClick r:id="rId7" action="ppaction://hlinksldjump"/>
              </a:rPr>
              <a:t>IE225</a:t>
            </a:r>
            <a:endParaRPr lang="en-GB" dirty="0"/>
          </a:p>
          <a:p>
            <a:endParaRPr lang="en-GB" dirty="0"/>
          </a:p>
          <a:p>
            <a:r>
              <a:rPr lang="en-GB" dirty="0">
                <a:hlinkClick r:id="rId8" action="ppaction://hlinksldjump"/>
              </a:rPr>
              <a:t>shell32.dll</a:t>
            </a:r>
            <a:endParaRPr lang="en-GB" dirty="0"/>
          </a:p>
          <a:p>
            <a:endParaRPr lang="en-GB" dirty="0"/>
          </a:p>
          <a:p>
            <a:r>
              <a:rPr lang="en-GB" dirty="0">
                <a:hlinkClick r:id="rId9" action="ppaction://hlinksldjump"/>
              </a:rPr>
              <a:t>Control panel </a:t>
            </a:r>
            <a:endParaRPr lang="en-GB" dirty="0"/>
          </a:p>
          <a:p>
            <a:endParaRPr lang="en-GB" dirty="0"/>
          </a:p>
          <a:p>
            <a:endParaRPr lang="en-GB" dirty="0"/>
          </a:p>
        </p:txBody>
      </p:sp>
      <p:pic>
        <p:nvPicPr>
          <p:cNvPr id="8" name="Picture 7">
            <a:extLst>
              <a:ext uri="{FF2B5EF4-FFF2-40B4-BE49-F238E27FC236}">
                <a16:creationId xmlns:a16="http://schemas.microsoft.com/office/drawing/2014/main" id="{C4F9E5D6-6967-4801-94DB-0224640975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46576" y="2200939"/>
            <a:ext cx="425302" cy="425302"/>
          </a:xfrm>
          <a:prstGeom prst="rect">
            <a:avLst/>
          </a:prstGeom>
        </p:spPr>
      </p:pic>
      <p:pic>
        <p:nvPicPr>
          <p:cNvPr id="9" name="Picture 8">
            <a:extLst>
              <a:ext uri="{FF2B5EF4-FFF2-40B4-BE49-F238E27FC236}">
                <a16:creationId xmlns:a16="http://schemas.microsoft.com/office/drawing/2014/main" id="{1DBF6A85-E5DA-4357-A385-5D55387587F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02027" y="2750010"/>
            <a:ext cx="457200" cy="457200"/>
          </a:xfrm>
          <a:prstGeom prst="rect">
            <a:avLst/>
          </a:prstGeom>
        </p:spPr>
      </p:pic>
      <p:pic>
        <p:nvPicPr>
          <p:cNvPr id="10" name="Picture 9">
            <a:extLst>
              <a:ext uri="{FF2B5EF4-FFF2-40B4-BE49-F238E27FC236}">
                <a16:creationId xmlns:a16="http://schemas.microsoft.com/office/drawing/2014/main" id="{983EC9FB-B05B-4368-90D4-319C33EEB94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51130" y="3330979"/>
            <a:ext cx="495768" cy="495768"/>
          </a:xfrm>
          <a:prstGeom prst="rect">
            <a:avLst/>
          </a:prstGeom>
        </p:spPr>
      </p:pic>
      <p:pic>
        <p:nvPicPr>
          <p:cNvPr id="11" name="Picture 10">
            <a:hlinkClick r:id="rId13" action="ppaction://hlinksldjump"/>
            <a:extLst>
              <a:ext uri="{FF2B5EF4-FFF2-40B4-BE49-F238E27FC236}">
                <a16:creationId xmlns:a16="http://schemas.microsoft.com/office/drawing/2014/main" id="{AD7FB233-ACA6-48CF-8541-3A3C667A14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494988" y="3799969"/>
            <a:ext cx="614077" cy="607747"/>
          </a:xfrm>
          <a:prstGeom prst="rect">
            <a:avLst/>
          </a:prstGeom>
        </p:spPr>
      </p:pic>
      <p:pic>
        <p:nvPicPr>
          <p:cNvPr id="12" name="Picture 11">
            <a:extLst>
              <a:ext uri="{FF2B5EF4-FFF2-40B4-BE49-F238E27FC236}">
                <a16:creationId xmlns:a16="http://schemas.microsoft.com/office/drawing/2014/main" id="{762A246F-1EB6-4659-8C90-F77F6592996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025311" y="4397891"/>
            <a:ext cx="523654" cy="523654"/>
          </a:xfrm>
          <a:prstGeom prst="rect">
            <a:avLst/>
          </a:prstGeom>
        </p:spPr>
      </p:pic>
      <p:pic>
        <p:nvPicPr>
          <p:cNvPr id="14" name="Picture 13">
            <a:extLst>
              <a:ext uri="{FF2B5EF4-FFF2-40B4-BE49-F238E27FC236}">
                <a16:creationId xmlns:a16="http://schemas.microsoft.com/office/drawing/2014/main" id="{B932C499-CD20-4939-96B4-689CC469B11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471878" y="4948516"/>
            <a:ext cx="457200" cy="457200"/>
          </a:xfrm>
          <a:prstGeom prst="rect">
            <a:avLst/>
          </a:prstGeom>
        </p:spPr>
      </p:pic>
      <p:pic>
        <p:nvPicPr>
          <p:cNvPr id="15" name="Picture 14">
            <a:extLst>
              <a:ext uri="{FF2B5EF4-FFF2-40B4-BE49-F238E27FC236}">
                <a16:creationId xmlns:a16="http://schemas.microsoft.com/office/drawing/2014/main" id="{45AC5043-FB20-424D-AEEE-84B2A8B8922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80754" y="4520167"/>
            <a:ext cx="1905000" cy="1257300"/>
          </a:xfrm>
          <a:prstGeom prst="rect">
            <a:avLst/>
          </a:prstGeom>
        </p:spPr>
      </p:pic>
      <p:sp>
        <p:nvSpPr>
          <p:cNvPr id="16" name="Speech Bubble: Rectangle 15">
            <a:extLst>
              <a:ext uri="{FF2B5EF4-FFF2-40B4-BE49-F238E27FC236}">
                <a16:creationId xmlns:a16="http://schemas.microsoft.com/office/drawing/2014/main" id="{F63CFA23-A4E5-4680-AD54-0D3F048A5C15}"/>
              </a:ext>
            </a:extLst>
          </p:cNvPr>
          <p:cNvSpPr/>
          <p:nvPr/>
        </p:nvSpPr>
        <p:spPr>
          <a:xfrm>
            <a:off x="180754" y="1669312"/>
            <a:ext cx="2270986" cy="2509283"/>
          </a:xfrm>
          <a:prstGeom prst="wedgeRectCallout">
            <a:avLst>
              <a:gd name="adj1" fmla="val 2545"/>
              <a:gd name="adj2" fmla="val 9390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Hint of the version:</a:t>
            </a:r>
          </a:p>
          <a:p>
            <a:pPr algn="ctr"/>
            <a:r>
              <a:rPr lang="en-GB" dirty="0"/>
              <a:t>Check out all the new changes stated in the what’s new widget!  </a:t>
            </a:r>
          </a:p>
        </p:txBody>
      </p:sp>
    </p:spTree>
    <p:extLst>
      <p:ext uri="{BB962C8B-B14F-4D97-AF65-F5344CB8AC3E}">
        <p14:creationId xmlns:p14="http://schemas.microsoft.com/office/powerpoint/2010/main" val="656170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Oval 3">
            <a:hlinkClick r:id="rId2" action="ppaction://hlinksldjump"/>
            <a:extLst>
              <a:ext uri="{FF2B5EF4-FFF2-40B4-BE49-F238E27FC236}">
                <a16:creationId xmlns:a16="http://schemas.microsoft.com/office/drawing/2014/main" id="{208836F8-A8F6-414C-8090-59449178CCB5}"/>
              </a:ext>
            </a:extLst>
          </p:cNvPr>
          <p:cNvSpPr/>
          <p:nvPr/>
        </p:nvSpPr>
        <p:spPr>
          <a:xfrm>
            <a:off x="180754" y="6049925"/>
            <a:ext cx="609600" cy="701749"/>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A14D286-91BB-4C9C-92C9-B405F747E43F}"/>
              </a:ext>
            </a:extLst>
          </p:cNvPr>
          <p:cNvSpPr/>
          <p:nvPr/>
        </p:nvSpPr>
        <p:spPr>
          <a:xfrm>
            <a:off x="15947" y="2147777"/>
            <a:ext cx="3195086" cy="37958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189C12A3-F21A-4522-BC1D-38F92D5D9D2E}"/>
              </a:ext>
            </a:extLst>
          </p:cNvPr>
          <p:cNvSpPr/>
          <p:nvPr/>
        </p:nvSpPr>
        <p:spPr>
          <a:xfrm>
            <a:off x="3226980" y="2147777"/>
            <a:ext cx="3195086" cy="379582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4ABEB6C5-501A-41C9-BC3F-7EFB6204DBA4}"/>
              </a:ext>
            </a:extLst>
          </p:cNvPr>
          <p:cNvSpPr/>
          <p:nvPr/>
        </p:nvSpPr>
        <p:spPr>
          <a:xfrm>
            <a:off x="6438013" y="2147777"/>
            <a:ext cx="3195086" cy="3795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feature space.</a:t>
            </a:r>
          </a:p>
          <a:p>
            <a:pPr algn="ctr"/>
            <a:r>
              <a:rPr lang="en-GB" dirty="0"/>
              <a:t>I will add something later, please be patient. </a:t>
            </a:r>
          </a:p>
        </p:txBody>
      </p:sp>
      <p:sp>
        <p:nvSpPr>
          <p:cNvPr id="21" name="Rectangle 20">
            <a:extLst>
              <a:ext uri="{FF2B5EF4-FFF2-40B4-BE49-F238E27FC236}">
                <a16:creationId xmlns:a16="http://schemas.microsoft.com/office/drawing/2014/main" id="{040A0674-E7D0-4198-A04A-B901A02201C2}"/>
              </a:ext>
            </a:extLst>
          </p:cNvPr>
          <p:cNvSpPr/>
          <p:nvPr/>
        </p:nvSpPr>
        <p:spPr>
          <a:xfrm>
            <a:off x="15947" y="1541721"/>
            <a:ext cx="9617152" cy="606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standard user; </a:t>
            </a:r>
            <a:r>
              <a:rPr lang="en-GB" dirty="0">
                <a:hlinkClick r:id="rId4" action="ppaction://hlinksldjump"/>
              </a:rPr>
              <a:t>click for old start menu</a:t>
            </a:r>
            <a:endParaRPr lang="en-GB" dirty="0"/>
          </a:p>
        </p:txBody>
      </p:sp>
      <p:pic>
        <p:nvPicPr>
          <p:cNvPr id="22" name="Picture 21">
            <a:extLst>
              <a:ext uri="{FF2B5EF4-FFF2-40B4-BE49-F238E27FC236}">
                <a16:creationId xmlns:a16="http://schemas.microsoft.com/office/drawing/2014/main" id="{5020B0DE-106D-42C8-B677-55351B50F7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754" y="4520167"/>
            <a:ext cx="1905000" cy="1257300"/>
          </a:xfrm>
          <a:prstGeom prst="rect">
            <a:avLst/>
          </a:prstGeom>
        </p:spPr>
      </p:pic>
      <p:sp>
        <p:nvSpPr>
          <p:cNvPr id="23" name="Speech Bubble: Rectangle 22">
            <a:extLst>
              <a:ext uri="{FF2B5EF4-FFF2-40B4-BE49-F238E27FC236}">
                <a16:creationId xmlns:a16="http://schemas.microsoft.com/office/drawing/2014/main" id="{B7CE1145-ECA2-4D5A-B363-EB2399A6C537}"/>
              </a:ext>
            </a:extLst>
          </p:cNvPr>
          <p:cNvSpPr/>
          <p:nvPr/>
        </p:nvSpPr>
        <p:spPr>
          <a:xfrm>
            <a:off x="260500" y="2337833"/>
            <a:ext cx="2519916" cy="1879306"/>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3BB2ADC1-2529-4641-8EB7-2023A22D7BE3}"/>
              </a:ext>
            </a:extLst>
          </p:cNvPr>
          <p:cNvSpPr txBox="1"/>
          <p:nvPr/>
        </p:nvSpPr>
        <p:spPr>
          <a:xfrm>
            <a:off x="260500" y="2424223"/>
            <a:ext cx="2519916" cy="1477328"/>
          </a:xfrm>
          <a:prstGeom prst="rect">
            <a:avLst/>
          </a:prstGeom>
          <a:noFill/>
        </p:spPr>
        <p:txBody>
          <a:bodyPr wrap="square" rtlCol="0">
            <a:spAutoFit/>
          </a:bodyPr>
          <a:lstStyle/>
          <a:p>
            <a:r>
              <a:rPr lang="en-GB" dirty="0"/>
              <a:t>Hint:</a:t>
            </a:r>
          </a:p>
          <a:p>
            <a:r>
              <a:rPr lang="en-GB" dirty="0"/>
              <a:t>Open all apps, computer, IE, the control panel and more to see what is in this computer! </a:t>
            </a:r>
          </a:p>
        </p:txBody>
      </p:sp>
      <p:sp>
        <p:nvSpPr>
          <p:cNvPr id="25" name="TextBox 24">
            <a:extLst>
              <a:ext uri="{FF2B5EF4-FFF2-40B4-BE49-F238E27FC236}">
                <a16:creationId xmlns:a16="http://schemas.microsoft.com/office/drawing/2014/main" id="{224136C3-7919-4E0A-B61D-9EC70924698A}"/>
              </a:ext>
            </a:extLst>
          </p:cNvPr>
          <p:cNvSpPr txBox="1"/>
          <p:nvPr/>
        </p:nvSpPr>
        <p:spPr>
          <a:xfrm>
            <a:off x="3226980" y="2222205"/>
            <a:ext cx="3195086" cy="2585323"/>
          </a:xfrm>
          <a:prstGeom prst="rect">
            <a:avLst/>
          </a:prstGeom>
          <a:noFill/>
        </p:spPr>
        <p:txBody>
          <a:bodyPr wrap="square" rtlCol="0">
            <a:spAutoFit/>
          </a:bodyPr>
          <a:lstStyle/>
          <a:p>
            <a:r>
              <a:rPr lang="en-GB" dirty="0"/>
              <a:t>Shortcuts:</a:t>
            </a:r>
          </a:p>
          <a:p>
            <a:endParaRPr lang="en-GB" dirty="0"/>
          </a:p>
          <a:p>
            <a:r>
              <a:rPr lang="en-GB" dirty="0"/>
              <a:t>Run</a:t>
            </a:r>
          </a:p>
          <a:p>
            <a:r>
              <a:rPr lang="en-GB" dirty="0"/>
              <a:t>Find</a:t>
            </a:r>
          </a:p>
          <a:p>
            <a:r>
              <a:rPr lang="en-GB" dirty="0">
                <a:hlinkClick r:id="rId6" action="ppaction://hlinksldjump"/>
              </a:rPr>
              <a:t>Explorer</a:t>
            </a:r>
            <a:endParaRPr lang="en-GB" dirty="0"/>
          </a:p>
          <a:p>
            <a:r>
              <a:rPr lang="en-GB" dirty="0">
                <a:hlinkClick r:id="rId7" action="ppaction://hlinksldjump"/>
              </a:rPr>
              <a:t>All apps</a:t>
            </a:r>
            <a:endParaRPr lang="en-GB" dirty="0"/>
          </a:p>
          <a:p>
            <a:r>
              <a:rPr lang="en-GB" dirty="0">
                <a:hlinkClick r:id="rId8" action="ppaction://hlinksldjump"/>
              </a:rPr>
              <a:t>IE225</a:t>
            </a:r>
            <a:endParaRPr lang="en-GB" dirty="0"/>
          </a:p>
          <a:p>
            <a:r>
              <a:rPr lang="en-GB" dirty="0">
                <a:hlinkClick r:id="rId9" action="ppaction://hlinksldjump"/>
              </a:rPr>
              <a:t>Control panel</a:t>
            </a:r>
            <a:endParaRPr lang="en-GB" dirty="0"/>
          </a:p>
          <a:p>
            <a:r>
              <a:rPr lang="en-GB" dirty="0">
                <a:hlinkClick r:id="rId10" action="ppaction://hlinksldjump"/>
              </a:rPr>
              <a:t>Icon file</a:t>
            </a:r>
            <a:endParaRPr lang="en-GB" dirty="0"/>
          </a:p>
        </p:txBody>
      </p:sp>
      <p:sp>
        <p:nvSpPr>
          <p:cNvPr id="26" name="Rectangle 25">
            <a:hlinkClick r:id="rId11" action="ppaction://hlinksldjump"/>
            <a:extLst>
              <a:ext uri="{FF2B5EF4-FFF2-40B4-BE49-F238E27FC236}">
                <a16:creationId xmlns:a16="http://schemas.microsoft.com/office/drawing/2014/main" id="{CDD045C5-F603-43F5-8854-BE30599E4FF0}"/>
              </a:ext>
            </a:extLst>
          </p:cNvPr>
          <p:cNvSpPr/>
          <p:nvPr/>
        </p:nvSpPr>
        <p:spPr>
          <a:xfrm>
            <a:off x="3226979" y="5220585"/>
            <a:ext cx="3195085" cy="7230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spTree>
    <p:extLst>
      <p:ext uri="{BB962C8B-B14F-4D97-AF65-F5344CB8AC3E}">
        <p14:creationId xmlns:p14="http://schemas.microsoft.com/office/powerpoint/2010/main" val="1759541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935665"/>
            <a:ext cx="12192000" cy="592233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rot="5400000">
            <a:off x="11733027" y="317769"/>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0BAFD1AF-E28E-40F6-970A-DCB307E8A0AB}"/>
              </a:ext>
            </a:extLst>
          </p:cNvPr>
          <p:cNvSpPr/>
          <p:nvPr/>
        </p:nvSpPr>
        <p:spPr>
          <a:xfrm>
            <a:off x="-248094" y="18848"/>
            <a:ext cx="12440093" cy="2308324"/>
          </a:xfrm>
          <a:prstGeom prst="rect">
            <a:avLst/>
          </a:prstGeom>
        </p:spPr>
        <p:txBody>
          <a:bodyPr wrap="square">
            <a:spAutoFit/>
          </a:bodyPr>
          <a:lstStyle/>
          <a:p>
            <a:pPr algn="ctr"/>
            <a:r>
              <a:rPr lang="en-GB" dirty="0"/>
              <a:t>Internet Explorer 23; connected; DNS server 1.1.1.1; connection speed is 10mbps;</a:t>
            </a:r>
          </a:p>
          <a:p>
            <a:pPr algn="ctr"/>
            <a:r>
              <a:rPr lang="en-GB" dirty="0"/>
              <a:t>protocol is HTTPS; internet is secured by TSL encryption; cookies enabled; site uses 10 cookies; the browser is not the actual Internet Explorer. </a:t>
            </a:r>
          </a:p>
          <a:p>
            <a:pPr algn="ctr"/>
            <a:endParaRPr lang="en-GB" dirty="0"/>
          </a:p>
          <a:p>
            <a:pPr algn="ctr"/>
            <a:endParaRPr lang="en-GB" dirty="0"/>
          </a:p>
          <a:p>
            <a:pPr algn="ctr"/>
            <a:endParaRPr lang="en-GB" dirty="0"/>
          </a:p>
          <a:p>
            <a:pPr algn="ctr"/>
            <a:endParaRPr lang="en-GB" dirty="0"/>
          </a:p>
          <a:p>
            <a:pPr algn="ctr"/>
            <a:endParaRPr lang="en-GB" dirty="0"/>
          </a:p>
        </p:txBody>
      </p:sp>
      <p:sp>
        <p:nvSpPr>
          <p:cNvPr id="8" name="TextBox 7">
            <a:extLst>
              <a:ext uri="{FF2B5EF4-FFF2-40B4-BE49-F238E27FC236}">
                <a16:creationId xmlns:a16="http://schemas.microsoft.com/office/drawing/2014/main" id="{8CCBFB73-FB18-41C9-B385-B516C94A8D60}"/>
              </a:ext>
            </a:extLst>
          </p:cNvPr>
          <p:cNvSpPr txBox="1"/>
          <p:nvPr/>
        </p:nvSpPr>
        <p:spPr>
          <a:xfrm>
            <a:off x="0" y="1311509"/>
            <a:ext cx="12057321" cy="2031325"/>
          </a:xfrm>
          <a:prstGeom prst="rect">
            <a:avLst/>
          </a:prstGeom>
          <a:noFill/>
        </p:spPr>
        <p:txBody>
          <a:bodyPr wrap="square" rtlCol="0">
            <a:spAutoFit/>
          </a:bodyPr>
          <a:lstStyle/>
          <a:p>
            <a:r>
              <a:rPr lang="en-GB" dirty="0"/>
              <a:t>Welcome to the Internet!</a:t>
            </a:r>
          </a:p>
          <a:p>
            <a:r>
              <a:rPr lang="en-GB" dirty="0"/>
              <a:t>Please select one of these sites:</a:t>
            </a:r>
          </a:p>
          <a:p>
            <a:endParaRPr lang="en-GB" dirty="0"/>
          </a:p>
          <a:p>
            <a:r>
              <a:rPr lang="en-GB" dirty="0">
                <a:hlinkClick r:id="rId3" action="ppaction://hlinksldjump"/>
              </a:rPr>
              <a:t>Get aCCe55</a:t>
            </a:r>
            <a:endParaRPr lang="en-GB" dirty="0"/>
          </a:p>
          <a:p>
            <a:r>
              <a:rPr lang="en-GB" dirty="0">
                <a:hlinkClick r:id="rId4" action="ppaction://hlinksldjump"/>
              </a:rPr>
              <a:t>Return of the Documents</a:t>
            </a:r>
            <a:endParaRPr lang="en-GB" dirty="0"/>
          </a:p>
          <a:p>
            <a:r>
              <a:rPr lang="en-GB" dirty="0">
                <a:hlinkClick r:id="rId5" action="ppaction://hlinksldjump"/>
              </a:rPr>
              <a:t>News</a:t>
            </a:r>
            <a:endParaRPr lang="en-GB" dirty="0"/>
          </a:p>
          <a:p>
            <a:r>
              <a:rPr lang="en-GB" dirty="0">
                <a:hlinkClick r:id="rId6" action="ppaction://hlinksldjump"/>
              </a:rPr>
              <a:t>Version plan from developer</a:t>
            </a:r>
            <a:endParaRPr lang="en-GB" dirty="0"/>
          </a:p>
        </p:txBody>
      </p:sp>
    </p:spTree>
    <p:extLst>
      <p:ext uri="{BB962C8B-B14F-4D97-AF65-F5344CB8AC3E}">
        <p14:creationId xmlns:p14="http://schemas.microsoft.com/office/powerpoint/2010/main" val="673500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computer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DFE9E913-ADA2-4CCE-BE7D-76768C13B0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171" y="425302"/>
            <a:ext cx="425303" cy="425303"/>
          </a:xfrm>
          <a:prstGeom prst="rect">
            <a:avLst/>
          </a:prstGeom>
        </p:spPr>
      </p:pic>
      <p:sp>
        <p:nvSpPr>
          <p:cNvPr id="7" name="TextBox 6">
            <a:extLst>
              <a:ext uri="{FF2B5EF4-FFF2-40B4-BE49-F238E27FC236}">
                <a16:creationId xmlns:a16="http://schemas.microsoft.com/office/drawing/2014/main" id="{2B70364C-5664-4EDC-8F0E-559239AFBA65}"/>
              </a:ext>
            </a:extLst>
          </p:cNvPr>
          <p:cNvSpPr txBox="1"/>
          <p:nvPr/>
        </p:nvSpPr>
        <p:spPr>
          <a:xfrm>
            <a:off x="0" y="946298"/>
            <a:ext cx="1733107" cy="369332"/>
          </a:xfrm>
          <a:prstGeom prst="rect">
            <a:avLst/>
          </a:prstGeom>
          <a:noFill/>
        </p:spPr>
        <p:txBody>
          <a:bodyPr wrap="square" rtlCol="0">
            <a:spAutoFit/>
          </a:bodyPr>
          <a:lstStyle/>
          <a:p>
            <a:r>
              <a:rPr lang="en-GB" dirty="0"/>
              <a:t>Local Disk[C]</a:t>
            </a:r>
          </a:p>
        </p:txBody>
      </p:sp>
      <p:pic>
        <p:nvPicPr>
          <p:cNvPr id="8" name="Picture 7">
            <a:hlinkClick r:id="rId5" action="ppaction://hlinksldjump"/>
            <a:extLst>
              <a:ext uri="{FF2B5EF4-FFF2-40B4-BE49-F238E27FC236}">
                <a16:creationId xmlns:a16="http://schemas.microsoft.com/office/drawing/2014/main" id="{40EE8489-51FD-4F17-8885-773F29B8F8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33107" y="520995"/>
            <a:ext cx="457200" cy="457200"/>
          </a:xfrm>
          <a:prstGeom prst="rect">
            <a:avLst/>
          </a:prstGeom>
        </p:spPr>
      </p:pic>
      <p:sp>
        <p:nvSpPr>
          <p:cNvPr id="9" name="TextBox 8">
            <a:extLst>
              <a:ext uri="{FF2B5EF4-FFF2-40B4-BE49-F238E27FC236}">
                <a16:creationId xmlns:a16="http://schemas.microsoft.com/office/drawing/2014/main" id="{83C44D59-2F29-4232-81E5-7AAC42713CD6}"/>
              </a:ext>
            </a:extLst>
          </p:cNvPr>
          <p:cNvSpPr txBox="1"/>
          <p:nvPr/>
        </p:nvSpPr>
        <p:spPr>
          <a:xfrm>
            <a:off x="1573619" y="978195"/>
            <a:ext cx="2243469" cy="369332"/>
          </a:xfrm>
          <a:prstGeom prst="rect">
            <a:avLst/>
          </a:prstGeom>
          <a:noFill/>
        </p:spPr>
        <p:txBody>
          <a:bodyPr wrap="square" rtlCol="0">
            <a:spAutoFit/>
          </a:bodyPr>
          <a:lstStyle/>
          <a:p>
            <a:r>
              <a:rPr lang="en-GB" dirty="0"/>
              <a:t>me</a:t>
            </a:r>
          </a:p>
        </p:txBody>
      </p:sp>
    </p:spTree>
    <p:extLst>
      <p:ext uri="{BB962C8B-B14F-4D97-AF65-F5344CB8AC3E}">
        <p14:creationId xmlns:p14="http://schemas.microsoft.com/office/powerpoint/2010/main" val="255015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06D50642-8945-4DA4-A28D-F25A6AC2546F}"/>
              </a:ext>
            </a:extLst>
          </p:cNvPr>
          <p:cNvSpPr txBox="1"/>
          <p:nvPr/>
        </p:nvSpPr>
        <p:spPr>
          <a:xfrm>
            <a:off x="116958" y="1796902"/>
            <a:ext cx="1414130" cy="369332"/>
          </a:xfrm>
          <a:prstGeom prst="rect">
            <a:avLst/>
          </a:prstGeom>
          <a:noFill/>
        </p:spPr>
        <p:txBody>
          <a:bodyPr wrap="square" rtlCol="0">
            <a:spAutoFit/>
          </a:bodyPr>
          <a:lstStyle/>
          <a:p>
            <a:r>
              <a:rPr lang="en-GB" dirty="0"/>
              <a:t>IE22.5</a:t>
            </a:r>
          </a:p>
        </p:txBody>
      </p:sp>
      <p:pic>
        <p:nvPicPr>
          <p:cNvPr id="9" name="Graphic 8">
            <a:hlinkClick r:id="rId3" action="ppaction://hlinksldjump"/>
            <a:extLst>
              <a:ext uri="{FF2B5EF4-FFF2-40B4-BE49-F238E27FC236}">
                <a16:creationId xmlns:a16="http://schemas.microsoft.com/office/drawing/2014/main" id="{26234E25-F293-467D-AB3C-EEB6693230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85507" y="664599"/>
            <a:ext cx="914400" cy="914400"/>
          </a:xfrm>
          <a:prstGeom prst="rect">
            <a:avLst/>
          </a:prstGeom>
        </p:spPr>
      </p:pic>
      <p:sp>
        <p:nvSpPr>
          <p:cNvPr id="10" name="TextBox 9">
            <a:extLst>
              <a:ext uri="{FF2B5EF4-FFF2-40B4-BE49-F238E27FC236}">
                <a16:creationId xmlns:a16="http://schemas.microsoft.com/office/drawing/2014/main" id="{BAC85EF6-9869-45D3-A350-3166E51001B4}"/>
              </a:ext>
            </a:extLst>
          </p:cNvPr>
          <p:cNvSpPr txBox="1"/>
          <p:nvPr/>
        </p:nvSpPr>
        <p:spPr>
          <a:xfrm>
            <a:off x="1531088" y="1690577"/>
            <a:ext cx="2541182" cy="369332"/>
          </a:xfrm>
          <a:prstGeom prst="rect">
            <a:avLst/>
          </a:prstGeom>
          <a:noFill/>
        </p:spPr>
        <p:txBody>
          <a:bodyPr wrap="square" rtlCol="0">
            <a:spAutoFit/>
          </a:bodyPr>
          <a:lstStyle/>
          <a:p>
            <a:r>
              <a:rPr lang="en-GB" dirty="0"/>
              <a:t>Email 2.02</a:t>
            </a:r>
          </a:p>
        </p:txBody>
      </p:sp>
      <p:pic>
        <p:nvPicPr>
          <p:cNvPr id="11" name="Picture 10">
            <a:hlinkClick r:id="rId6" action="ppaction://hlinksldjump"/>
            <a:extLst>
              <a:ext uri="{FF2B5EF4-FFF2-40B4-BE49-F238E27FC236}">
                <a16:creationId xmlns:a16="http://schemas.microsoft.com/office/drawing/2014/main" id="{95AB141D-1113-42CF-9B27-8FC86FE309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2158" y="834720"/>
            <a:ext cx="990111" cy="990111"/>
          </a:xfrm>
          <a:prstGeom prst="rect">
            <a:avLst/>
          </a:prstGeom>
        </p:spPr>
      </p:pic>
      <p:sp>
        <p:nvSpPr>
          <p:cNvPr id="3" name="TextBox 2">
            <a:extLst>
              <a:ext uri="{FF2B5EF4-FFF2-40B4-BE49-F238E27FC236}">
                <a16:creationId xmlns:a16="http://schemas.microsoft.com/office/drawing/2014/main" id="{00300A34-0DD3-49C7-9C3F-23E57415B665}"/>
              </a:ext>
            </a:extLst>
          </p:cNvPr>
          <p:cNvSpPr txBox="1"/>
          <p:nvPr/>
        </p:nvSpPr>
        <p:spPr>
          <a:xfrm>
            <a:off x="3082158" y="1913860"/>
            <a:ext cx="2521200" cy="369332"/>
          </a:xfrm>
          <a:prstGeom prst="rect">
            <a:avLst/>
          </a:prstGeom>
          <a:noFill/>
        </p:spPr>
        <p:txBody>
          <a:bodyPr wrap="square" rtlCol="0">
            <a:spAutoFit/>
          </a:bodyPr>
          <a:lstStyle/>
          <a:p>
            <a:r>
              <a:rPr lang="en-GB" dirty="0"/>
              <a:t>computer</a:t>
            </a:r>
          </a:p>
        </p:txBody>
      </p:sp>
      <p:pic>
        <p:nvPicPr>
          <p:cNvPr id="12" name="Picture 11">
            <a:hlinkClick r:id="rId8" action="ppaction://hlinksldjump"/>
            <a:extLst>
              <a:ext uri="{FF2B5EF4-FFF2-40B4-BE49-F238E27FC236}">
                <a16:creationId xmlns:a16="http://schemas.microsoft.com/office/drawing/2014/main" id="{00F31BA8-5953-47D9-AA09-0986F817C0F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05500" y="1202807"/>
            <a:ext cx="523654" cy="523654"/>
          </a:xfrm>
          <a:prstGeom prst="rect">
            <a:avLst/>
          </a:prstGeom>
        </p:spPr>
      </p:pic>
      <p:sp>
        <p:nvSpPr>
          <p:cNvPr id="8" name="TextBox 7">
            <a:extLst>
              <a:ext uri="{FF2B5EF4-FFF2-40B4-BE49-F238E27FC236}">
                <a16:creationId xmlns:a16="http://schemas.microsoft.com/office/drawing/2014/main" id="{CA0EFAA6-B15C-4ACD-9968-C501F7826175}"/>
              </a:ext>
            </a:extLst>
          </p:cNvPr>
          <p:cNvSpPr txBox="1"/>
          <p:nvPr/>
        </p:nvSpPr>
        <p:spPr>
          <a:xfrm>
            <a:off x="4342758" y="1690577"/>
            <a:ext cx="1580553" cy="646331"/>
          </a:xfrm>
          <a:prstGeom prst="rect">
            <a:avLst/>
          </a:prstGeom>
          <a:noFill/>
        </p:spPr>
        <p:txBody>
          <a:bodyPr wrap="square" rtlCol="0">
            <a:spAutoFit/>
          </a:bodyPr>
          <a:lstStyle/>
          <a:p>
            <a:r>
              <a:rPr lang="en-GB" dirty="0"/>
              <a:t>Runtime Broker</a:t>
            </a:r>
          </a:p>
        </p:txBody>
      </p:sp>
      <p:pic>
        <p:nvPicPr>
          <p:cNvPr id="13" name="Picture 12">
            <a:hlinkClick r:id="rId10" action="ppaction://hlinksldjump"/>
            <a:extLst>
              <a:ext uri="{FF2B5EF4-FFF2-40B4-BE49-F238E27FC236}">
                <a16:creationId xmlns:a16="http://schemas.microsoft.com/office/drawing/2014/main" id="{E4C48AED-34E3-4985-8866-F9772E4A3FB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17014" y="1271810"/>
            <a:ext cx="523654" cy="523654"/>
          </a:xfrm>
          <a:prstGeom prst="rect">
            <a:avLst/>
          </a:prstGeom>
        </p:spPr>
      </p:pic>
      <p:sp>
        <p:nvSpPr>
          <p:cNvPr id="14" name="TextBox 13">
            <a:extLst>
              <a:ext uri="{FF2B5EF4-FFF2-40B4-BE49-F238E27FC236}">
                <a16:creationId xmlns:a16="http://schemas.microsoft.com/office/drawing/2014/main" id="{D7B6B52F-4414-4E1F-B8F4-EF6E281B14F3}"/>
              </a:ext>
            </a:extLst>
          </p:cNvPr>
          <p:cNvSpPr txBox="1"/>
          <p:nvPr/>
        </p:nvSpPr>
        <p:spPr>
          <a:xfrm>
            <a:off x="5517014" y="1726461"/>
            <a:ext cx="2202223" cy="369332"/>
          </a:xfrm>
          <a:prstGeom prst="rect">
            <a:avLst/>
          </a:prstGeom>
          <a:noFill/>
        </p:spPr>
        <p:txBody>
          <a:bodyPr wrap="square" rtlCol="0">
            <a:spAutoFit/>
          </a:bodyPr>
          <a:lstStyle/>
          <a:p>
            <a:r>
              <a:rPr lang="en-GB" dirty="0"/>
              <a:t>Action centre</a:t>
            </a:r>
          </a:p>
        </p:txBody>
      </p:sp>
      <p:pic>
        <p:nvPicPr>
          <p:cNvPr id="15" name="Picture 14">
            <a:hlinkClick r:id="rId12" action="ppaction://hlinksldjump"/>
            <a:extLst>
              <a:ext uri="{FF2B5EF4-FFF2-40B4-BE49-F238E27FC236}">
                <a16:creationId xmlns:a16="http://schemas.microsoft.com/office/drawing/2014/main" id="{62B175BE-F852-4226-9535-D458D18B76F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96491" y="940980"/>
            <a:ext cx="854483" cy="854483"/>
          </a:xfrm>
          <a:prstGeom prst="rect">
            <a:avLst/>
          </a:prstGeom>
        </p:spPr>
      </p:pic>
      <p:sp>
        <p:nvSpPr>
          <p:cNvPr id="16" name="TextBox 15">
            <a:extLst>
              <a:ext uri="{FF2B5EF4-FFF2-40B4-BE49-F238E27FC236}">
                <a16:creationId xmlns:a16="http://schemas.microsoft.com/office/drawing/2014/main" id="{B0B7C024-6EC4-4A40-980C-F5B0523383E8}"/>
              </a:ext>
            </a:extLst>
          </p:cNvPr>
          <p:cNvSpPr txBox="1"/>
          <p:nvPr/>
        </p:nvSpPr>
        <p:spPr>
          <a:xfrm>
            <a:off x="7196491" y="1824831"/>
            <a:ext cx="1862449" cy="646331"/>
          </a:xfrm>
          <a:prstGeom prst="rect">
            <a:avLst/>
          </a:prstGeom>
          <a:noFill/>
        </p:spPr>
        <p:txBody>
          <a:bodyPr wrap="square" rtlCol="0">
            <a:spAutoFit/>
          </a:bodyPr>
          <a:lstStyle/>
          <a:p>
            <a:r>
              <a:rPr lang="en-GB" dirty="0"/>
              <a:t>Home network manager</a:t>
            </a:r>
          </a:p>
        </p:txBody>
      </p:sp>
      <p:sp>
        <p:nvSpPr>
          <p:cNvPr id="18" name="TextBox 17">
            <a:extLst>
              <a:ext uri="{FF2B5EF4-FFF2-40B4-BE49-F238E27FC236}">
                <a16:creationId xmlns:a16="http://schemas.microsoft.com/office/drawing/2014/main" id="{CAD59D2B-FEB3-4A72-A096-2F6BD6E1E7B9}"/>
              </a:ext>
            </a:extLst>
          </p:cNvPr>
          <p:cNvSpPr txBox="1"/>
          <p:nvPr/>
        </p:nvSpPr>
        <p:spPr>
          <a:xfrm>
            <a:off x="8686800" y="1578999"/>
            <a:ext cx="2488396" cy="369332"/>
          </a:xfrm>
          <a:prstGeom prst="rect">
            <a:avLst/>
          </a:prstGeom>
          <a:noFill/>
        </p:spPr>
        <p:txBody>
          <a:bodyPr wrap="square" rtlCol="0">
            <a:spAutoFit/>
          </a:bodyPr>
          <a:lstStyle/>
          <a:p>
            <a:r>
              <a:rPr lang="en-GB" dirty="0"/>
              <a:t>Do not open</a:t>
            </a:r>
          </a:p>
        </p:txBody>
      </p:sp>
      <p:pic>
        <p:nvPicPr>
          <p:cNvPr id="19" name="Picture 18">
            <a:hlinkClick r:id="rId14" action="ppaction://hlinksldjump"/>
            <a:extLst>
              <a:ext uri="{FF2B5EF4-FFF2-40B4-BE49-F238E27FC236}">
                <a16:creationId xmlns:a16="http://schemas.microsoft.com/office/drawing/2014/main" id="{9D6D08F8-F1D3-423E-BEFD-76161EF8AC1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054397" y="1024975"/>
            <a:ext cx="554024" cy="554024"/>
          </a:xfrm>
          <a:prstGeom prst="rect">
            <a:avLst/>
          </a:prstGeom>
        </p:spPr>
      </p:pic>
      <p:pic>
        <p:nvPicPr>
          <p:cNvPr id="21" name="Picture 20">
            <a:hlinkClick r:id="rId16" action="ppaction://hlinksldjump"/>
            <a:extLst>
              <a:ext uri="{FF2B5EF4-FFF2-40B4-BE49-F238E27FC236}">
                <a16:creationId xmlns:a16="http://schemas.microsoft.com/office/drawing/2014/main" id="{B9C19D62-5DAA-4157-B4AA-C3D7BC7AF69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443146" y="834720"/>
            <a:ext cx="733425" cy="914400"/>
          </a:xfrm>
          <a:prstGeom prst="rect">
            <a:avLst/>
          </a:prstGeom>
        </p:spPr>
      </p:pic>
      <p:sp>
        <p:nvSpPr>
          <p:cNvPr id="22" name="TextBox 21">
            <a:extLst>
              <a:ext uri="{FF2B5EF4-FFF2-40B4-BE49-F238E27FC236}">
                <a16:creationId xmlns:a16="http://schemas.microsoft.com/office/drawing/2014/main" id="{86ECEF51-1428-4B9A-95C1-5492B46DAAA0}"/>
              </a:ext>
            </a:extLst>
          </p:cNvPr>
          <p:cNvSpPr txBox="1"/>
          <p:nvPr/>
        </p:nvSpPr>
        <p:spPr>
          <a:xfrm>
            <a:off x="10111563" y="1948331"/>
            <a:ext cx="1963479" cy="369332"/>
          </a:xfrm>
          <a:prstGeom prst="rect">
            <a:avLst/>
          </a:prstGeom>
          <a:noFill/>
        </p:spPr>
        <p:txBody>
          <a:bodyPr wrap="square" rtlCol="0">
            <a:spAutoFit/>
          </a:bodyPr>
          <a:lstStyle/>
          <a:p>
            <a:r>
              <a:rPr lang="en-GB" dirty="0"/>
              <a:t>MEMZ</a:t>
            </a:r>
          </a:p>
        </p:txBody>
      </p:sp>
      <p:pic>
        <p:nvPicPr>
          <p:cNvPr id="23" name="Picture 22">
            <a:hlinkClick r:id="rId18" action="ppaction://hlinksldjump"/>
            <a:extLst>
              <a:ext uri="{FF2B5EF4-FFF2-40B4-BE49-F238E27FC236}">
                <a16:creationId xmlns:a16="http://schemas.microsoft.com/office/drawing/2014/main" id="{52EA79E8-8AD7-4BFB-B8DF-E5B95DAA3999}"/>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14918" y="2451796"/>
            <a:ext cx="457200" cy="457200"/>
          </a:xfrm>
          <a:prstGeom prst="rect">
            <a:avLst/>
          </a:prstGeom>
        </p:spPr>
      </p:pic>
      <p:sp>
        <p:nvSpPr>
          <p:cNvPr id="24" name="TextBox 23">
            <a:extLst>
              <a:ext uri="{FF2B5EF4-FFF2-40B4-BE49-F238E27FC236}">
                <a16:creationId xmlns:a16="http://schemas.microsoft.com/office/drawing/2014/main" id="{0EA9C46C-B8C9-438C-9148-C36BCAB5CC96}"/>
              </a:ext>
            </a:extLst>
          </p:cNvPr>
          <p:cNvSpPr txBox="1"/>
          <p:nvPr/>
        </p:nvSpPr>
        <p:spPr>
          <a:xfrm>
            <a:off x="116958" y="2954943"/>
            <a:ext cx="1956391" cy="369332"/>
          </a:xfrm>
          <a:prstGeom prst="rect">
            <a:avLst/>
          </a:prstGeom>
          <a:noFill/>
        </p:spPr>
        <p:txBody>
          <a:bodyPr wrap="square" rtlCol="0">
            <a:spAutoFit/>
          </a:bodyPr>
          <a:lstStyle/>
          <a:p>
            <a:r>
              <a:rPr lang="en-GB" dirty="0"/>
              <a:t>Control panel</a:t>
            </a:r>
          </a:p>
        </p:txBody>
      </p:sp>
      <p:pic>
        <p:nvPicPr>
          <p:cNvPr id="25" name="Picture 24">
            <a:hlinkClick r:id="rId20" action="ppaction://hlinksldjump"/>
            <a:extLst>
              <a:ext uri="{FF2B5EF4-FFF2-40B4-BE49-F238E27FC236}">
                <a16:creationId xmlns:a16="http://schemas.microsoft.com/office/drawing/2014/main" id="{20094A27-5CD1-408E-9D1B-1B2C5A007ED8}"/>
              </a:ext>
            </a:extLst>
          </p:cNvPr>
          <p:cNvPicPr>
            <a:picLocks noChangeAspect="1"/>
          </p:cNvPicPr>
          <p:nvPr/>
        </p:nvPicPr>
        <p:blipFill>
          <a:blip r:embed="rId21">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339812" y="664471"/>
            <a:ext cx="924054" cy="914528"/>
          </a:xfrm>
          <a:prstGeom prst="rect">
            <a:avLst/>
          </a:prstGeom>
        </p:spPr>
      </p:pic>
    </p:spTree>
    <p:extLst>
      <p:ext uri="{BB962C8B-B14F-4D97-AF65-F5344CB8AC3E}">
        <p14:creationId xmlns:p14="http://schemas.microsoft.com/office/powerpoint/2010/main" val="2023448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hlinkClick r:id="rId3" action="ppaction://hlinksldjump"/>
            <a:extLst>
              <a:ext uri="{FF2B5EF4-FFF2-40B4-BE49-F238E27FC236}">
                <a16:creationId xmlns:a16="http://schemas.microsoft.com/office/drawing/2014/main" id="{A0473E9D-2E60-4A7C-8914-E1EC101C2AFF}"/>
              </a:ext>
            </a:extLst>
          </p:cNvPr>
          <p:cNvSpPr/>
          <p:nvPr/>
        </p:nvSpPr>
        <p:spPr>
          <a:xfrm>
            <a:off x="2392325" y="1648047"/>
            <a:ext cx="6156251" cy="2594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client</a:t>
            </a:r>
          </a:p>
          <a:p>
            <a:pPr algn="ctr"/>
            <a:r>
              <a:rPr lang="en-GB" dirty="0"/>
              <a:t>V2. 02</a:t>
            </a:r>
          </a:p>
          <a:p>
            <a:pPr algn="ctr"/>
            <a:r>
              <a:rPr lang="en-GB" dirty="0"/>
              <a:t>For Windos 98</a:t>
            </a:r>
          </a:p>
          <a:p>
            <a:pPr algn="ctr"/>
            <a:r>
              <a:rPr lang="en-GB" dirty="0"/>
              <a:t>© 2020 M1cr0$0ft c0rp. </a:t>
            </a:r>
          </a:p>
        </p:txBody>
      </p:sp>
      <p:pic>
        <p:nvPicPr>
          <p:cNvPr id="4" name="Graphic 3">
            <a:hlinkClick r:id="rId3" action="ppaction://hlinksldjump"/>
            <a:extLst>
              <a:ext uri="{FF2B5EF4-FFF2-40B4-BE49-F238E27FC236}">
                <a16:creationId xmlns:a16="http://schemas.microsoft.com/office/drawing/2014/main" id="{AB9EE351-7E08-4F84-BC17-EB6540B13C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66751" y="1897975"/>
            <a:ext cx="2004173" cy="2004173"/>
          </a:xfrm>
          <a:prstGeom prst="rect">
            <a:avLst/>
          </a:prstGeom>
        </p:spPr>
      </p:pic>
    </p:spTree>
    <p:extLst>
      <p:ext uri="{BB962C8B-B14F-4D97-AF65-F5344CB8AC3E}">
        <p14:creationId xmlns:p14="http://schemas.microsoft.com/office/powerpoint/2010/main" val="3092069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client v2.01 - inbox</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It is empty! </a:t>
            </a:r>
            <a:r>
              <a:rPr lang="en-GB" dirty="0">
                <a:sym typeface="Wingdings" panose="05000000000000000000" pitchFamily="2" charset="2"/>
              </a:rPr>
              <a:t>:) </a:t>
            </a: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041374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4" action="ppaction://hlinksldjump"/>
              </a:rPr>
              <a:t>Power off</a:t>
            </a:r>
            <a:endParaRPr lang="en-GB" dirty="0"/>
          </a:p>
          <a:p>
            <a:pPr algn="ctr"/>
            <a:r>
              <a:rPr lang="en-GB" dirty="0">
                <a:hlinkClick r:id="rId5" action="ppaction://hlinksldjump"/>
              </a:rPr>
              <a:t>Reboot</a:t>
            </a:r>
            <a:endParaRPr lang="en-GB" dirty="0"/>
          </a:p>
          <a:p>
            <a:pPr algn="ctr"/>
            <a:r>
              <a:rPr lang="en-GB" dirty="0">
                <a:hlinkClick r:id="rId2" action="ppaction://hlinksldjump"/>
              </a:rPr>
              <a:t>Sign out</a:t>
            </a:r>
            <a:endParaRPr lang="en-GB" dirty="0"/>
          </a:p>
          <a:p>
            <a:pPr algn="ctr"/>
            <a:r>
              <a:rPr lang="en-GB" dirty="0">
                <a:hlinkClick r:id="rId6" action="ppaction://hlinksldjump"/>
              </a:rPr>
              <a:t>Sleep</a:t>
            </a:r>
            <a:r>
              <a:rPr lang="en-GB" dirty="0"/>
              <a:t> </a:t>
            </a:r>
          </a:p>
          <a:p>
            <a:pPr algn="ctr"/>
            <a:r>
              <a:rPr lang="en-GB" dirty="0">
                <a:hlinkClick r:id="rId7" action="ppaction://hlinksldjump"/>
              </a:rPr>
              <a:t>Crash system</a:t>
            </a:r>
            <a:endParaRPr lang="en-GB" dirty="0"/>
          </a:p>
        </p:txBody>
      </p:sp>
      <p:sp>
        <p:nvSpPr>
          <p:cNvPr id="4" name="Rectangle 3">
            <a:extLst>
              <a:ext uri="{FF2B5EF4-FFF2-40B4-BE49-F238E27FC236}">
                <a16:creationId xmlns:a16="http://schemas.microsoft.com/office/drawing/2014/main" id="{8128917B-0AD5-480E-94C0-59831B491451}"/>
              </a:ext>
            </a:extLst>
          </p:cNvPr>
          <p:cNvSpPr/>
          <p:nvPr/>
        </p:nvSpPr>
        <p:spPr>
          <a:xfrm>
            <a:off x="3515834" y="1509823"/>
            <a:ext cx="5617534" cy="44656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spTree>
    <p:extLst>
      <p:ext uri="{BB962C8B-B14F-4D97-AF65-F5344CB8AC3E}">
        <p14:creationId xmlns:p14="http://schemas.microsoft.com/office/powerpoint/2010/main" val="3063343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Crash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 outside of window to cancel.</a:t>
            </a:r>
          </a:p>
          <a:p>
            <a:pPr algn="ctr"/>
            <a:r>
              <a:rPr lang="en-GB" dirty="0"/>
              <a:t>Close window to accept</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1286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ction="ppaction://hlinksldjump"/>
            <a:extLst>
              <a:ext uri="{FF2B5EF4-FFF2-40B4-BE49-F238E27FC236}">
                <a16:creationId xmlns:a16="http://schemas.microsoft.com/office/drawing/2014/main" id="{69CFC9FF-0189-4100-B3DC-A5EC296FE8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69188" cy="6858000"/>
          </a:xfrm>
          <a:prstGeom prst="rect">
            <a:avLst/>
          </a:prstGeom>
        </p:spPr>
      </p:pic>
    </p:spTree>
    <p:extLst>
      <p:ext uri="{BB962C8B-B14F-4D97-AF65-F5344CB8AC3E}">
        <p14:creationId xmlns:p14="http://schemas.microsoft.com/office/powerpoint/2010/main" val="895312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has been uninstalled and you may shut down</a:t>
            </a:r>
          </a:p>
          <a:p>
            <a:pPr algn="ctr"/>
            <a:r>
              <a:rPr lang="en-GB" dirty="0"/>
              <a:t>Press ESC to turn off</a:t>
            </a:r>
          </a:p>
          <a:p>
            <a:pPr algn="ctr"/>
            <a:r>
              <a:rPr lang="en-GB" dirty="0">
                <a:hlinkClick r:id="rId4" action="ppaction://hlinksldjump"/>
              </a:rPr>
              <a:t>reboot</a:t>
            </a:r>
            <a:endParaRPr lang="en-GB" dirty="0"/>
          </a:p>
        </p:txBody>
      </p:sp>
    </p:spTree>
    <p:extLst>
      <p:ext uri="{BB962C8B-B14F-4D97-AF65-F5344CB8AC3E}">
        <p14:creationId xmlns:p14="http://schemas.microsoft.com/office/powerpoint/2010/main" val="308122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Tree>
    <p:extLst>
      <p:ext uri="{BB962C8B-B14F-4D97-AF65-F5344CB8AC3E}">
        <p14:creationId xmlns:p14="http://schemas.microsoft.com/office/powerpoint/2010/main" val="1533488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22.5:get aCCe55 </a:t>
            </a:r>
          </a:p>
        </p:txBody>
      </p:sp>
      <p:sp>
        <p:nvSpPr>
          <p:cNvPr id="4" name="Rectangle 3">
            <a:extLst>
              <a:ext uri="{FF2B5EF4-FFF2-40B4-BE49-F238E27FC236}">
                <a16:creationId xmlns:a16="http://schemas.microsoft.com/office/drawing/2014/main" id="{44103A22-3070-417F-AC0E-31410487A896}"/>
              </a:ext>
            </a:extLst>
          </p:cNvPr>
          <p:cNvSpPr/>
          <p:nvPr/>
        </p:nvSpPr>
        <p:spPr>
          <a:xfrm>
            <a:off x="0" y="446568"/>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D62C58D1-AE55-4DB8-AC13-492F84ADE25F}"/>
              </a:ext>
            </a:extLst>
          </p:cNvPr>
          <p:cNvSpPr txBox="1"/>
          <p:nvPr/>
        </p:nvSpPr>
        <p:spPr>
          <a:xfrm>
            <a:off x="180753" y="627321"/>
            <a:ext cx="11791507" cy="1200329"/>
          </a:xfrm>
          <a:prstGeom prst="rect">
            <a:avLst/>
          </a:prstGeom>
          <a:noFill/>
        </p:spPr>
        <p:txBody>
          <a:bodyPr wrap="square" rtlCol="0">
            <a:spAutoFit/>
          </a:bodyPr>
          <a:lstStyle/>
          <a:p>
            <a:r>
              <a:rPr lang="en-GB" dirty="0"/>
              <a:t>Hey! </a:t>
            </a:r>
          </a:p>
          <a:p>
            <a:r>
              <a:rPr lang="en-GB" dirty="0"/>
              <a:t>Click on da link 2 aCCe55 drive C if it is hidden in your version!</a:t>
            </a:r>
          </a:p>
          <a:p>
            <a:r>
              <a:rPr lang="en-GB" dirty="0"/>
              <a:t>BTW the drive may not be 1nd3x3d s0 u m4y h4v3 2 w41t Unt1l 1t 1s Unh1dden 2 C da full d1sk! </a:t>
            </a:r>
          </a:p>
          <a:p>
            <a:endParaRPr lang="en-GB" dirty="0"/>
          </a:p>
        </p:txBody>
      </p:sp>
      <p:sp>
        <p:nvSpPr>
          <p:cNvPr id="6" name="Rectangle 5">
            <a:hlinkClick r:id="rId3" action="ppaction://hlinksldjump"/>
            <a:extLst>
              <a:ext uri="{FF2B5EF4-FFF2-40B4-BE49-F238E27FC236}">
                <a16:creationId xmlns:a16="http://schemas.microsoft.com/office/drawing/2014/main" id="{71381D64-DCD0-43B9-9A28-4F1C8AE4AB89}"/>
              </a:ext>
            </a:extLst>
          </p:cNvPr>
          <p:cNvSpPr/>
          <p:nvPr/>
        </p:nvSpPr>
        <p:spPr>
          <a:xfrm>
            <a:off x="2254102" y="3157870"/>
            <a:ext cx="262624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aCCe55</a:t>
            </a:r>
          </a:p>
        </p:txBody>
      </p:sp>
    </p:spTree>
    <p:extLst>
      <p:ext uri="{BB962C8B-B14F-4D97-AF65-F5344CB8AC3E}">
        <p14:creationId xmlns:p14="http://schemas.microsoft.com/office/powerpoint/2010/main" val="652823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r>
              <a:rPr lang="en-GB" dirty="0">
                <a:sym typeface="Wingdings" panose="05000000000000000000" pitchFamily="2" charset="2"/>
              </a:rPr>
              <a:t>:\Windos\shell32.dll</a:t>
            </a:r>
          </a:p>
        </p:txBody>
      </p:sp>
      <p:pic>
        <p:nvPicPr>
          <p:cNvPr id="8" name="Picture 7">
            <a:extLst>
              <a:ext uri="{FF2B5EF4-FFF2-40B4-BE49-F238E27FC236}">
                <a16:creationId xmlns:a16="http://schemas.microsoft.com/office/drawing/2014/main" id="{0A4BC3AA-0580-4917-A509-BAB3B6A05F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018" y="903767"/>
            <a:ext cx="523654" cy="523654"/>
          </a:xfrm>
          <a:prstGeom prst="rect">
            <a:avLst/>
          </a:prstGeom>
        </p:spPr>
      </p:pic>
      <p:pic>
        <p:nvPicPr>
          <p:cNvPr id="10" name="Picture 9">
            <a:extLst>
              <a:ext uri="{FF2B5EF4-FFF2-40B4-BE49-F238E27FC236}">
                <a16:creationId xmlns:a16="http://schemas.microsoft.com/office/drawing/2014/main" id="{BF378AAD-0FC9-40A7-8417-1925869210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6240" y="1326410"/>
            <a:ext cx="523654" cy="523654"/>
          </a:xfrm>
          <a:prstGeom prst="rect">
            <a:avLst/>
          </a:prstGeom>
        </p:spPr>
      </p:pic>
      <p:pic>
        <p:nvPicPr>
          <p:cNvPr id="11" name="Picture 10">
            <a:extLst>
              <a:ext uri="{FF2B5EF4-FFF2-40B4-BE49-F238E27FC236}">
                <a16:creationId xmlns:a16="http://schemas.microsoft.com/office/drawing/2014/main" id="{F2E48B7A-FD73-420E-997F-4F9FF12AE6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4260" y="1424762"/>
            <a:ext cx="425302" cy="425302"/>
          </a:xfrm>
          <a:prstGeom prst="rect">
            <a:avLst/>
          </a:prstGeom>
        </p:spPr>
      </p:pic>
      <p:pic>
        <p:nvPicPr>
          <p:cNvPr id="13" name="Picture 12">
            <a:extLst>
              <a:ext uri="{FF2B5EF4-FFF2-40B4-BE49-F238E27FC236}">
                <a16:creationId xmlns:a16="http://schemas.microsoft.com/office/drawing/2014/main" id="{98B8A4A9-6836-4B54-89B4-8BEB0B63D7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19915" y="2583710"/>
            <a:ext cx="425303" cy="425303"/>
          </a:xfrm>
          <a:prstGeom prst="rect">
            <a:avLst/>
          </a:prstGeom>
        </p:spPr>
      </p:pic>
      <p:pic>
        <p:nvPicPr>
          <p:cNvPr id="17" name="Picture 16">
            <a:extLst>
              <a:ext uri="{FF2B5EF4-FFF2-40B4-BE49-F238E27FC236}">
                <a16:creationId xmlns:a16="http://schemas.microsoft.com/office/drawing/2014/main" id="{CCC541A8-F9C5-4D8A-B890-47EA12D3D1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49604" y="2466751"/>
            <a:ext cx="425303" cy="425303"/>
          </a:xfrm>
          <a:prstGeom prst="rect">
            <a:avLst/>
          </a:prstGeom>
        </p:spPr>
      </p:pic>
      <p:pic>
        <p:nvPicPr>
          <p:cNvPr id="19" name="Picture 18">
            <a:extLst>
              <a:ext uri="{FF2B5EF4-FFF2-40B4-BE49-F238E27FC236}">
                <a16:creationId xmlns:a16="http://schemas.microsoft.com/office/drawing/2014/main" id="{6E637D94-6628-4F31-B1D8-66AD074E34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67400" y="3200400"/>
            <a:ext cx="457200" cy="457200"/>
          </a:xfrm>
          <a:prstGeom prst="rect">
            <a:avLst/>
          </a:prstGeom>
        </p:spPr>
      </p:pic>
      <p:pic>
        <p:nvPicPr>
          <p:cNvPr id="25" name="Picture 24">
            <a:extLst>
              <a:ext uri="{FF2B5EF4-FFF2-40B4-BE49-F238E27FC236}">
                <a16:creationId xmlns:a16="http://schemas.microsoft.com/office/drawing/2014/main" id="{BBA22942-0F45-4D45-A460-954D544C2A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78379" y="2161951"/>
            <a:ext cx="609600" cy="609600"/>
          </a:xfrm>
          <a:prstGeom prst="rect">
            <a:avLst/>
          </a:prstGeom>
        </p:spPr>
      </p:pic>
      <p:pic>
        <p:nvPicPr>
          <p:cNvPr id="27" name="Picture 26">
            <a:extLst>
              <a:ext uri="{FF2B5EF4-FFF2-40B4-BE49-F238E27FC236}">
                <a16:creationId xmlns:a16="http://schemas.microsoft.com/office/drawing/2014/main" id="{FA668D47-CC64-499A-B281-BB89E30B36B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11979" y="2759149"/>
            <a:ext cx="457200" cy="457200"/>
          </a:xfrm>
          <a:prstGeom prst="rect">
            <a:avLst/>
          </a:prstGeom>
        </p:spPr>
      </p:pic>
      <p:pic>
        <p:nvPicPr>
          <p:cNvPr id="29" name="Picture 28">
            <a:extLst>
              <a:ext uri="{FF2B5EF4-FFF2-40B4-BE49-F238E27FC236}">
                <a16:creationId xmlns:a16="http://schemas.microsoft.com/office/drawing/2014/main" id="{58E388C2-CC13-468E-9862-1BD8BEEDC5E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19894" y="3993413"/>
            <a:ext cx="304800" cy="304800"/>
          </a:xfrm>
          <a:prstGeom prst="rect">
            <a:avLst/>
          </a:prstGeom>
        </p:spPr>
      </p:pic>
      <p:pic>
        <p:nvPicPr>
          <p:cNvPr id="31" name="Picture 30">
            <a:extLst>
              <a:ext uri="{FF2B5EF4-FFF2-40B4-BE49-F238E27FC236}">
                <a16:creationId xmlns:a16="http://schemas.microsoft.com/office/drawing/2014/main" id="{A51280DA-8210-4AB8-8D22-74B5CBA449F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60607" y="4214480"/>
            <a:ext cx="228600" cy="228600"/>
          </a:xfrm>
          <a:prstGeom prst="rect">
            <a:avLst/>
          </a:prstGeom>
        </p:spPr>
      </p:pic>
      <p:pic>
        <p:nvPicPr>
          <p:cNvPr id="33" name="Picture 32">
            <a:extLst>
              <a:ext uri="{FF2B5EF4-FFF2-40B4-BE49-F238E27FC236}">
                <a16:creationId xmlns:a16="http://schemas.microsoft.com/office/drawing/2014/main" id="{B73C82FB-1307-47A2-8B95-8286C22021B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068780" y="3168502"/>
            <a:ext cx="457200" cy="457200"/>
          </a:xfrm>
          <a:prstGeom prst="rect">
            <a:avLst/>
          </a:prstGeom>
        </p:spPr>
      </p:pic>
      <p:pic>
        <p:nvPicPr>
          <p:cNvPr id="35" name="Picture 34">
            <a:extLst>
              <a:ext uri="{FF2B5EF4-FFF2-40B4-BE49-F238E27FC236}">
                <a16:creationId xmlns:a16="http://schemas.microsoft.com/office/drawing/2014/main" id="{717E8ED6-E46F-4EC6-9278-168D6507A4D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314657" y="1795127"/>
            <a:ext cx="457201" cy="457201"/>
          </a:xfrm>
          <a:prstGeom prst="rect">
            <a:avLst/>
          </a:prstGeom>
        </p:spPr>
      </p:pic>
      <p:pic>
        <p:nvPicPr>
          <p:cNvPr id="37" name="Picture 36">
            <a:extLst>
              <a:ext uri="{FF2B5EF4-FFF2-40B4-BE49-F238E27FC236}">
                <a16:creationId xmlns:a16="http://schemas.microsoft.com/office/drawing/2014/main" id="{23FA127A-88E8-42D3-99BD-7F9DA11C1E3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552466" y="1690575"/>
            <a:ext cx="425303" cy="425303"/>
          </a:xfrm>
          <a:prstGeom prst="rect">
            <a:avLst/>
          </a:prstGeom>
        </p:spPr>
      </p:pic>
      <p:pic>
        <p:nvPicPr>
          <p:cNvPr id="41" name="Picture 40">
            <a:extLst>
              <a:ext uri="{FF2B5EF4-FFF2-40B4-BE49-F238E27FC236}">
                <a16:creationId xmlns:a16="http://schemas.microsoft.com/office/drawing/2014/main" id="{462D4155-9127-4ACB-881C-22CD3F2DAD4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383673" y="5037175"/>
            <a:ext cx="457200" cy="457200"/>
          </a:xfrm>
          <a:prstGeom prst="rect">
            <a:avLst/>
          </a:prstGeom>
        </p:spPr>
      </p:pic>
      <p:pic>
        <p:nvPicPr>
          <p:cNvPr id="43" name="Picture 42">
            <a:extLst>
              <a:ext uri="{FF2B5EF4-FFF2-40B4-BE49-F238E27FC236}">
                <a16:creationId xmlns:a16="http://schemas.microsoft.com/office/drawing/2014/main" id="{C8A092F1-744E-43D0-908A-5EC550FADDD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578549" y="4633137"/>
            <a:ext cx="228600" cy="228600"/>
          </a:xfrm>
          <a:prstGeom prst="rect">
            <a:avLst/>
          </a:prstGeom>
        </p:spPr>
      </p:pic>
      <p:pic>
        <p:nvPicPr>
          <p:cNvPr id="49" name="Picture 48">
            <a:extLst>
              <a:ext uri="{FF2B5EF4-FFF2-40B4-BE49-F238E27FC236}">
                <a16:creationId xmlns:a16="http://schemas.microsoft.com/office/drawing/2014/main" id="{00297EC6-EAB5-41B9-963A-78AE514681E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605973" y="3549502"/>
            <a:ext cx="609600" cy="609600"/>
          </a:xfrm>
          <a:prstGeom prst="rect">
            <a:avLst/>
          </a:prstGeom>
        </p:spPr>
      </p:pic>
      <p:pic>
        <p:nvPicPr>
          <p:cNvPr id="51" name="Picture 50">
            <a:extLst>
              <a:ext uri="{FF2B5EF4-FFF2-40B4-BE49-F238E27FC236}">
                <a16:creationId xmlns:a16="http://schemas.microsoft.com/office/drawing/2014/main" id="{2575D466-80DC-4E0E-8C03-B7B446989710}"/>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475714" y="4921990"/>
            <a:ext cx="457200" cy="457200"/>
          </a:xfrm>
          <a:prstGeom prst="rect">
            <a:avLst/>
          </a:prstGeom>
        </p:spPr>
      </p:pic>
      <p:pic>
        <p:nvPicPr>
          <p:cNvPr id="54" name="Picture 53">
            <a:extLst>
              <a:ext uri="{FF2B5EF4-FFF2-40B4-BE49-F238E27FC236}">
                <a16:creationId xmlns:a16="http://schemas.microsoft.com/office/drawing/2014/main" id="{93795278-6F7D-466E-8E98-786299D08AE5}"/>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78549" y="2263405"/>
            <a:ext cx="457200" cy="457200"/>
          </a:xfrm>
          <a:prstGeom prst="rect">
            <a:avLst/>
          </a:prstGeom>
        </p:spPr>
      </p:pic>
      <p:pic>
        <p:nvPicPr>
          <p:cNvPr id="55" name="Picture 54">
            <a:hlinkClick r:id="rId22" action="ppaction://hlinksldjump"/>
            <a:extLst>
              <a:ext uri="{FF2B5EF4-FFF2-40B4-BE49-F238E27FC236}">
                <a16:creationId xmlns:a16="http://schemas.microsoft.com/office/drawing/2014/main" id="{FE4163AF-B01A-4813-B2EB-8ECE3EAFBC57}"/>
              </a:ext>
            </a:extLst>
          </p:cNvPr>
          <p:cNvPicPr>
            <a:picLocks noChangeAspect="1"/>
          </p:cNvPicPr>
          <p:nvPr/>
        </p:nvPicPr>
        <p:blipFill>
          <a:blip r:embed="rId23">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371834" y="2759085"/>
            <a:ext cx="924054" cy="914528"/>
          </a:xfrm>
          <a:prstGeom prst="rect">
            <a:avLst/>
          </a:prstGeom>
        </p:spPr>
      </p:pic>
      <p:pic>
        <p:nvPicPr>
          <p:cNvPr id="56" name="Picture 55">
            <a:extLst>
              <a:ext uri="{FF2B5EF4-FFF2-40B4-BE49-F238E27FC236}">
                <a16:creationId xmlns:a16="http://schemas.microsoft.com/office/drawing/2014/main" id="{AA1E1AAD-6A3A-431F-8C59-6560B6E2020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729909" y="5558171"/>
            <a:ext cx="2730145" cy="476692"/>
          </a:xfrm>
          <a:prstGeom prst="rect">
            <a:avLst/>
          </a:prstGeom>
        </p:spPr>
      </p:pic>
      <p:pic>
        <p:nvPicPr>
          <p:cNvPr id="57" name="Picture 56">
            <a:extLst>
              <a:ext uri="{FF2B5EF4-FFF2-40B4-BE49-F238E27FC236}">
                <a16:creationId xmlns:a16="http://schemas.microsoft.com/office/drawing/2014/main" id="{6A9E1A0B-659E-429E-BF3C-DA7D87766910}"/>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005276" y="3184450"/>
            <a:ext cx="365051" cy="365051"/>
          </a:xfrm>
          <a:prstGeom prst="rect">
            <a:avLst/>
          </a:prstGeom>
        </p:spPr>
      </p:pic>
      <p:pic>
        <p:nvPicPr>
          <p:cNvPr id="58" name="Picture 57">
            <a:extLst>
              <a:ext uri="{FF2B5EF4-FFF2-40B4-BE49-F238E27FC236}">
                <a16:creationId xmlns:a16="http://schemas.microsoft.com/office/drawing/2014/main" id="{6C304CF6-250F-444C-A08E-31BF978706A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278565" y="966234"/>
            <a:ext cx="457200" cy="457200"/>
          </a:xfrm>
          <a:prstGeom prst="rect">
            <a:avLst/>
          </a:prstGeom>
        </p:spPr>
      </p:pic>
      <p:pic>
        <p:nvPicPr>
          <p:cNvPr id="61" name="Picture 60">
            <a:extLst>
              <a:ext uri="{FF2B5EF4-FFF2-40B4-BE49-F238E27FC236}">
                <a16:creationId xmlns:a16="http://schemas.microsoft.com/office/drawing/2014/main" id="{C90C0575-D872-4AF1-9BB6-FA915A58FFF6}"/>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981700" y="4747437"/>
            <a:ext cx="457200" cy="457200"/>
          </a:xfrm>
          <a:prstGeom prst="rect">
            <a:avLst/>
          </a:prstGeom>
        </p:spPr>
      </p:pic>
      <p:pic>
        <p:nvPicPr>
          <p:cNvPr id="63" name="Picture 62">
            <a:extLst>
              <a:ext uri="{FF2B5EF4-FFF2-40B4-BE49-F238E27FC236}">
                <a16:creationId xmlns:a16="http://schemas.microsoft.com/office/drawing/2014/main" id="{7072ED46-9EC2-47FE-9917-FE33A380131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81162" y="4921990"/>
            <a:ext cx="495742" cy="495742"/>
          </a:xfrm>
          <a:prstGeom prst="rect">
            <a:avLst/>
          </a:prstGeom>
        </p:spPr>
      </p:pic>
      <p:pic>
        <p:nvPicPr>
          <p:cNvPr id="65" name="Picture 64">
            <a:extLst>
              <a:ext uri="{FF2B5EF4-FFF2-40B4-BE49-F238E27FC236}">
                <a16:creationId xmlns:a16="http://schemas.microsoft.com/office/drawing/2014/main" id="{C6CF968F-8215-4735-B706-506AA6460F48}"/>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0272379" y="2164610"/>
            <a:ext cx="419100" cy="419100"/>
          </a:xfrm>
          <a:prstGeom prst="rect">
            <a:avLst/>
          </a:prstGeom>
        </p:spPr>
      </p:pic>
      <p:pic>
        <p:nvPicPr>
          <p:cNvPr id="67" name="Picture 66">
            <a:extLst>
              <a:ext uri="{FF2B5EF4-FFF2-40B4-BE49-F238E27FC236}">
                <a16:creationId xmlns:a16="http://schemas.microsoft.com/office/drawing/2014/main" id="{9A1EF82B-9E24-4646-8FD7-F6E5A7E62706}"/>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932914" y="3707218"/>
            <a:ext cx="735862" cy="735862"/>
          </a:xfrm>
          <a:prstGeom prst="rect">
            <a:avLst/>
          </a:prstGeom>
        </p:spPr>
      </p:pic>
      <p:pic>
        <p:nvPicPr>
          <p:cNvPr id="69" name="Picture 68">
            <a:extLst>
              <a:ext uri="{FF2B5EF4-FFF2-40B4-BE49-F238E27FC236}">
                <a16:creationId xmlns:a16="http://schemas.microsoft.com/office/drawing/2014/main" id="{68E19A63-ED59-4F3E-8719-F1C335B41110}"/>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031859" y="3716081"/>
            <a:ext cx="582131" cy="582131"/>
          </a:xfrm>
          <a:prstGeom prst="rect">
            <a:avLst/>
          </a:prstGeom>
        </p:spPr>
      </p:pic>
      <p:pic>
        <p:nvPicPr>
          <p:cNvPr id="9" name="Picture 8">
            <a:extLst>
              <a:ext uri="{FF2B5EF4-FFF2-40B4-BE49-F238E27FC236}">
                <a16:creationId xmlns:a16="http://schemas.microsoft.com/office/drawing/2014/main" id="{FA177EAB-D575-437C-ADDE-81DC434F680F}"/>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5981700" y="3854302"/>
            <a:ext cx="360178" cy="360178"/>
          </a:xfrm>
          <a:prstGeom prst="rect">
            <a:avLst/>
          </a:prstGeom>
        </p:spPr>
      </p:pic>
      <p:pic>
        <p:nvPicPr>
          <p:cNvPr id="14" name="Picture 13">
            <a:extLst>
              <a:ext uri="{FF2B5EF4-FFF2-40B4-BE49-F238E27FC236}">
                <a16:creationId xmlns:a16="http://schemas.microsoft.com/office/drawing/2014/main" id="{59E5C0A3-F3A2-4FF2-AC6C-4276DB593116}"/>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6389281" y="3895692"/>
            <a:ext cx="358913" cy="358913"/>
          </a:xfrm>
          <a:prstGeom prst="rect">
            <a:avLst/>
          </a:prstGeom>
        </p:spPr>
      </p:pic>
      <p:pic>
        <p:nvPicPr>
          <p:cNvPr id="16" name="Picture 15">
            <a:extLst>
              <a:ext uri="{FF2B5EF4-FFF2-40B4-BE49-F238E27FC236}">
                <a16:creationId xmlns:a16="http://schemas.microsoft.com/office/drawing/2014/main" id="{D73793C8-966B-4875-B38D-F389570CC555}"/>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10302063" y="5588294"/>
            <a:ext cx="1905000" cy="1257300"/>
          </a:xfrm>
          <a:prstGeom prst="rect">
            <a:avLst/>
          </a:prstGeom>
        </p:spPr>
      </p:pic>
    </p:spTree>
    <p:extLst>
      <p:ext uri="{BB962C8B-B14F-4D97-AF65-F5344CB8AC3E}">
        <p14:creationId xmlns:p14="http://schemas.microsoft.com/office/powerpoint/2010/main" val="1944246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p>
        </p:txBody>
      </p:sp>
      <p:pic>
        <p:nvPicPr>
          <p:cNvPr id="8" name="Picture 7">
            <a:hlinkClick r:id="rId5" action="ppaction://hlinksldjump"/>
            <a:extLst>
              <a:ext uri="{FF2B5EF4-FFF2-40B4-BE49-F238E27FC236}">
                <a16:creationId xmlns:a16="http://schemas.microsoft.com/office/drawing/2014/main" id="{D912FA9F-D97A-4E95-8213-B09E366A9D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2018" y="903767"/>
            <a:ext cx="523654" cy="523654"/>
          </a:xfrm>
          <a:prstGeom prst="rect">
            <a:avLst/>
          </a:prstGeom>
        </p:spPr>
      </p:pic>
      <p:pic>
        <p:nvPicPr>
          <p:cNvPr id="9" name="Picture 8">
            <a:hlinkClick r:id="rId7" action="ppaction://hlinksldjump"/>
            <a:extLst>
              <a:ext uri="{FF2B5EF4-FFF2-40B4-BE49-F238E27FC236}">
                <a16:creationId xmlns:a16="http://schemas.microsoft.com/office/drawing/2014/main" id="{16F1EB47-C093-4E47-8C5F-E9CF6F6BD1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78565" y="966234"/>
            <a:ext cx="457200" cy="457200"/>
          </a:xfrm>
          <a:prstGeom prst="rect">
            <a:avLst/>
          </a:prstGeom>
        </p:spPr>
      </p:pic>
      <p:sp>
        <p:nvSpPr>
          <p:cNvPr id="3" name="TextBox 2">
            <a:extLst>
              <a:ext uri="{FF2B5EF4-FFF2-40B4-BE49-F238E27FC236}">
                <a16:creationId xmlns:a16="http://schemas.microsoft.com/office/drawing/2014/main" id="{7157D74C-74F2-4440-BA49-91DFA090B4A9}"/>
              </a:ext>
            </a:extLst>
          </p:cNvPr>
          <p:cNvSpPr txBox="1"/>
          <p:nvPr/>
        </p:nvSpPr>
        <p:spPr>
          <a:xfrm>
            <a:off x="0" y="1427421"/>
            <a:ext cx="927690" cy="369332"/>
          </a:xfrm>
          <a:prstGeom prst="rect">
            <a:avLst/>
          </a:prstGeom>
          <a:noFill/>
        </p:spPr>
        <p:txBody>
          <a:bodyPr wrap="square" rtlCol="0">
            <a:spAutoFit/>
          </a:bodyPr>
          <a:lstStyle/>
          <a:p>
            <a:r>
              <a:rPr lang="en-GB" dirty="0"/>
              <a:t>Windos</a:t>
            </a:r>
          </a:p>
        </p:txBody>
      </p:sp>
      <p:sp>
        <p:nvSpPr>
          <p:cNvPr id="10" name="TextBox 9">
            <a:extLst>
              <a:ext uri="{FF2B5EF4-FFF2-40B4-BE49-F238E27FC236}">
                <a16:creationId xmlns:a16="http://schemas.microsoft.com/office/drawing/2014/main" id="{9E2A5E05-222A-4345-BA2A-AAEEC68C7AB5}"/>
              </a:ext>
            </a:extLst>
          </p:cNvPr>
          <p:cNvSpPr txBox="1"/>
          <p:nvPr/>
        </p:nvSpPr>
        <p:spPr>
          <a:xfrm>
            <a:off x="1095153" y="1423434"/>
            <a:ext cx="1881963" cy="369332"/>
          </a:xfrm>
          <a:prstGeom prst="rect">
            <a:avLst/>
          </a:prstGeom>
          <a:noFill/>
        </p:spPr>
        <p:txBody>
          <a:bodyPr wrap="square" rtlCol="0">
            <a:spAutoFit/>
          </a:bodyPr>
          <a:lstStyle/>
          <a:p>
            <a:r>
              <a:rPr lang="en-GB" dirty="0"/>
              <a:t>Username</a:t>
            </a:r>
          </a:p>
        </p:txBody>
      </p:sp>
      <p:pic>
        <p:nvPicPr>
          <p:cNvPr id="11" name="Picture 10">
            <a:hlinkClick r:id="rId9" action="ppaction://hlinksldjump"/>
            <a:extLst>
              <a:ext uri="{FF2B5EF4-FFF2-40B4-BE49-F238E27FC236}">
                <a16:creationId xmlns:a16="http://schemas.microsoft.com/office/drawing/2014/main" id="{C76F10ED-6EBD-4B31-AC53-2DB63E1FC9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03328" y="966234"/>
            <a:ext cx="457200" cy="457200"/>
          </a:xfrm>
          <a:prstGeom prst="rect">
            <a:avLst/>
          </a:prstGeom>
        </p:spPr>
      </p:pic>
      <p:sp>
        <p:nvSpPr>
          <p:cNvPr id="12" name="TextBox 11">
            <a:extLst>
              <a:ext uri="{FF2B5EF4-FFF2-40B4-BE49-F238E27FC236}">
                <a16:creationId xmlns:a16="http://schemas.microsoft.com/office/drawing/2014/main" id="{5D84FCE1-224E-43F2-BCE6-D3D06D33E348}"/>
              </a:ext>
            </a:extLst>
          </p:cNvPr>
          <p:cNvSpPr txBox="1"/>
          <p:nvPr/>
        </p:nvSpPr>
        <p:spPr>
          <a:xfrm>
            <a:off x="2416695" y="1423434"/>
            <a:ext cx="1506719" cy="369332"/>
          </a:xfrm>
          <a:prstGeom prst="rect">
            <a:avLst/>
          </a:prstGeom>
          <a:noFill/>
        </p:spPr>
        <p:txBody>
          <a:bodyPr wrap="square" rtlCol="0">
            <a:spAutoFit/>
          </a:bodyPr>
          <a:lstStyle/>
          <a:p>
            <a:r>
              <a:rPr lang="en-GB" dirty="0"/>
              <a:t>admin</a:t>
            </a:r>
          </a:p>
        </p:txBody>
      </p:sp>
      <p:pic>
        <p:nvPicPr>
          <p:cNvPr id="13" name="Picture 12">
            <a:hlinkClick r:id="rId9" action="ppaction://hlinksldjump"/>
            <a:extLst>
              <a:ext uri="{FF2B5EF4-FFF2-40B4-BE49-F238E27FC236}">
                <a16:creationId xmlns:a16="http://schemas.microsoft.com/office/drawing/2014/main" id="{14736E9E-4729-459C-8E27-D5E88A4238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3984" y="982922"/>
            <a:ext cx="457200" cy="457200"/>
          </a:xfrm>
          <a:prstGeom prst="rect">
            <a:avLst/>
          </a:prstGeom>
        </p:spPr>
      </p:pic>
      <p:sp>
        <p:nvSpPr>
          <p:cNvPr id="14" name="TextBox 13">
            <a:extLst>
              <a:ext uri="{FF2B5EF4-FFF2-40B4-BE49-F238E27FC236}">
                <a16:creationId xmlns:a16="http://schemas.microsoft.com/office/drawing/2014/main" id="{165E77D1-0E0E-4ED5-B0B8-EB9A58C87146}"/>
              </a:ext>
            </a:extLst>
          </p:cNvPr>
          <p:cNvSpPr txBox="1"/>
          <p:nvPr/>
        </p:nvSpPr>
        <p:spPr>
          <a:xfrm>
            <a:off x="3558143" y="1453338"/>
            <a:ext cx="2092402" cy="369332"/>
          </a:xfrm>
          <a:prstGeom prst="rect">
            <a:avLst/>
          </a:prstGeom>
          <a:noFill/>
        </p:spPr>
        <p:txBody>
          <a:bodyPr wrap="square" rtlCol="0">
            <a:spAutoFit/>
          </a:bodyPr>
          <a:lstStyle/>
          <a:p>
            <a:r>
              <a:rPr lang="en-GB" dirty="0"/>
              <a:t>SYSTEM</a:t>
            </a:r>
          </a:p>
        </p:txBody>
      </p:sp>
      <p:pic>
        <p:nvPicPr>
          <p:cNvPr id="15" name="Picture 14">
            <a:hlinkClick r:id="rId10" action="ppaction://hlinksldjump"/>
            <a:extLst>
              <a:ext uri="{FF2B5EF4-FFF2-40B4-BE49-F238E27FC236}">
                <a16:creationId xmlns:a16="http://schemas.microsoft.com/office/drawing/2014/main" id="{F107188A-F27D-48C6-88CC-6F5BF9D6D3C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24640" y="1028036"/>
            <a:ext cx="523654" cy="523654"/>
          </a:xfrm>
          <a:prstGeom prst="rect">
            <a:avLst/>
          </a:prstGeom>
        </p:spPr>
      </p:pic>
      <p:sp>
        <p:nvSpPr>
          <p:cNvPr id="16" name="TextBox 15">
            <a:extLst>
              <a:ext uri="{FF2B5EF4-FFF2-40B4-BE49-F238E27FC236}">
                <a16:creationId xmlns:a16="http://schemas.microsoft.com/office/drawing/2014/main" id="{98AAF3BC-393B-45B4-91F6-68581DC658E7}"/>
              </a:ext>
            </a:extLst>
          </p:cNvPr>
          <p:cNvSpPr txBox="1"/>
          <p:nvPr/>
        </p:nvSpPr>
        <p:spPr>
          <a:xfrm>
            <a:off x="4924640" y="1453338"/>
            <a:ext cx="1720709" cy="369332"/>
          </a:xfrm>
          <a:prstGeom prst="rect">
            <a:avLst/>
          </a:prstGeom>
          <a:noFill/>
        </p:spPr>
        <p:txBody>
          <a:bodyPr wrap="square" rtlCol="0">
            <a:spAutoFit/>
          </a:bodyPr>
          <a:lstStyle/>
          <a:p>
            <a:r>
              <a:rPr lang="en-GB" dirty="0"/>
              <a:t>windos.exe</a:t>
            </a:r>
          </a:p>
        </p:txBody>
      </p:sp>
      <p:pic>
        <p:nvPicPr>
          <p:cNvPr id="17" name="Picture 16">
            <a:hlinkClick r:id="rId12" action="ppaction://hlinksldjump"/>
            <a:extLst>
              <a:ext uri="{FF2B5EF4-FFF2-40B4-BE49-F238E27FC236}">
                <a16:creationId xmlns:a16="http://schemas.microsoft.com/office/drawing/2014/main" id="{BCA47D79-BA3E-45EB-A55F-E7D751C9534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37724" y="931012"/>
            <a:ext cx="457200" cy="457200"/>
          </a:xfrm>
          <a:prstGeom prst="rect">
            <a:avLst/>
          </a:prstGeom>
        </p:spPr>
      </p:pic>
      <p:sp>
        <p:nvSpPr>
          <p:cNvPr id="18" name="TextBox 17">
            <a:extLst>
              <a:ext uri="{FF2B5EF4-FFF2-40B4-BE49-F238E27FC236}">
                <a16:creationId xmlns:a16="http://schemas.microsoft.com/office/drawing/2014/main" id="{410A0C82-E09F-4D88-90DE-7FEFA8160594}"/>
              </a:ext>
            </a:extLst>
          </p:cNvPr>
          <p:cNvSpPr txBox="1"/>
          <p:nvPr/>
        </p:nvSpPr>
        <p:spPr>
          <a:xfrm>
            <a:off x="6182393" y="1420775"/>
            <a:ext cx="2006009" cy="369332"/>
          </a:xfrm>
          <a:prstGeom prst="rect">
            <a:avLst/>
          </a:prstGeom>
          <a:noFill/>
        </p:spPr>
        <p:txBody>
          <a:bodyPr wrap="square" rtlCol="0">
            <a:spAutoFit/>
          </a:bodyPr>
          <a:lstStyle/>
          <a:p>
            <a:r>
              <a:rPr lang="en-GB" dirty="0"/>
              <a:t>Welcome.exe</a:t>
            </a:r>
          </a:p>
        </p:txBody>
      </p:sp>
      <p:pic>
        <p:nvPicPr>
          <p:cNvPr id="19" name="Picture 18">
            <a:hlinkClick r:id="rId2" action="ppaction://hlinksldjump"/>
            <a:extLst>
              <a:ext uri="{FF2B5EF4-FFF2-40B4-BE49-F238E27FC236}">
                <a16:creationId xmlns:a16="http://schemas.microsoft.com/office/drawing/2014/main" id="{BE446616-A9A1-408D-835B-40638777DB8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203252" y="985133"/>
            <a:ext cx="609600" cy="609600"/>
          </a:xfrm>
          <a:prstGeom prst="rect">
            <a:avLst/>
          </a:prstGeom>
        </p:spPr>
      </p:pic>
      <p:sp>
        <p:nvSpPr>
          <p:cNvPr id="20" name="TextBox 19">
            <a:extLst>
              <a:ext uri="{FF2B5EF4-FFF2-40B4-BE49-F238E27FC236}">
                <a16:creationId xmlns:a16="http://schemas.microsoft.com/office/drawing/2014/main" id="{F1A1585D-8D89-4EEC-8E78-DA2B7CCEA1DD}"/>
              </a:ext>
            </a:extLst>
          </p:cNvPr>
          <p:cNvSpPr txBox="1"/>
          <p:nvPr/>
        </p:nvSpPr>
        <p:spPr>
          <a:xfrm>
            <a:off x="7783033" y="1605441"/>
            <a:ext cx="2092402" cy="369332"/>
          </a:xfrm>
          <a:prstGeom prst="rect">
            <a:avLst/>
          </a:prstGeom>
          <a:noFill/>
        </p:spPr>
        <p:txBody>
          <a:bodyPr wrap="square" rtlCol="0">
            <a:spAutoFit/>
          </a:bodyPr>
          <a:lstStyle/>
          <a:p>
            <a:r>
              <a:rPr lang="en-GB" dirty="0"/>
              <a:t>Explorer. exe</a:t>
            </a:r>
          </a:p>
        </p:txBody>
      </p:sp>
      <p:pic>
        <p:nvPicPr>
          <p:cNvPr id="21" name="Picture 20">
            <a:hlinkClick r:id="rId2" action="ppaction://hlinksldjump"/>
            <a:extLst>
              <a:ext uri="{FF2B5EF4-FFF2-40B4-BE49-F238E27FC236}">
                <a16:creationId xmlns:a16="http://schemas.microsoft.com/office/drawing/2014/main" id="{C0ED8756-D8FF-4768-9971-BD7C884A804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294853" y="997391"/>
            <a:ext cx="640613" cy="640613"/>
          </a:xfrm>
          <a:prstGeom prst="rect">
            <a:avLst/>
          </a:prstGeom>
        </p:spPr>
      </p:pic>
      <p:sp>
        <p:nvSpPr>
          <p:cNvPr id="22" name="TextBox 21">
            <a:extLst>
              <a:ext uri="{FF2B5EF4-FFF2-40B4-BE49-F238E27FC236}">
                <a16:creationId xmlns:a16="http://schemas.microsoft.com/office/drawing/2014/main" id="{81759905-2BE5-4246-80D9-B009F3FB6F62}"/>
              </a:ext>
            </a:extLst>
          </p:cNvPr>
          <p:cNvSpPr txBox="1"/>
          <p:nvPr/>
        </p:nvSpPr>
        <p:spPr>
          <a:xfrm>
            <a:off x="9380581" y="1628037"/>
            <a:ext cx="1392865" cy="369332"/>
          </a:xfrm>
          <a:prstGeom prst="rect">
            <a:avLst/>
          </a:prstGeom>
          <a:noFill/>
        </p:spPr>
        <p:txBody>
          <a:bodyPr wrap="square" rtlCol="0">
            <a:spAutoFit/>
          </a:bodyPr>
          <a:lstStyle/>
          <a:p>
            <a:r>
              <a:rPr lang="en-GB" dirty="0"/>
              <a:t>bin</a:t>
            </a:r>
          </a:p>
        </p:txBody>
      </p:sp>
    </p:spTree>
    <p:extLst>
      <p:ext uri="{BB962C8B-B14F-4D97-AF65-F5344CB8AC3E}">
        <p14:creationId xmlns:p14="http://schemas.microsoft.com/office/powerpoint/2010/main" val="4210862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C:\windos</a:t>
            </a:r>
          </a:p>
        </p:txBody>
      </p:sp>
      <p:pic>
        <p:nvPicPr>
          <p:cNvPr id="8" name="Picture 7">
            <a:hlinkClick r:id="rId5" action="ppaction://hlinksldjump"/>
            <a:extLst>
              <a:ext uri="{FF2B5EF4-FFF2-40B4-BE49-F238E27FC236}">
                <a16:creationId xmlns:a16="http://schemas.microsoft.com/office/drawing/2014/main" id="{3C1C8066-D6D9-425B-B2A5-E4AE2031F0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845" y="956930"/>
            <a:ext cx="523654" cy="523654"/>
          </a:xfrm>
          <a:prstGeom prst="rect">
            <a:avLst/>
          </a:prstGeom>
        </p:spPr>
      </p:pic>
      <p:sp>
        <p:nvSpPr>
          <p:cNvPr id="3" name="TextBox 2">
            <a:extLst>
              <a:ext uri="{FF2B5EF4-FFF2-40B4-BE49-F238E27FC236}">
                <a16:creationId xmlns:a16="http://schemas.microsoft.com/office/drawing/2014/main" id="{7572EAA5-2865-42F1-89F3-30B50CD095EF}"/>
              </a:ext>
            </a:extLst>
          </p:cNvPr>
          <p:cNvSpPr txBox="1"/>
          <p:nvPr/>
        </p:nvSpPr>
        <p:spPr>
          <a:xfrm>
            <a:off x="202018" y="1427421"/>
            <a:ext cx="1935126" cy="369332"/>
          </a:xfrm>
          <a:prstGeom prst="rect">
            <a:avLst/>
          </a:prstGeom>
          <a:noFill/>
        </p:spPr>
        <p:txBody>
          <a:bodyPr wrap="square" rtlCol="0">
            <a:spAutoFit/>
          </a:bodyPr>
          <a:lstStyle/>
          <a:p>
            <a:r>
              <a:rPr lang="en-GB" dirty="0"/>
              <a:t>system32</a:t>
            </a:r>
          </a:p>
        </p:txBody>
      </p:sp>
      <p:pic>
        <p:nvPicPr>
          <p:cNvPr id="9" name="Picture 8">
            <a:hlinkClick r:id="rId5" action="ppaction://hlinksldjump"/>
            <a:extLst>
              <a:ext uri="{FF2B5EF4-FFF2-40B4-BE49-F238E27FC236}">
                <a16:creationId xmlns:a16="http://schemas.microsoft.com/office/drawing/2014/main" id="{2C137519-EE38-4C4C-BBD1-7B5BBEF657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8870" y="1014079"/>
            <a:ext cx="523654" cy="523654"/>
          </a:xfrm>
          <a:prstGeom prst="rect">
            <a:avLst/>
          </a:prstGeom>
        </p:spPr>
      </p:pic>
      <p:sp>
        <p:nvSpPr>
          <p:cNvPr id="10" name="TextBox 9">
            <a:extLst>
              <a:ext uri="{FF2B5EF4-FFF2-40B4-BE49-F238E27FC236}">
                <a16:creationId xmlns:a16="http://schemas.microsoft.com/office/drawing/2014/main" id="{BBEFC5AB-1824-43A2-B41E-749FDF085C21}"/>
              </a:ext>
            </a:extLst>
          </p:cNvPr>
          <p:cNvSpPr txBox="1"/>
          <p:nvPr/>
        </p:nvSpPr>
        <p:spPr>
          <a:xfrm>
            <a:off x="1428749" y="1537733"/>
            <a:ext cx="2569093" cy="369332"/>
          </a:xfrm>
          <a:prstGeom prst="rect">
            <a:avLst/>
          </a:prstGeom>
          <a:noFill/>
        </p:spPr>
        <p:txBody>
          <a:bodyPr wrap="square" rtlCol="0">
            <a:spAutoFit/>
          </a:bodyPr>
          <a:lstStyle/>
          <a:p>
            <a:r>
              <a:rPr lang="en-GB" dirty="0"/>
              <a:t>winSxS</a:t>
            </a:r>
          </a:p>
        </p:txBody>
      </p:sp>
      <p:pic>
        <p:nvPicPr>
          <p:cNvPr id="11" name="Picture 10">
            <a:hlinkClick r:id="rId5" action="ppaction://hlinksldjump"/>
            <a:extLst>
              <a:ext uri="{FF2B5EF4-FFF2-40B4-BE49-F238E27FC236}">
                <a16:creationId xmlns:a16="http://schemas.microsoft.com/office/drawing/2014/main" id="{5D6000EA-9AC9-401C-A3A9-0818719ADD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3839" y="1063255"/>
            <a:ext cx="523654" cy="523654"/>
          </a:xfrm>
          <a:prstGeom prst="rect">
            <a:avLst/>
          </a:prstGeom>
        </p:spPr>
      </p:pic>
      <p:sp>
        <p:nvSpPr>
          <p:cNvPr id="12" name="TextBox 11">
            <a:extLst>
              <a:ext uri="{FF2B5EF4-FFF2-40B4-BE49-F238E27FC236}">
                <a16:creationId xmlns:a16="http://schemas.microsoft.com/office/drawing/2014/main" id="{55170121-ABD6-460F-A0C8-DD997BF1EB5C}"/>
              </a:ext>
            </a:extLst>
          </p:cNvPr>
          <p:cNvSpPr txBox="1"/>
          <p:nvPr/>
        </p:nvSpPr>
        <p:spPr>
          <a:xfrm>
            <a:off x="2543839" y="1586909"/>
            <a:ext cx="1935126" cy="369332"/>
          </a:xfrm>
          <a:prstGeom prst="rect">
            <a:avLst/>
          </a:prstGeom>
          <a:noFill/>
        </p:spPr>
        <p:txBody>
          <a:bodyPr wrap="square" rtlCol="0">
            <a:spAutoFit/>
          </a:bodyPr>
          <a:lstStyle/>
          <a:p>
            <a:r>
              <a:rPr lang="en-GB" dirty="0"/>
              <a:t>war</a:t>
            </a:r>
          </a:p>
        </p:txBody>
      </p:sp>
      <p:pic>
        <p:nvPicPr>
          <p:cNvPr id="13" name="Picture 12">
            <a:hlinkClick r:id="rId7" action="ppaction://hlinksldjump"/>
            <a:extLst>
              <a:ext uri="{FF2B5EF4-FFF2-40B4-BE49-F238E27FC236}">
                <a16:creationId xmlns:a16="http://schemas.microsoft.com/office/drawing/2014/main" id="{64D694DB-E024-4411-AFB9-E938DD872C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49255" y="1088433"/>
            <a:ext cx="523654" cy="523654"/>
          </a:xfrm>
          <a:prstGeom prst="rect">
            <a:avLst/>
          </a:prstGeom>
        </p:spPr>
      </p:pic>
      <p:sp>
        <p:nvSpPr>
          <p:cNvPr id="14" name="TextBox 13">
            <a:extLst>
              <a:ext uri="{FF2B5EF4-FFF2-40B4-BE49-F238E27FC236}">
                <a16:creationId xmlns:a16="http://schemas.microsoft.com/office/drawing/2014/main" id="{D033CDD0-616A-482F-8653-2FCD5E10A356}"/>
              </a:ext>
            </a:extLst>
          </p:cNvPr>
          <p:cNvSpPr txBox="1"/>
          <p:nvPr/>
        </p:nvSpPr>
        <p:spPr>
          <a:xfrm>
            <a:off x="3067493" y="1612087"/>
            <a:ext cx="1935126" cy="369332"/>
          </a:xfrm>
          <a:prstGeom prst="rect">
            <a:avLst/>
          </a:prstGeom>
          <a:noFill/>
        </p:spPr>
        <p:txBody>
          <a:bodyPr wrap="square" rtlCol="0">
            <a:spAutoFit/>
          </a:bodyPr>
          <a:lstStyle/>
          <a:p>
            <a:r>
              <a:rPr lang="en-GB" dirty="0"/>
              <a:t>shell32.dll</a:t>
            </a:r>
          </a:p>
        </p:txBody>
      </p:sp>
    </p:spTree>
    <p:extLst>
      <p:ext uri="{BB962C8B-B14F-4D97-AF65-F5344CB8AC3E}">
        <p14:creationId xmlns:p14="http://schemas.microsoft.com/office/powerpoint/2010/main" val="362519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that!</a:t>
            </a:r>
          </a:p>
          <a:p>
            <a:pPr algn="ctr"/>
            <a:r>
              <a:rPr lang="en-GB" dirty="0"/>
              <a:t>This is to protect the system</a:t>
            </a:r>
          </a:p>
          <a:p>
            <a:pPr algn="ctr"/>
            <a:r>
              <a:rPr lang="en-GB" dirty="0"/>
              <a:t>Click outside to exit</a:t>
            </a:r>
          </a:p>
        </p:txBody>
      </p:sp>
    </p:spTree>
    <p:extLst>
      <p:ext uri="{BB962C8B-B14F-4D97-AF65-F5344CB8AC3E}">
        <p14:creationId xmlns:p14="http://schemas.microsoft.com/office/powerpoint/2010/main" val="2471572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other user folders!</a:t>
            </a:r>
          </a:p>
          <a:p>
            <a:pPr algn="ctr"/>
            <a:r>
              <a:rPr lang="en-GB" dirty="0"/>
              <a:t>This is to protect their privacy! </a:t>
            </a:r>
          </a:p>
          <a:p>
            <a:pPr algn="ctr"/>
            <a:r>
              <a:rPr lang="en-GB" dirty="0"/>
              <a:t>Would you like it if someone looked at your documents?</a:t>
            </a:r>
          </a:p>
          <a:p>
            <a:pPr algn="ctr"/>
            <a:r>
              <a:rPr lang="en-GB" dirty="0"/>
              <a:t>Click outside to exit</a:t>
            </a:r>
          </a:p>
        </p:txBody>
      </p:sp>
    </p:spTree>
    <p:extLst>
      <p:ext uri="{BB962C8B-B14F-4D97-AF65-F5344CB8AC3E}">
        <p14:creationId xmlns:p14="http://schemas.microsoft.com/office/powerpoint/2010/main" val="491687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your user’s system folder!</a:t>
            </a:r>
          </a:p>
          <a:p>
            <a:pPr algn="ctr"/>
            <a:r>
              <a:rPr lang="en-GB" dirty="0"/>
              <a:t>This is to protect the system files associated with this user profile</a:t>
            </a:r>
          </a:p>
          <a:p>
            <a:pPr algn="ctr"/>
            <a:r>
              <a:rPr lang="en-GB" dirty="0"/>
              <a:t>Thank us later for the security! </a:t>
            </a:r>
          </a:p>
          <a:p>
            <a:pPr algn="ctr"/>
            <a:r>
              <a:rPr lang="en-GB" dirty="0"/>
              <a:t>Click outside to exit</a:t>
            </a:r>
          </a:p>
        </p:txBody>
      </p:sp>
    </p:spTree>
    <p:extLst>
      <p:ext uri="{BB962C8B-B14F-4D97-AF65-F5344CB8AC3E}">
        <p14:creationId xmlns:p14="http://schemas.microsoft.com/office/powerpoint/2010/main" val="1165634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0B23959F-27CC-4A91-8A0C-4483CE26AD11}"/>
              </a:ext>
            </a:extLst>
          </p:cNvPr>
          <p:cNvSpPr txBox="1"/>
          <p:nvPr/>
        </p:nvSpPr>
        <p:spPr>
          <a:xfrm>
            <a:off x="116958" y="574158"/>
            <a:ext cx="11887200" cy="2862322"/>
          </a:xfrm>
          <a:prstGeom prst="rect">
            <a:avLst/>
          </a:prstGeom>
          <a:noFill/>
        </p:spPr>
        <p:txBody>
          <a:bodyPr wrap="square" rtlCol="0">
            <a:spAutoFit/>
          </a:bodyPr>
          <a:lstStyle/>
          <a:p>
            <a:r>
              <a:rPr lang="en-GB" dirty="0"/>
              <a:t>Hello! </a:t>
            </a:r>
          </a:p>
          <a:p>
            <a:r>
              <a:rPr lang="en-GB" dirty="0"/>
              <a:t>As you probably know Windos 98 has blocked you from accessing your documents located at C:\username</a:t>
            </a:r>
          </a:p>
          <a:p>
            <a:r>
              <a:rPr lang="en-GB" dirty="0"/>
              <a:t> Click on the link to be redirected to the folder now!</a:t>
            </a:r>
          </a:p>
          <a:p>
            <a:r>
              <a:rPr lang="en-GB" dirty="0"/>
              <a:t>Note: in a future update this bug may be patched</a:t>
            </a:r>
          </a:p>
          <a:p>
            <a:r>
              <a:rPr lang="en-GB" dirty="0"/>
              <a:t>Note 2: Only Windos can add in documents, as the folder is read only. </a:t>
            </a:r>
          </a:p>
          <a:p>
            <a:r>
              <a:rPr lang="en-GB" dirty="0"/>
              <a:t>Note 3: please do not delete this folder as the system needs it</a:t>
            </a:r>
          </a:p>
          <a:p>
            <a:r>
              <a:rPr lang="en-GB" dirty="0"/>
              <a:t>Note 4: do not try and open the system sub folder.</a:t>
            </a:r>
          </a:p>
          <a:p>
            <a:r>
              <a:rPr lang="en-GB" dirty="0"/>
              <a:t>Note 5: you may not be allowed to access sub folders. </a:t>
            </a:r>
          </a:p>
          <a:p>
            <a:r>
              <a:rPr lang="en-GB" dirty="0"/>
              <a:t>Note 6: I refuse to update this site if the glitch is patched</a:t>
            </a:r>
          </a:p>
          <a:p>
            <a:r>
              <a:rPr lang="en-GB" dirty="0"/>
              <a:t>Note 7: this site may be taken down, so I will hack beta 1 so that it has the shortcut in the C:\ folder. </a:t>
            </a:r>
          </a:p>
        </p:txBody>
      </p:sp>
      <p:sp>
        <p:nvSpPr>
          <p:cNvPr id="6" name="Rectangle 5">
            <a:hlinkClick r:id="rId3" action="ppaction://hlinksldjump"/>
            <a:extLst>
              <a:ext uri="{FF2B5EF4-FFF2-40B4-BE49-F238E27FC236}">
                <a16:creationId xmlns:a16="http://schemas.microsoft.com/office/drawing/2014/main" id="{C3431E15-282C-48F2-B7FF-CE7C3C003204}"/>
              </a:ext>
            </a:extLst>
          </p:cNvPr>
          <p:cNvSpPr/>
          <p:nvPr/>
        </p:nvSpPr>
        <p:spPr>
          <a:xfrm>
            <a:off x="4231758" y="4541184"/>
            <a:ext cx="2806996" cy="1212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 to C:\Username</a:t>
            </a:r>
          </a:p>
        </p:txBody>
      </p:sp>
      <p:sp>
        <p:nvSpPr>
          <p:cNvPr id="7" name="Speech Bubble: Rectangle 6">
            <a:extLst>
              <a:ext uri="{FF2B5EF4-FFF2-40B4-BE49-F238E27FC236}">
                <a16:creationId xmlns:a16="http://schemas.microsoft.com/office/drawing/2014/main" id="{BD2B4A97-3220-40A0-A65C-FFCDDBC9FFA0}"/>
              </a:ext>
            </a:extLst>
          </p:cNvPr>
          <p:cNvSpPr/>
          <p:nvPr/>
        </p:nvSpPr>
        <p:spPr>
          <a:xfrm>
            <a:off x="8261498" y="3585336"/>
            <a:ext cx="3327990" cy="1741576"/>
          </a:xfrm>
          <a:prstGeom prst="wedgeRectCallout">
            <a:avLst>
              <a:gd name="adj1" fmla="val -102303"/>
              <a:gd name="adj2" fmla="val 5883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Windos has patched the bug before it reached consumers! </a:t>
            </a:r>
          </a:p>
        </p:txBody>
      </p:sp>
    </p:spTree>
    <p:extLst>
      <p:ext uri="{BB962C8B-B14F-4D97-AF65-F5344CB8AC3E}">
        <p14:creationId xmlns:p14="http://schemas.microsoft.com/office/powerpoint/2010/main" val="32858614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news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E02F1E47-EADD-435B-9D6F-AC39397E935C}"/>
              </a:ext>
            </a:extLst>
          </p:cNvPr>
          <p:cNvSpPr/>
          <p:nvPr/>
        </p:nvSpPr>
        <p:spPr>
          <a:xfrm>
            <a:off x="3742660" y="2094614"/>
            <a:ext cx="6613452" cy="3072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site is under construction in a hidden part of the system!</a:t>
            </a:r>
          </a:p>
          <a:p>
            <a:pPr algn="ctr"/>
            <a:r>
              <a:rPr lang="en-GB" dirty="0"/>
              <a:t>Please update to see if it is released to you </a:t>
            </a:r>
          </a:p>
        </p:txBody>
      </p:sp>
    </p:spTree>
    <p:extLst>
      <p:ext uri="{BB962C8B-B14F-4D97-AF65-F5344CB8AC3E}">
        <p14:creationId xmlns:p14="http://schemas.microsoft.com/office/powerpoint/2010/main" val="2344538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Speech Bubble: Rectangle 1">
            <a:extLst>
              <a:ext uri="{FF2B5EF4-FFF2-40B4-BE49-F238E27FC236}">
                <a16:creationId xmlns:a16="http://schemas.microsoft.com/office/drawing/2014/main" id="{E4AD550F-0B42-4F95-A2F7-674B1C465921}"/>
              </a:ext>
            </a:extLst>
          </p:cNvPr>
          <p:cNvSpPr/>
          <p:nvPr/>
        </p:nvSpPr>
        <p:spPr>
          <a:xfrm>
            <a:off x="8729330" y="1382233"/>
            <a:ext cx="3040912" cy="5252483"/>
          </a:xfrm>
          <a:prstGeom prst="wedgeRectCallou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7617717F-6C63-4F15-8528-BA5A9A6A718C}"/>
              </a:ext>
            </a:extLst>
          </p:cNvPr>
          <p:cNvSpPr txBox="1"/>
          <p:nvPr/>
        </p:nvSpPr>
        <p:spPr>
          <a:xfrm>
            <a:off x="8835656" y="1520456"/>
            <a:ext cx="2828260" cy="1200329"/>
          </a:xfrm>
          <a:prstGeom prst="rect">
            <a:avLst/>
          </a:prstGeom>
          <a:noFill/>
        </p:spPr>
        <p:txBody>
          <a:bodyPr wrap="square" rtlCol="0">
            <a:spAutoFit/>
          </a:bodyPr>
          <a:lstStyle/>
          <a:p>
            <a:r>
              <a:rPr lang="en-GB" u="sng" dirty="0"/>
              <a:t>Action centre:</a:t>
            </a:r>
          </a:p>
          <a:p>
            <a:r>
              <a:rPr lang="en-GB" dirty="0"/>
              <a:t>Here is a summary of your system settings in a nutshell:</a:t>
            </a:r>
          </a:p>
        </p:txBody>
      </p:sp>
      <p:pic>
        <p:nvPicPr>
          <p:cNvPr id="6" name="Picture 5">
            <a:extLst>
              <a:ext uri="{FF2B5EF4-FFF2-40B4-BE49-F238E27FC236}">
                <a16:creationId xmlns:a16="http://schemas.microsoft.com/office/drawing/2014/main" id="{3E4AF3E0-9C84-47AC-8203-FDD4E4E63A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5656" y="2794588"/>
            <a:ext cx="457201" cy="457201"/>
          </a:xfrm>
          <a:prstGeom prst="rect">
            <a:avLst/>
          </a:prstGeom>
        </p:spPr>
      </p:pic>
      <p:sp>
        <p:nvSpPr>
          <p:cNvPr id="7" name="TextBox 6">
            <a:extLst>
              <a:ext uri="{FF2B5EF4-FFF2-40B4-BE49-F238E27FC236}">
                <a16:creationId xmlns:a16="http://schemas.microsoft.com/office/drawing/2014/main" id="{C881F311-1B80-42FA-86EE-88198E743AA6}"/>
              </a:ext>
            </a:extLst>
          </p:cNvPr>
          <p:cNvSpPr txBox="1"/>
          <p:nvPr/>
        </p:nvSpPr>
        <p:spPr>
          <a:xfrm>
            <a:off x="9292857" y="2794588"/>
            <a:ext cx="2477385" cy="646331"/>
          </a:xfrm>
          <a:prstGeom prst="rect">
            <a:avLst/>
          </a:prstGeom>
          <a:noFill/>
        </p:spPr>
        <p:txBody>
          <a:bodyPr wrap="square" rtlCol="0">
            <a:spAutoFit/>
          </a:bodyPr>
          <a:lstStyle/>
          <a:p>
            <a:r>
              <a:rPr lang="en-GB" dirty="0">
                <a:hlinkClick r:id="rId5" action="ppaction://hlinksldjump"/>
              </a:rPr>
              <a:t>Set a password for this PC</a:t>
            </a:r>
            <a:endParaRPr lang="en-GB" dirty="0"/>
          </a:p>
        </p:txBody>
      </p:sp>
      <p:pic>
        <p:nvPicPr>
          <p:cNvPr id="8" name="Picture 7">
            <a:extLst>
              <a:ext uri="{FF2B5EF4-FFF2-40B4-BE49-F238E27FC236}">
                <a16:creationId xmlns:a16="http://schemas.microsoft.com/office/drawing/2014/main" id="{132257C4-0F82-42E8-A6E5-B3DC0DFECF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5656" y="3583171"/>
            <a:ext cx="425303" cy="425303"/>
          </a:xfrm>
          <a:prstGeom prst="rect">
            <a:avLst/>
          </a:prstGeom>
        </p:spPr>
      </p:pic>
      <p:sp>
        <p:nvSpPr>
          <p:cNvPr id="10" name="TextBox 9">
            <a:extLst>
              <a:ext uri="{FF2B5EF4-FFF2-40B4-BE49-F238E27FC236}">
                <a16:creationId xmlns:a16="http://schemas.microsoft.com/office/drawing/2014/main" id="{41E620BF-4292-46B3-9AD8-05DFF446375F}"/>
              </a:ext>
            </a:extLst>
          </p:cNvPr>
          <p:cNvSpPr txBox="1"/>
          <p:nvPr/>
        </p:nvSpPr>
        <p:spPr>
          <a:xfrm>
            <a:off x="9260959" y="3583171"/>
            <a:ext cx="2509283" cy="369332"/>
          </a:xfrm>
          <a:prstGeom prst="rect">
            <a:avLst/>
          </a:prstGeom>
          <a:noFill/>
        </p:spPr>
        <p:txBody>
          <a:bodyPr wrap="square" rtlCol="0">
            <a:spAutoFit/>
          </a:bodyPr>
          <a:lstStyle/>
          <a:p>
            <a:r>
              <a:rPr lang="en-GB" dirty="0"/>
              <a:t>Firewall is ON</a:t>
            </a:r>
          </a:p>
        </p:txBody>
      </p:sp>
      <p:pic>
        <p:nvPicPr>
          <p:cNvPr id="11" name="Picture 10">
            <a:extLst>
              <a:ext uri="{FF2B5EF4-FFF2-40B4-BE49-F238E27FC236}">
                <a16:creationId xmlns:a16="http://schemas.microsoft.com/office/drawing/2014/main" id="{039BE1B8-4236-4D7C-8207-90D4F407E5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03759" y="4185615"/>
            <a:ext cx="457200" cy="457200"/>
          </a:xfrm>
          <a:prstGeom prst="rect">
            <a:avLst/>
          </a:prstGeom>
        </p:spPr>
      </p:pic>
      <p:sp>
        <p:nvSpPr>
          <p:cNvPr id="12" name="TextBox 11">
            <a:extLst>
              <a:ext uri="{FF2B5EF4-FFF2-40B4-BE49-F238E27FC236}">
                <a16:creationId xmlns:a16="http://schemas.microsoft.com/office/drawing/2014/main" id="{0981FF16-4CA0-46BB-947F-3F2091893F72}"/>
              </a:ext>
            </a:extLst>
          </p:cNvPr>
          <p:cNvSpPr txBox="1"/>
          <p:nvPr/>
        </p:nvSpPr>
        <p:spPr>
          <a:xfrm>
            <a:off x="9292857" y="4185615"/>
            <a:ext cx="2477385" cy="369332"/>
          </a:xfrm>
          <a:prstGeom prst="rect">
            <a:avLst/>
          </a:prstGeom>
          <a:noFill/>
        </p:spPr>
        <p:txBody>
          <a:bodyPr wrap="square" rtlCol="0">
            <a:spAutoFit/>
          </a:bodyPr>
          <a:lstStyle/>
          <a:p>
            <a:r>
              <a:rPr lang="en-GB" dirty="0">
                <a:hlinkClick r:id="rId8" action="ppaction://hlinksldjump"/>
              </a:rPr>
              <a:t>Home network detected</a:t>
            </a:r>
            <a:endParaRPr lang="en-GB" dirty="0"/>
          </a:p>
        </p:txBody>
      </p:sp>
      <p:pic>
        <p:nvPicPr>
          <p:cNvPr id="13" name="Picture 12">
            <a:extLst>
              <a:ext uri="{FF2B5EF4-FFF2-40B4-BE49-F238E27FC236}">
                <a16:creationId xmlns:a16="http://schemas.microsoft.com/office/drawing/2014/main" id="{872540A3-4A8C-4E45-B73F-E20A15A8B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3758" y="4836408"/>
            <a:ext cx="457201" cy="457201"/>
          </a:xfrm>
          <a:prstGeom prst="rect">
            <a:avLst/>
          </a:prstGeom>
        </p:spPr>
      </p:pic>
      <p:sp>
        <p:nvSpPr>
          <p:cNvPr id="14" name="TextBox 13">
            <a:extLst>
              <a:ext uri="{FF2B5EF4-FFF2-40B4-BE49-F238E27FC236}">
                <a16:creationId xmlns:a16="http://schemas.microsoft.com/office/drawing/2014/main" id="{7F9B5F6D-6636-4F8E-8DC3-8EB640C66A57}"/>
              </a:ext>
            </a:extLst>
          </p:cNvPr>
          <p:cNvSpPr txBox="1"/>
          <p:nvPr/>
        </p:nvSpPr>
        <p:spPr>
          <a:xfrm>
            <a:off x="9292857" y="4944140"/>
            <a:ext cx="2371059" cy="369332"/>
          </a:xfrm>
          <a:prstGeom prst="rect">
            <a:avLst/>
          </a:prstGeom>
          <a:noFill/>
        </p:spPr>
        <p:txBody>
          <a:bodyPr wrap="square" rtlCol="0">
            <a:spAutoFit/>
          </a:bodyPr>
          <a:lstStyle/>
          <a:p>
            <a:r>
              <a:rPr lang="en-GB" dirty="0">
                <a:hlinkClick r:id="rId9" action="ppaction://hlinksldjump"/>
              </a:rPr>
              <a:t>OS version is unstable</a:t>
            </a:r>
            <a:endParaRPr lang="en-GB" dirty="0"/>
          </a:p>
        </p:txBody>
      </p:sp>
      <p:pic>
        <p:nvPicPr>
          <p:cNvPr id="15" name="Picture 14">
            <a:extLst>
              <a:ext uri="{FF2B5EF4-FFF2-40B4-BE49-F238E27FC236}">
                <a16:creationId xmlns:a16="http://schemas.microsoft.com/office/drawing/2014/main" id="{DF60EC5A-47C2-417F-BDE3-42045EAA2F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5656" y="5725630"/>
            <a:ext cx="457201" cy="457201"/>
          </a:xfrm>
          <a:prstGeom prst="rect">
            <a:avLst/>
          </a:prstGeom>
        </p:spPr>
      </p:pic>
      <p:sp>
        <p:nvSpPr>
          <p:cNvPr id="16" name="TextBox 15">
            <a:extLst>
              <a:ext uri="{FF2B5EF4-FFF2-40B4-BE49-F238E27FC236}">
                <a16:creationId xmlns:a16="http://schemas.microsoft.com/office/drawing/2014/main" id="{AEDDF66F-AC4F-4D95-88DD-59FB45CD056A}"/>
              </a:ext>
            </a:extLst>
          </p:cNvPr>
          <p:cNvSpPr txBox="1"/>
          <p:nvPr/>
        </p:nvSpPr>
        <p:spPr>
          <a:xfrm>
            <a:off x="9388549" y="5725630"/>
            <a:ext cx="2300177" cy="369332"/>
          </a:xfrm>
          <a:prstGeom prst="rect">
            <a:avLst/>
          </a:prstGeom>
          <a:noFill/>
        </p:spPr>
        <p:txBody>
          <a:bodyPr wrap="square" rtlCol="0">
            <a:spAutoFit/>
          </a:bodyPr>
          <a:lstStyle/>
          <a:p>
            <a:r>
              <a:rPr lang="en-GB" dirty="0">
                <a:hlinkClick r:id="rId10" action="ppaction://hlinksldjump"/>
              </a:rPr>
              <a:t>Web protection OFF</a:t>
            </a:r>
            <a:endParaRPr lang="en-GB" dirty="0"/>
          </a:p>
        </p:txBody>
      </p:sp>
      <p:sp>
        <p:nvSpPr>
          <p:cNvPr id="5" name="Rectangle 4">
            <a:extLst>
              <a:ext uri="{FF2B5EF4-FFF2-40B4-BE49-F238E27FC236}">
                <a16:creationId xmlns:a16="http://schemas.microsoft.com/office/drawing/2014/main" id="{118FE0E8-A1D4-491A-B3BE-4CBDC2781DB5}"/>
              </a:ext>
            </a:extLst>
          </p:cNvPr>
          <p:cNvSpPr/>
          <p:nvPr/>
        </p:nvSpPr>
        <p:spPr>
          <a:xfrm>
            <a:off x="11582400" y="-16835"/>
            <a:ext cx="6096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52206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 protection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Hey. </a:t>
            </a:r>
          </a:p>
          <a:p>
            <a:pPr algn="ctr"/>
            <a:r>
              <a:rPr lang="en-GB" dirty="0"/>
              <a:t>You need to set a password to your system!</a:t>
            </a:r>
          </a:p>
          <a:p>
            <a:pPr algn="ctr"/>
            <a:r>
              <a:rPr lang="en-GB" dirty="0"/>
              <a:t>Please reinstall the system and set one.</a:t>
            </a:r>
          </a:p>
          <a:p>
            <a:pPr algn="ctr"/>
            <a:r>
              <a:rPr lang="en-GB" dirty="0"/>
              <a:t>How to reinstall Windos</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936799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Your PC is visible to devices on the network as Windos detected it as a home network.</a:t>
            </a:r>
          </a:p>
          <a:p>
            <a:pPr algn="ctr"/>
            <a:endParaRPr lang="en-GB" dirty="0"/>
          </a:p>
          <a:p>
            <a:pPr algn="ctr"/>
            <a:r>
              <a:rPr lang="en-GB" dirty="0">
                <a:hlinkClick r:id="rId3" action="ppaction://hlinksldjump"/>
              </a:rPr>
              <a:t>It is a work network</a:t>
            </a:r>
            <a:endParaRPr lang="en-GB" dirty="0"/>
          </a:p>
          <a:p>
            <a:pPr algn="ctr"/>
            <a:r>
              <a:rPr lang="en-GB" dirty="0">
                <a:hlinkClick r:id="rId4" action="ppaction://hlinksldjump"/>
              </a:rPr>
              <a:t>It I a public network</a:t>
            </a:r>
            <a:endParaRPr lang="en-GB" dirty="0"/>
          </a:p>
        </p:txBody>
      </p:sp>
      <p:sp>
        <p:nvSpPr>
          <p:cNvPr id="5" name="Rectangle 4">
            <a:hlinkClick r:id="rId5"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61987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Unstable OS</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Hello.</a:t>
            </a:r>
          </a:p>
          <a:p>
            <a:pPr algn="ctr"/>
            <a:r>
              <a:rPr lang="en-GB" dirty="0"/>
              <a:t>This OS is not an official build.</a:t>
            </a:r>
          </a:p>
          <a:p>
            <a:pPr algn="ctr"/>
            <a:r>
              <a:rPr lang="en-GB" dirty="0"/>
              <a:t>Please install an official build if you can.</a:t>
            </a:r>
          </a:p>
          <a:p>
            <a:pPr algn="ctr"/>
            <a:r>
              <a:rPr lang="en-GB" dirty="0"/>
              <a:t>That way there will be fewer bugs and you will always be up to date. </a:t>
            </a:r>
          </a:p>
          <a:p>
            <a:pPr algn="ctr"/>
            <a:r>
              <a:rPr lang="en-GB" dirty="0"/>
              <a:t>This is Windos 98 alpha.</a:t>
            </a:r>
          </a:p>
          <a:p>
            <a:pPr algn="ctr"/>
            <a:r>
              <a:rPr lang="en-GB" dirty="0"/>
              <a:t>Please get Windos 98 v1.00 when it comes or get Windos 95.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58836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enable Web Protection in Internet Explorer by asking your admin to disable Trusted Network Mode in the control panel. </a:t>
            </a:r>
          </a:p>
          <a:p>
            <a:pPr algn="ctr"/>
            <a:r>
              <a:rPr lang="en-GB" dirty="0"/>
              <a:t>This will be disable by default in beta 3.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280490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version plan from dev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6C48F3A-D83B-446F-8458-88A48D608C79}"/>
              </a:ext>
            </a:extLst>
          </p:cNvPr>
          <p:cNvSpPr txBox="1"/>
          <p:nvPr/>
        </p:nvSpPr>
        <p:spPr>
          <a:xfrm>
            <a:off x="102782" y="627321"/>
            <a:ext cx="11986436" cy="3416320"/>
          </a:xfrm>
          <a:prstGeom prst="rect">
            <a:avLst/>
          </a:prstGeom>
          <a:noFill/>
        </p:spPr>
        <p:txBody>
          <a:bodyPr wrap="square" rtlCol="0">
            <a:spAutoFit/>
          </a:bodyPr>
          <a:lstStyle/>
          <a:p>
            <a:r>
              <a:rPr lang="en-GB" dirty="0"/>
              <a:t>Beta 1:</a:t>
            </a:r>
          </a:p>
          <a:p>
            <a:r>
              <a:rPr lang="en-GB" dirty="0"/>
              <a:t>An app update</a:t>
            </a:r>
          </a:p>
          <a:p>
            <a:r>
              <a:rPr lang="en-GB" dirty="0"/>
              <a:t>Beta 2:</a:t>
            </a:r>
          </a:p>
          <a:p>
            <a:r>
              <a:rPr lang="en-GB" dirty="0"/>
              <a:t>Control Panel update</a:t>
            </a:r>
          </a:p>
          <a:p>
            <a:r>
              <a:rPr lang="en-GB" dirty="0"/>
              <a:t>Beta 3:</a:t>
            </a:r>
          </a:p>
          <a:p>
            <a:r>
              <a:rPr lang="en-GB" dirty="0"/>
              <a:t>Background stuff update</a:t>
            </a:r>
          </a:p>
          <a:p>
            <a:r>
              <a:rPr lang="en-GB" dirty="0"/>
              <a:t>Beta 4:</a:t>
            </a:r>
          </a:p>
          <a:p>
            <a:r>
              <a:rPr lang="en-GB" dirty="0"/>
              <a:t>Help update</a:t>
            </a:r>
          </a:p>
          <a:p>
            <a:r>
              <a:rPr lang="en-GB" dirty="0"/>
              <a:t>Beta 5:</a:t>
            </a:r>
          </a:p>
          <a:p>
            <a:r>
              <a:rPr lang="en-GB" dirty="0"/>
              <a:t>Final touches</a:t>
            </a:r>
          </a:p>
          <a:p>
            <a:r>
              <a:rPr lang="en-GB" dirty="0"/>
              <a:t>V1. 00:</a:t>
            </a:r>
          </a:p>
          <a:p>
            <a:r>
              <a:rPr lang="en-GB" dirty="0"/>
              <a:t>Launch update, will add more apps. </a:t>
            </a:r>
          </a:p>
        </p:txBody>
      </p:sp>
    </p:spTree>
    <p:extLst>
      <p:ext uri="{BB962C8B-B14F-4D97-AF65-F5344CB8AC3E}">
        <p14:creationId xmlns:p14="http://schemas.microsoft.com/office/powerpoint/2010/main" val="3777734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a:t>
            </a:r>
          </a:p>
        </p:txBody>
      </p:sp>
      <p:pic>
        <p:nvPicPr>
          <p:cNvPr id="8" name="Picture 7">
            <a:hlinkClick r:id="rId5" action="ppaction://hlinksldjump"/>
            <a:extLst>
              <a:ext uri="{FF2B5EF4-FFF2-40B4-BE49-F238E27FC236}">
                <a16:creationId xmlns:a16="http://schemas.microsoft.com/office/drawing/2014/main" id="{B83DB702-1A27-4FFD-ADB8-4259C978B1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3468" y="1275906"/>
            <a:ext cx="457200" cy="457200"/>
          </a:xfrm>
          <a:prstGeom prst="rect">
            <a:avLst/>
          </a:prstGeom>
        </p:spPr>
      </p:pic>
      <p:sp>
        <p:nvSpPr>
          <p:cNvPr id="3" name="TextBox 2">
            <a:extLst>
              <a:ext uri="{FF2B5EF4-FFF2-40B4-BE49-F238E27FC236}">
                <a16:creationId xmlns:a16="http://schemas.microsoft.com/office/drawing/2014/main" id="{7E17FEB8-0B92-4AF0-8E34-8EEDC3AB9D2F}"/>
              </a:ext>
            </a:extLst>
          </p:cNvPr>
          <p:cNvSpPr txBox="1"/>
          <p:nvPr/>
        </p:nvSpPr>
        <p:spPr>
          <a:xfrm>
            <a:off x="170121" y="1733106"/>
            <a:ext cx="2115879" cy="369332"/>
          </a:xfrm>
          <a:prstGeom prst="rect">
            <a:avLst/>
          </a:prstGeom>
          <a:noFill/>
        </p:spPr>
        <p:txBody>
          <a:bodyPr wrap="square" rtlCol="0">
            <a:spAutoFit/>
          </a:bodyPr>
          <a:lstStyle/>
          <a:p>
            <a:r>
              <a:rPr lang="en-GB" dirty="0"/>
              <a:t>documents</a:t>
            </a:r>
          </a:p>
        </p:txBody>
      </p:sp>
      <p:pic>
        <p:nvPicPr>
          <p:cNvPr id="11" name="Picture 10">
            <a:hlinkClick r:id="rId7" action="ppaction://hlinksldjump"/>
            <a:extLst>
              <a:ext uri="{FF2B5EF4-FFF2-40B4-BE49-F238E27FC236}">
                <a16:creationId xmlns:a16="http://schemas.microsoft.com/office/drawing/2014/main" id="{FAD9E0FA-7776-412A-BC2B-F1095C4DF3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46521" y="1275906"/>
            <a:ext cx="609600" cy="609600"/>
          </a:xfrm>
          <a:prstGeom prst="rect">
            <a:avLst/>
          </a:prstGeom>
        </p:spPr>
      </p:pic>
      <p:sp>
        <p:nvSpPr>
          <p:cNvPr id="12" name="TextBox 11">
            <a:extLst>
              <a:ext uri="{FF2B5EF4-FFF2-40B4-BE49-F238E27FC236}">
                <a16:creationId xmlns:a16="http://schemas.microsoft.com/office/drawing/2014/main" id="{D23AC4D2-B233-44F9-A484-B0BF63164C3D}"/>
              </a:ext>
            </a:extLst>
          </p:cNvPr>
          <p:cNvSpPr txBox="1"/>
          <p:nvPr/>
        </p:nvSpPr>
        <p:spPr>
          <a:xfrm>
            <a:off x="1846521" y="1917772"/>
            <a:ext cx="1928037" cy="369332"/>
          </a:xfrm>
          <a:prstGeom prst="rect">
            <a:avLst/>
          </a:prstGeom>
          <a:noFill/>
        </p:spPr>
        <p:txBody>
          <a:bodyPr wrap="square" rtlCol="0">
            <a:spAutoFit/>
          </a:bodyPr>
          <a:lstStyle/>
          <a:p>
            <a:r>
              <a:rPr lang="en-GB" dirty="0"/>
              <a:t>system</a:t>
            </a:r>
          </a:p>
        </p:txBody>
      </p:sp>
      <p:pic>
        <p:nvPicPr>
          <p:cNvPr id="13" name="Picture 12">
            <a:hlinkClick r:id="rId9" action="ppaction://hlinksldjump"/>
            <a:extLst>
              <a:ext uri="{FF2B5EF4-FFF2-40B4-BE49-F238E27FC236}">
                <a16:creationId xmlns:a16="http://schemas.microsoft.com/office/drawing/2014/main" id="{F36023D4-0B7C-4EF6-9D49-178A91157D1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13374" y="1275906"/>
            <a:ext cx="641866" cy="641866"/>
          </a:xfrm>
          <a:prstGeom prst="rect">
            <a:avLst/>
          </a:prstGeom>
        </p:spPr>
      </p:pic>
      <p:sp>
        <p:nvSpPr>
          <p:cNvPr id="14" name="TextBox 13">
            <a:extLst>
              <a:ext uri="{FF2B5EF4-FFF2-40B4-BE49-F238E27FC236}">
                <a16:creationId xmlns:a16="http://schemas.microsoft.com/office/drawing/2014/main" id="{BC7EADE4-612D-41DB-9844-32E2B1D84F5E}"/>
              </a:ext>
            </a:extLst>
          </p:cNvPr>
          <p:cNvSpPr txBox="1"/>
          <p:nvPr/>
        </p:nvSpPr>
        <p:spPr>
          <a:xfrm>
            <a:off x="2939682" y="1950038"/>
            <a:ext cx="2045435" cy="369332"/>
          </a:xfrm>
          <a:prstGeom prst="rect">
            <a:avLst/>
          </a:prstGeom>
          <a:noFill/>
        </p:spPr>
        <p:txBody>
          <a:bodyPr wrap="square" rtlCol="0">
            <a:spAutoFit/>
          </a:bodyPr>
          <a:lstStyle/>
          <a:p>
            <a:r>
              <a:rPr lang="en-GB" dirty="0"/>
              <a:t>Elvis Playlist</a:t>
            </a:r>
          </a:p>
        </p:txBody>
      </p:sp>
      <p:pic>
        <p:nvPicPr>
          <p:cNvPr id="15" name="Picture 14">
            <a:hlinkClick r:id="rId11" action="ppaction://hlinksldjump"/>
            <a:extLst>
              <a:ext uri="{FF2B5EF4-FFF2-40B4-BE49-F238E27FC236}">
                <a16:creationId xmlns:a16="http://schemas.microsoft.com/office/drawing/2014/main" id="{E2F33BDB-0DF7-4CD8-8B2A-AE11D3A27EF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31177" y="1332835"/>
            <a:ext cx="495742" cy="495742"/>
          </a:xfrm>
          <a:prstGeom prst="rect">
            <a:avLst/>
          </a:prstGeom>
        </p:spPr>
      </p:pic>
      <p:sp>
        <p:nvSpPr>
          <p:cNvPr id="16" name="TextBox 15">
            <a:extLst>
              <a:ext uri="{FF2B5EF4-FFF2-40B4-BE49-F238E27FC236}">
                <a16:creationId xmlns:a16="http://schemas.microsoft.com/office/drawing/2014/main" id="{C7A02162-19E9-44C4-8F45-7C69932B0753}"/>
              </a:ext>
            </a:extLst>
          </p:cNvPr>
          <p:cNvSpPr txBox="1"/>
          <p:nvPr/>
        </p:nvSpPr>
        <p:spPr>
          <a:xfrm>
            <a:off x="4631177" y="1885506"/>
            <a:ext cx="1716460" cy="369332"/>
          </a:xfrm>
          <a:prstGeom prst="rect">
            <a:avLst/>
          </a:prstGeom>
          <a:noFill/>
        </p:spPr>
        <p:txBody>
          <a:bodyPr wrap="square" rtlCol="0">
            <a:spAutoFit/>
          </a:bodyPr>
          <a:lstStyle/>
          <a:p>
            <a:r>
              <a:rPr lang="en-GB" dirty="0"/>
              <a:t>IE225 files</a:t>
            </a:r>
          </a:p>
        </p:txBody>
      </p:sp>
      <p:pic>
        <p:nvPicPr>
          <p:cNvPr id="17" name="Picture 16">
            <a:hlinkClick r:id="rId13" action="ppaction://hlinksldjump"/>
            <a:extLst>
              <a:ext uri="{FF2B5EF4-FFF2-40B4-BE49-F238E27FC236}">
                <a16:creationId xmlns:a16="http://schemas.microsoft.com/office/drawing/2014/main" id="{15D22271-B508-497A-B5C0-F9A50718B46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38087" y="1294956"/>
            <a:ext cx="641866" cy="641866"/>
          </a:xfrm>
          <a:prstGeom prst="rect">
            <a:avLst/>
          </a:prstGeom>
        </p:spPr>
      </p:pic>
      <p:sp>
        <p:nvSpPr>
          <p:cNvPr id="18" name="TextBox 17">
            <a:extLst>
              <a:ext uri="{FF2B5EF4-FFF2-40B4-BE49-F238E27FC236}">
                <a16:creationId xmlns:a16="http://schemas.microsoft.com/office/drawing/2014/main" id="{2E740200-A8F1-4ACB-B096-C1A8D582C4BA}"/>
              </a:ext>
            </a:extLst>
          </p:cNvPr>
          <p:cNvSpPr txBox="1"/>
          <p:nvPr/>
        </p:nvSpPr>
        <p:spPr>
          <a:xfrm>
            <a:off x="6138087" y="2102438"/>
            <a:ext cx="1155848" cy="646331"/>
          </a:xfrm>
          <a:prstGeom prst="rect">
            <a:avLst/>
          </a:prstGeom>
          <a:noFill/>
        </p:spPr>
        <p:txBody>
          <a:bodyPr wrap="square" rtlCol="0">
            <a:spAutoFit/>
          </a:bodyPr>
          <a:lstStyle/>
          <a:p>
            <a:r>
              <a:rPr lang="en-GB" dirty="0"/>
              <a:t>Email people</a:t>
            </a:r>
          </a:p>
        </p:txBody>
      </p:sp>
    </p:spTree>
    <p:extLst>
      <p:ext uri="{BB962C8B-B14F-4D97-AF65-F5344CB8AC3E}">
        <p14:creationId xmlns:p14="http://schemas.microsoft.com/office/powerpoint/2010/main" val="1948498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\\\documents</a:t>
            </a:r>
          </a:p>
        </p:txBody>
      </p:sp>
      <p:pic>
        <p:nvPicPr>
          <p:cNvPr id="8" name="Picture 7">
            <a:hlinkClick r:id="rId5" action="ppaction://hlinksldjump"/>
            <a:extLst>
              <a:ext uri="{FF2B5EF4-FFF2-40B4-BE49-F238E27FC236}">
                <a16:creationId xmlns:a16="http://schemas.microsoft.com/office/drawing/2014/main" id="{D06BF4D8-D1CC-40AA-8AF4-D1CA145395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7896" y="1063256"/>
            <a:ext cx="457200" cy="457200"/>
          </a:xfrm>
          <a:prstGeom prst="rect">
            <a:avLst/>
          </a:prstGeom>
        </p:spPr>
      </p:pic>
      <p:sp>
        <p:nvSpPr>
          <p:cNvPr id="9" name="TextBox 8">
            <a:extLst>
              <a:ext uri="{FF2B5EF4-FFF2-40B4-BE49-F238E27FC236}">
                <a16:creationId xmlns:a16="http://schemas.microsoft.com/office/drawing/2014/main" id="{852EFDBE-894A-4987-820B-8A65D38429C9}"/>
              </a:ext>
            </a:extLst>
          </p:cNvPr>
          <p:cNvSpPr txBox="1"/>
          <p:nvPr/>
        </p:nvSpPr>
        <p:spPr>
          <a:xfrm>
            <a:off x="138223" y="1488558"/>
            <a:ext cx="2785730" cy="369332"/>
          </a:xfrm>
          <a:prstGeom prst="rect">
            <a:avLst/>
          </a:prstGeom>
          <a:noFill/>
        </p:spPr>
        <p:txBody>
          <a:bodyPr wrap="square" rtlCol="0">
            <a:spAutoFit/>
          </a:bodyPr>
          <a:lstStyle/>
          <a:p>
            <a:r>
              <a:rPr lang="en-GB" dirty="0"/>
              <a:t>Test.txt</a:t>
            </a:r>
          </a:p>
        </p:txBody>
      </p:sp>
    </p:spTree>
    <p:extLst>
      <p:ext uri="{BB962C8B-B14F-4D97-AF65-F5344CB8AC3E}">
        <p14:creationId xmlns:p14="http://schemas.microsoft.com/office/powerpoint/2010/main" val="2754556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\\\elvis</a:t>
            </a:r>
          </a:p>
        </p:txBody>
      </p:sp>
      <p:sp>
        <p:nvSpPr>
          <p:cNvPr id="3" name="TextBox 2">
            <a:extLst>
              <a:ext uri="{FF2B5EF4-FFF2-40B4-BE49-F238E27FC236}">
                <a16:creationId xmlns:a16="http://schemas.microsoft.com/office/drawing/2014/main" id="{A440027E-7CF7-49FD-B9B4-491E011BE944}"/>
              </a:ext>
            </a:extLst>
          </p:cNvPr>
          <p:cNvSpPr txBox="1"/>
          <p:nvPr/>
        </p:nvSpPr>
        <p:spPr>
          <a:xfrm>
            <a:off x="202019" y="1041991"/>
            <a:ext cx="11887199" cy="5909310"/>
          </a:xfrm>
          <a:prstGeom prst="rect">
            <a:avLst/>
          </a:prstGeom>
          <a:noFill/>
        </p:spPr>
        <p:txBody>
          <a:bodyPr wrap="square" rtlCol="0">
            <a:spAutoFit/>
          </a:bodyPr>
          <a:lstStyle/>
          <a:p>
            <a:pPr marL="342900" indent="-342900">
              <a:buFont typeface="+mj-lt"/>
              <a:buAutoNum type="arabicPeriod"/>
            </a:pPr>
            <a:r>
              <a:rPr lang="en-GB" dirty="0"/>
              <a:t>,Paradise Hawaiian Style</a:t>
            </a:r>
          </a:p>
          <a:p>
            <a:pPr marL="342900" indent="-342900">
              <a:buFont typeface="+mj-lt"/>
              <a:buAutoNum type="arabicPeriod"/>
            </a:pPr>
            <a:r>
              <a:rPr lang="en-GB" dirty="0"/>
              <a:t>See,  See rider</a:t>
            </a:r>
          </a:p>
          <a:p>
            <a:pPr marL="342900" indent="-342900">
              <a:buFont typeface="+mj-lt"/>
              <a:buAutoNum type="arabicPeriod"/>
            </a:pPr>
            <a:r>
              <a:rPr lang="en-GB" dirty="0"/>
              <a:t>Burning love</a:t>
            </a:r>
          </a:p>
          <a:p>
            <a:pPr marL="342900" indent="-342900">
              <a:buFont typeface="+mj-lt"/>
              <a:buAutoNum type="arabicPeriod"/>
            </a:pPr>
            <a:r>
              <a:rPr lang="en-GB" dirty="0"/>
              <a:t>Something</a:t>
            </a:r>
          </a:p>
          <a:p>
            <a:pPr marL="342900" indent="-342900">
              <a:buFont typeface="+mj-lt"/>
              <a:buAutoNum type="arabicPeriod"/>
            </a:pPr>
            <a:r>
              <a:rPr lang="en-GB" dirty="0"/>
              <a:t>You gave me a mountain</a:t>
            </a:r>
          </a:p>
          <a:p>
            <a:pPr marL="342900" indent="-342900">
              <a:buFont typeface="+mj-lt"/>
              <a:buAutoNum type="arabicPeriod"/>
            </a:pPr>
            <a:r>
              <a:rPr lang="en-GB" dirty="0"/>
              <a:t>Steamroller blues</a:t>
            </a:r>
          </a:p>
          <a:p>
            <a:pPr marL="342900" indent="-342900">
              <a:buFont typeface="+mj-lt"/>
              <a:buAutoNum type="arabicPeriod"/>
            </a:pPr>
            <a:r>
              <a:rPr lang="en-GB" dirty="0"/>
              <a:t>My way</a:t>
            </a:r>
          </a:p>
          <a:p>
            <a:pPr marL="342900" indent="-342900">
              <a:buFont typeface="+mj-lt"/>
              <a:buAutoNum type="arabicPeriod"/>
            </a:pPr>
            <a:r>
              <a:rPr lang="en-GB" dirty="0"/>
              <a:t>Love me</a:t>
            </a:r>
          </a:p>
          <a:p>
            <a:pPr marL="342900" indent="-342900">
              <a:buFont typeface="+mj-lt"/>
              <a:buAutoNum type="arabicPeriod"/>
            </a:pPr>
            <a:r>
              <a:rPr lang="en-GB" dirty="0"/>
              <a:t>Johnny B Goode</a:t>
            </a:r>
          </a:p>
          <a:p>
            <a:pPr marL="342900" indent="-342900">
              <a:buFont typeface="+mj-lt"/>
              <a:buAutoNum type="arabicPeriod"/>
            </a:pPr>
            <a:r>
              <a:rPr lang="en-GB" dirty="0"/>
              <a:t>Blue Suede Shoes</a:t>
            </a:r>
          </a:p>
          <a:p>
            <a:pPr marL="342900" indent="-342900">
              <a:buFont typeface="+mj-lt"/>
              <a:buAutoNum type="arabicPeriod"/>
            </a:pPr>
            <a:r>
              <a:rPr lang="en-GB" dirty="0"/>
              <a:t>I’m so lonesome I could cry</a:t>
            </a:r>
          </a:p>
          <a:p>
            <a:pPr marL="342900" indent="-342900">
              <a:buFont typeface="+mj-lt"/>
              <a:buAutoNum type="arabicPeriod"/>
            </a:pPr>
            <a:r>
              <a:rPr lang="en-GB" dirty="0"/>
              <a:t>I can’t stop loving you</a:t>
            </a:r>
          </a:p>
          <a:p>
            <a:pPr marL="342900" indent="-342900">
              <a:buFont typeface="+mj-lt"/>
              <a:buAutoNum type="arabicPeriod"/>
            </a:pPr>
            <a:r>
              <a:rPr lang="en-GB" dirty="0"/>
              <a:t>Hound dog</a:t>
            </a:r>
          </a:p>
          <a:p>
            <a:pPr marL="342900" indent="-342900">
              <a:buFont typeface="+mj-lt"/>
              <a:buAutoNum type="arabicPeriod"/>
            </a:pPr>
            <a:r>
              <a:rPr lang="en-GB" dirty="0"/>
              <a:t>What now my love</a:t>
            </a:r>
          </a:p>
          <a:p>
            <a:pPr marL="342900" indent="-342900">
              <a:buFont typeface="+mj-lt"/>
              <a:buAutoNum type="arabicPeriod"/>
            </a:pPr>
            <a:r>
              <a:rPr lang="en-GB" dirty="0"/>
              <a:t>Fever</a:t>
            </a:r>
          </a:p>
          <a:p>
            <a:pPr marL="342900" indent="-342900">
              <a:buFont typeface="+mj-lt"/>
              <a:buAutoNum type="arabicPeriod"/>
            </a:pPr>
            <a:r>
              <a:rPr lang="en-GB" dirty="0"/>
              <a:t>Welcome to my world</a:t>
            </a:r>
          </a:p>
          <a:p>
            <a:pPr marL="342900" indent="-342900">
              <a:buFont typeface="+mj-lt"/>
              <a:buAutoNum type="arabicPeriod"/>
            </a:pPr>
            <a:r>
              <a:rPr lang="en-GB" dirty="0"/>
              <a:t>Suspicious minds</a:t>
            </a:r>
          </a:p>
          <a:p>
            <a:pPr marL="342900" indent="-342900">
              <a:buFont typeface="+mj-lt"/>
              <a:buAutoNum type="arabicPeriod"/>
            </a:pPr>
            <a:r>
              <a:rPr lang="en-GB" dirty="0"/>
              <a:t>I’ll remember you </a:t>
            </a:r>
          </a:p>
          <a:p>
            <a:pPr marL="342900" indent="-342900">
              <a:buFont typeface="+mj-lt"/>
              <a:buAutoNum type="arabicPeriod"/>
            </a:pPr>
            <a:r>
              <a:rPr lang="en-GB" dirty="0"/>
              <a:t>long tall sally</a:t>
            </a:r>
          </a:p>
          <a:p>
            <a:pPr marL="342900" indent="-342900">
              <a:buFont typeface="+mj-lt"/>
              <a:buAutoNum type="arabicPeriod"/>
            </a:pPr>
            <a:r>
              <a:rPr lang="en-GB" dirty="0"/>
              <a:t>An American trilogy </a:t>
            </a:r>
          </a:p>
          <a:p>
            <a:pPr marL="342900" indent="-342900">
              <a:buFont typeface="+mj-lt"/>
              <a:buAutoNum type="arabicPeriod"/>
            </a:pPr>
            <a:endParaRPr lang="en-GB" dirty="0"/>
          </a:p>
        </p:txBody>
      </p:sp>
      <p:sp>
        <p:nvSpPr>
          <p:cNvPr id="9" name="TextBox 8">
            <a:extLst>
              <a:ext uri="{FF2B5EF4-FFF2-40B4-BE49-F238E27FC236}">
                <a16:creationId xmlns:a16="http://schemas.microsoft.com/office/drawing/2014/main" id="{6DBA69D0-4F27-477B-9A3A-FB5575F3FA24}"/>
              </a:ext>
            </a:extLst>
          </p:cNvPr>
          <p:cNvSpPr txBox="1"/>
          <p:nvPr/>
        </p:nvSpPr>
        <p:spPr>
          <a:xfrm>
            <a:off x="4527698" y="1392865"/>
            <a:ext cx="3583172" cy="646331"/>
          </a:xfrm>
          <a:prstGeom prst="rect">
            <a:avLst/>
          </a:prstGeom>
          <a:noFill/>
        </p:spPr>
        <p:txBody>
          <a:bodyPr wrap="square" rtlCol="0">
            <a:spAutoFit/>
          </a:bodyPr>
          <a:lstStyle/>
          <a:p>
            <a:pPr marL="342900" indent="-342900">
              <a:buFont typeface="+mj-lt"/>
              <a:buAutoNum type="arabicPeriod"/>
            </a:pPr>
            <a:r>
              <a:rPr lang="en-GB" dirty="0"/>
              <a:t>A big hunk of love</a:t>
            </a:r>
          </a:p>
          <a:p>
            <a:pPr marL="342900" indent="-342900">
              <a:buFont typeface="+mj-lt"/>
              <a:buAutoNum type="arabicPeriod"/>
            </a:pPr>
            <a:r>
              <a:rPr lang="en-GB" dirty="0"/>
              <a:t> can’t help falling in love</a:t>
            </a:r>
          </a:p>
        </p:txBody>
      </p:sp>
      <p:sp>
        <p:nvSpPr>
          <p:cNvPr id="10" name="TextBox 9">
            <a:extLst>
              <a:ext uri="{FF2B5EF4-FFF2-40B4-BE49-F238E27FC236}">
                <a16:creationId xmlns:a16="http://schemas.microsoft.com/office/drawing/2014/main" id="{DB921DE0-6638-4D2D-B625-1E71DF35E264}"/>
              </a:ext>
            </a:extLst>
          </p:cNvPr>
          <p:cNvSpPr txBox="1"/>
          <p:nvPr/>
        </p:nvSpPr>
        <p:spPr>
          <a:xfrm>
            <a:off x="4316819" y="1392865"/>
            <a:ext cx="210878" cy="646331"/>
          </a:xfrm>
          <a:prstGeom prst="rect">
            <a:avLst/>
          </a:prstGeom>
          <a:noFill/>
        </p:spPr>
        <p:txBody>
          <a:bodyPr wrap="square" rtlCol="0">
            <a:spAutoFit/>
          </a:bodyPr>
          <a:lstStyle/>
          <a:p>
            <a:r>
              <a:rPr lang="en-GB" dirty="0"/>
              <a:t>2</a:t>
            </a:r>
          </a:p>
          <a:p>
            <a:r>
              <a:rPr lang="en-GB" dirty="0"/>
              <a:t>2</a:t>
            </a:r>
          </a:p>
        </p:txBody>
      </p:sp>
    </p:spTree>
    <p:extLst>
      <p:ext uri="{BB962C8B-B14F-4D97-AF65-F5344CB8AC3E}">
        <p14:creationId xmlns:p14="http://schemas.microsoft.com/office/powerpoint/2010/main" val="3127341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\\\ie225</a:t>
            </a:r>
          </a:p>
        </p:txBody>
      </p:sp>
      <p:sp>
        <p:nvSpPr>
          <p:cNvPr id="3" name="TextBox 2">
            <a:extLst>
              <a:ext uri="{FF2B5EF4-FFF2-40B4-BE49-F238E27FC236}">
                <a16:creationId xmlns:a16="http://schemas.microsoft.com/office/drawing/2014/main" id="{07528F51-CDBB-4C81-B953-52B7FFC29CB9}"/>
              </a:ext>
            </a:extLst>
          </p:cNvPr>
          <p:cNvSpPr txBox="1"/>
          <p:nvPr/>
        </p:nvSpPr>
        <p:spPr>
          <a:xfrm>
            <a:off x="318977" y="1653806"/>
            <a:ext cx="2307265" cy="369332"/>
          </a:xfrm>
          <a:prstGeom prst="rect">
            <a:avLst/>
          </a:prstGeom>
          <a:noFill/>
        </p:spPr>
        <p:txBody>
          <a:bodyPr wrap="square" rtlCol="0">
            <a:spAutoFit/>
          </a:bodyPr>
          <a:lstStyle/>
          <a:p>
            <a:r>
              <a:rPr lang="en-GB" dirty="0"/>
              <a:t>Open me.mp3.exe</a:t>
            </a:r>
          </a:p>
        </p:txBody>
      </p:sp>
      <p:pic>
        <p:nvPicPr>
          <p:cNvPr id="10" name="Picture 9">
            <a:hlinkClick r:id="rId5" action="ppaction://hlinksldjump"/>
            <a:extLst>
              <a:ext uri="{FF2B5EF4-FFF2-40B4-BE49-F238E27FC236}">
                <a16:creationId xmlns:a16="http://schemas.microsoft.com/office/drawing/2014/main" id="{463B22FF-466E-4E87-8518-B87179F232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955" y="1130152"/>
            <a:ext cx="523654" cy="523654"/>
          </a:xfrm>
          <a:prstGeom prst="rect">
            <a:avLst/>
          </a:prstGeom>
        </p:spPr>
      </p:pic>
    </p:spTree>
    <p:extLst>
      <p:ext uri="{BB962C8B-B14F-4D97-AF65-F5344CB8AC3E}">
        <p14:creationId xmlns:p14="http://schemas.microsoft.com/office/powerpoint/2010/main" val="35866287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\\\people</a:t>
            </a:r>
          </a:p>
        </p:txBody>
      </p:sp>
      <p:sp>
        <p:nvSpPr>
          <p:cNvPr id="8" name="Rectangle 7">
            <a:extLst>
              <a:ext uri="{FF2B5EF4-FFF2-40B4-BE49-F238E27FC236}">
                <a16:creationId xmlns:a16="http://schemas.microsoft.com/office/drawing/2014/main" id="{BED57B62-88A0-4A0D-B69F-69DA285882D0}"/>
              </a:ext>
            </a:extLst>
          </p:cNvPr>
          <p:cNvSpPr/>
          <p:nvPr/>
        </p:nvSpPr>
        <p:spPr>
          <a:xfrm>
            <a:off x="5638800" y="318445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empty</a:t>
            </a:r>
          </a:p>
        </p:txBody>
      </p:sp>
    </p:spTree>
    <p:extLst>
      <p:ext uri="{BB962C8B-B14F-4D97-AF65-F5344CB8AC3E}">
        <p14:creationId xmlns:p14="http://schemas.microsoft.com/office/powerpoint/2010/main" val="1332628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Change to work network?</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requires admin rights!</a:t>
            </a:r>
          </a:p>
          <a:p>
            <a:pPr algn="ctr"/>
            <a:r>
              <a:rPr lang="en-GB" dirty="0">
                <a:hlinkClick r:id="rId3" action="ppaction://hlinksldjump"/>
              </a:rPr>
              <a:t>Yes</a:t>
            </a:r>
            <a:r>
              <a:rPr lang="en-GB" dirty="0"/>
              <a:t>	 </a:t>
            </a:r>
            <a:r>
              <a:rPr lang="en-GB" dirty="0">
                <a:hlinkClick r:id="rId4" action="ppaction://hlinksldjump"/>
              </a:rPr>
              <a:t>no</a:t>
            </a:r>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2013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UAC</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 program requested admin access.</a:t>
            </a:r>
          </a:p>
          <a:p>
            <a:pPr algn="ctr"/>
            <a:r>
              <a:rPr lang="en-GB" dirty="0"/>
              <a:t>Enter the admin password:</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0A0C380A-3CE7-4E03-BB80-7A1FE6C74ACE}"/>
              </a:ext>
            </a:extLst>
          </p:cNvPr>
          <p:cNvSpPr/>
          <p:nvPr/>
        </p:nvSpPr>
        <p:spPr>
          <a:xfrm>
            <a:off x="0" y="5693735"/>
            <a:ext cx="5975498" cy="584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hlinkClick r:id="rId4" action="ppaction://hlinksldjump"/>
            <a:extLst>
              <a:ext uri="{FF2B5EF4-FFF2-40B4-BE49-F238E27FC236}">
                <a16:creationId xmlns:a16="http://schemas.microsoft.com/office/drawing/2014/main" id="{99E77A7F-AEBE-4F76-B69A-3D0F9BECE0B6}"/>
              </a:ext>
            </a:extLst>
          </p:cNvPr>
          <p:cNvSpPr/>
          <p:nvPr/>
        </p:nvSpPr>
        <p:spPr>
          <a:xfrm>
            <a:off x="0" y="6275867"/>
            <a:ext cx="2679405" cy="5847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10" name="Rectangle 9">
            <a:hlinkClick r:id="rId3" action="ppaction://hlinksldjump"/>
            <a:extLst>
              <a:ext uri="{FF2B5EF4-FFF2-40B4-BE49-F238E27FC236}">
                <a16:creationId xmlns:a16="http://schemas.microsoft.com/office/drawing/2014/main" id="{FD94C9DB-68FD-4EFD-A839-533439B1CDAD}"/>
              </a:ext>
            </a:extLst>
          </p:cNvPr>
          <p:cNvSpPr/>
          <p:nvPr/>
        </p:nvSpPr>
        <p:spPr>
          <a:xfrm>
            <a:off x="2679405" y="6270551"/>
            <a:ext cx="3296093" cy="58479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3680564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error</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admin password was incorrect</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06106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Disconnect from the Internet?</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requires admin rights!</a:t>
            </a:r>
          </a:p>
          <a:p>
            <a:pPr algn="ctr"/>
            <a:r>
              <a:rPr lang="en-GB" dirty="0">
                <a:hlinkClick r:id="rId3" action="ppaction://hlinksldjump"/>
              </a:rPr>
              <a:t>Yes</a:t>
            </a:r>
            <a:r>
              <a:rPr lang="en-GB" dirty="0"/>
              <a:t>	 </a:t>
            </a:r>
            <a:r>
              <a:rPr lang="en-GB" dirty="0">
                <a:hlinkClick r:id="rId4" action="ppaction://hlinksldjump"/>
              </a:rPr>
              <a:t>no</a:t>
            </a:r>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03541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 manager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B7A74246-4EFB-4224-8666-ACCFE1D32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088" y="1307804"/>
            <a:ext cx="425302" cy="425302"/>
          </a:xfrm>
          <a:prstGeom prst="rect">
            <a:avLst/>
          </a:prstGeom>
        </p:spPr>
      </p:pic>
      <p:pic>
        <p:nvPicPr>
          <p:cNvPr id="7" name="Picture 6">
            <a:extLst>
              <a:ext uri="{FF2B5EF4-FFF2-40B4-BE49-F238E27FC236}">
                <a16:creationId xmlns:a16="http://schemas.microsoft.com/office/drawing/2014/main" id="{04C025EE-9FE9-4032-A438-2303DFC8F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9788" y="2731684"/>
            <a:ext cx="457200" cy="457200"/>
          </a:xfrm>
          <a:prstGeom prst="rect">
            <a:avLst/>
          </a:prstGeom>
        </p:spPr>
      </p:pic>
      <p:pic>
        <p:nvPicPr>
          <p:cNvPr id="8" name="Picture 7">
            <a:extLst>
              <a:ext uri="{FF2B5EF4-FFF2-40B4-BE49-F238E27FC236}">
                <a16:creationId xmlns:a16="http://schemas.microsoft.com/office/drawing/2014/main" id="{6194ECDF-BF31-42C0-BE16-ACA69466DF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0697" y="1233375"/>
            <a:ext cx="425303" cy="425303"/>
          </a:xfrm>
          <a:prstGeom prst="rect">
            <a:avLst/>
          </a:prstGeom>
        </p:spPr>
      </p:pic>
      <p:cxnSp>
        <p:nvCxnSpPr>
          <p:cNvPr id="9" name="Straight Arrow Connector 8">
            <a:extLst>
              <a:ext uri="{FF2B5EF4-FFF2-40B4-BE49-F238E27FC236}">
                <a16:creationId xmlns:a16="http://schemas.microsoft.com/office/drawing/2014/main" id="{D29ACF6F-9362-49E5-95F4-879BAEE3974C}"/>
              </a:ext>
            </a:extLst>
          </p:cNvPr>
          <p:cNvCxnSpPr/>
          <p:nvPr/>
        </p:nvCxnSpPr>
        <p:spPr>
          <a:xfrm>
            <a:off x="2169042" y="1733106"/>
            <a:ext cx="2222205" cy="1116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6E9EA8C-A8EF-48F9-95D0-5630170B4C5A}"/>
              </a:ext>
            </a:extLst>
          </p:cNvPr>
          <p:cNvCxnSpPr/>
          <p:nvPr/>
        </p:nvCxnSpPr>
        <p:spPr>
          <a:xfrm flipV="1">
            <a:off x="5167423" y="1733106"/>
            <a:ext cx="715925" cy="998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1BBF302-5C2A-4275-BA8B-530027FF15AA}"/>
              </a:ext>
            </a:extLst>
          </p:cNvPr>
          <p:cNvCxnSpPr/>
          <p:nvPr/>
        </p:nvCxnSpPr>
        <p:spPr>
          <a:xfrm flipH="1">
            <a:off x="2026390" y="1446026"/>
            <a:ext cx="34989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B86735-3431-4741-BF7E-066AFF5196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46134" y="1736206"/>
            <a:ext cx="523654" cy="523654"/>
          </a:xfrm>
          <a:prstGeom prst="rect">
            <a:avLst/>
          </a:prstGeom>
        </p:spPr>
      </p:pic>
      <p:cxnSp>
        <p:nvCxnSpPr>
          <p:cNvPr id="16" name="Straight Arrow Connector 15">
            <a:extLst>
              <a:ext uri="{FF2B5EF4-FFF2-40B4-BE49-F238E27FC236}">
                <a16:creationId xmlns:a16="http://schemas.microsoft.com/office/drawing/2014/main" id="{B83AE42E-189B-4A02-A3C4-3562F1831571}"/>
              </a:ext>
            </a:extLst>
          </p:cNvPr>
          <p:cNvCxnSpPr>
            <a:cxnSpLocks/>
            <a:stCxn id="6" idx="3"/>
          </p:cNvCxnSpPr>
          <p:nvPr/>
        </p:nvCxnSpPr>
        <p:spPr>
          <a:xfrm>
            <a:off x="2026390" y="1520455"/>
            <a:ext cx="1931140" cy="476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45170AD-DD07-4061-8594-AC095C3A0254}"/>
              </a:ext>
            </a:extLst>
          </p:cNvPr>
          <p:cNvCxnSpPr/>
          <p:nvPr/>
        </p:nvCxnSpPr>
        <p:spPr>
          <a:xfrm flipV="1">
            <a:off x="4391247" y="1520455"/>
            <a:ext cx="1403497" cy="477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CDDF8D7-0883-4075-9F1A-A36CB1D115BE}"/>
              </a:ext>
            </a:extLst>
          </p:cNvPr>
          <p:cNvCxnSpPr/>
          <p:nvPr/>
        </p:nvCxnSpPr>
        <p:spPr>
          <a:xfrm>
            <a:off x="4391247" y="2094614"/>
            <a:ext cx="265813" cy="63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40F8E7-9E74-45E3-82B4-FAFC7FC127AD}"/>
              </a:ext>
            </a:extLst>
          </p:cNvPr>
          <p:cNvSpPr txBox="1"/>
          <p:nvPr/>
        </p:nvSpPr>
        <p:spPr>
          <a:xfrm>
            <a:off x="6762307" y="829340"/>
            <a:ext cx="4727944" cy="646331"/>
          </a:xfrm>
          <a:prstGeom prst="rect">
            <a:avLst/>
          </a:prstGeom>
          <a:noFill/>
        </p:spPr>
        <p:txBody>
          <a:bodyPr wrap="square" rtlCol="0">
            <a:spAutoFit/>
          </a:bodyPr>
          <a:lstStyle/>
          <a:p>
            <a:r>
              <a:rPr lang="en-GB" dirty="0"/>
              <a:t>Your device is connected to a home network.</a:t>
            </a:r>
          </a:p>
          <a:p>
            <a:r>
              <a:rPr lang="en-GB" dirty="0"/>
              <a:t>Connection type: ethernet </a:t>
            </a:r>
          </a:p>
        </p:txBody>
      </p:sp>
      <p:pic>
        <p:nvPicPr>
          <p:cNvPr id="22" name="Picture 21">
            <a:extLst>
              <a:ext uri="{FF2B5EF4-FFF2-40B4-BE49-F238E27FC236}">
                <a16:creationId xmlns:a16="http://schemas.microsoft.com/office/drawing/2014/main" id="{A12F8DE3-18A6-43AA-82BF-A86BDB8F8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209" y="3400646"/>
            <a:ext cx="425302" cy="425302"/>
          </a:xfrm>
          <a:prstGeom prst="rect">
            <a:avLst/>
          </a:prstGeom>
        </p:spPr>
      </p:pic>
      <p:pic>
        <p:nvPicPr>
          <p:cNvPr id="23" name="Picture 22">
            <a:extLst>
              <a:ext uri="{FF2B5EF4-FFF2-40B4-BE49-F238E27FC236}">
                <a16:creationId xmlns:a16="http://schemas.microsoft.com/office/drawing/2014/main" id="{D0AB097B-CFE6-4973-BF0E-2754EA19F6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0857" y="3989423"/>
            <a:ext cx="523654" cy="523654"/>
          </a:xfrm>
          <a:prstGeom prst="rect">
            <a:avLst/>
          </a:prstGeom>
        </p:spPr>
      </p:pic>
      <p:pic>
        <p:nvPicPr>
          <p:cNvPr id="24" name="Picture 23">
            <a:extLst>
              <a:ext uri="{FF2B5EF4-FFF2-40B4-BE49-F238E27FC236}">
                <a16:creationId xmlns:a16="http://schemas.microsoft.com/office/drawing/2014/main" id="{75426EE7-B83B-4F2C-BCC0-3C9910AAF9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76" y="4676993"/>
            <a:ext cx="457200" cy="457200"/>
          </a:xfrm>
          <a:prstGeom prst="rect">
            <a:avLst/>
          </a:prstGeom>
        </p:spPr>
      </p:pic>
      <p:pic>
        <p:nvPicPr>
          <p:cNvPr id="25" name="Picture 24">
            <a:extLst>
              <a:ext uri="{FF2B5EF4-FFF2-40B4-BE49-F238E27FC236}">
                <a16:creationId xmlns:a16="http://schemas.microsoft.com/office/drawing/2014/main" id="{29E6BB92-5825-4DC2-9D78-98CF3C85E0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876" y="5361903"/>
            <a:ext cx="425303" cy="425303"/>
          </a:xfrm>
          <a:prstGeom prst="rect">
            <a:avLst/>
          </a:prstGeom>
        </p:spPr>
      </p:pic>
      <p:sp>
        <p:nvSpPr>
          <p:cNvPr id="26" name="TextBox 25">
            <a:extLst>
              <a:ext uri="{FF2B5EF4-FFF2-40B4-BE49-F238E27FC236}">
                <a16:creationId xmlns:a16="http://schemas.microsoft.com/office/drawing/2014/main" id="{063230D3-7F39-4F3D-887A-D134E252A76B}"/>
              </a:ext>
            </a:extLst>
          </p:cNvPr>
          <p:cNvSpPr txBox="1"/>
          <p:nvPr/>
        </p:nvSpPr>
        <p:spPr>
          <a:xfrm>
            <a:off x="1601088" y="3400646"/>
            <a:ext cx="3055972" cy="646331"/>
          </a:xfrm>
          <a:prstGeom prst="rect">
            <a:avLst/>
          </a:prstGeom>
          <a:noFill/>
        </p:spPr>
        <p:txBody>
          <a:bodyPr wrap="square" rtlCol="0">
            <a:spAutoFit/>
          </a:bodyPr>
          <a:lstStyle/>
          <a:p>
            <a:r>
              <a:rPr lang="en-GB" dirty="0"/>
              <a:t>Computer is connected  via ethernet</a:t>
            </a:r>
          </a:p>
        </p:txBody>
      </p:sp>
      <p:sp>
        <p:nvSpPr>
          <p:cNvPr id="27" name="TextBox 26">
            <a:extLst>
              <a:ext uri="{FF2B5EF4-FFF2-40B4-BE49-F238E27FC236}">
                <a16:creationId xmlns:a16="http://schemas.microsoft.com/office/drawing/2014/main" id="{510AC798-97BE-4125-9948-891CA9BFB4C2}"/>
              </a:ext>
            </a:extLst>
          </p:cNvPr>
          <p:cNvSpPr txBox="1"/>
          <p:nvPr/>
        </p:nvSpPr>
        <p:spPr>
          <a:xfrm>
            <a:off x="1601088" y="4082902"/>
            <a:ext cx="3194196" cy="369332"/>
          </a:xfrm>
          <a:prstGeom prst="rect">
            <a:avLst/>
          </a:prstGeom>
          <a:noFill/>
        </p:spPr>
        <p:txBody>
          <a:bodyPr wrap="square" rtlCol="0">
            <a:spAutoFit/>
          </a:bodyPr>
          <a:lstStyle/>
          <a:p>
            <a:r>
              <a:rPr lang="en-GB" dirty="0"/>
              <a:t>Gateway is enabled </a:t>
            </a:r>
          </a:p>
        </p:txBody>
      </p:sp>
      <p:sp>
        <p:nvSpPr>
          <p:cNvPr id="28" name="TextBox 27">
            <a:extLst>
              <a:ext uri="{FF2B5EF4-FFF2-40B4-BE49-F238E27FC236}">
                <a16:creationId xmlns:a16="http://schemas.microsoft.com/office/drawing/2014/main" id="{9EC98B46-0DA1-48CE-BDC7-5E91314645ED}"/>
              </a:ext>
            </a:extLst>
          </p:cNvPr>
          <p:cNvSpPr txBox="1"/>
          <p:nvPr/>
        </p:nvSpPr>
        <p:spPr>
          <a:xfrm>
            <a:off x="1601088" y="4784651"/>
            <a:ext cx="4193656" cy="369332"/>
          </a:xfrm>
          <a:prstGeom prst="rect">
            <a:avLst/>
          </a:prstGeom>
          <a:noFill/>
        </p:spPr>
        <p:txBody>
          <a:bodyPr wrap="square" rtlCol="0">
            <a:spAutoFit/>
          </a:bodyPr>
          <a:lstStyle/>
          <a:p>
            <a:r>
              <a:rPr lang="en-GB" dirty="0"/>
              <a:t>Home network enabled</a:t>
            </a:r>
          </a:p>
        </p:txBody>
      </p:sp>
      <p:sp>
        <p:nvSpPr>
          <p:cNvPr id="29" name="TextBox 28">
            <a:extLst>
              <a:ext uri="{FF2B5EF4-FFF2-40B4-BE49-F238E27FC236}">
                <a16:creationId xmlns:a16="http://schemas.microsoft.com/office/drawing/2014/main" id="{C95D9B7D-21D4-49FC-9266-9F0E3CC66035}"/>
              </a:ext>
            </a:extLst>
          </p:cNvPr>
          <p:cNvSpPr txBox="1"/>
          <p:nvPr/>
        </p:nvSpPr>
        <p:spPr>
          <a:xfrm>
            <a:off x="1434511" y="5465135"/>
            <a:ext cx="3055972" cy="369332"/>
          </a:xfrm>
          <a:prstGeom prst="rect">
            <a:avLst/>
          </a:prstGeom>
          <a:noFill/>
        </p:spPr>
        <p:txBody>
          <a:bodyPr wrap="square" rtlCol="0">
            <a:spAutoFit/>
          </a:bodyPr>
          <a:lstStyle/>
          <a:p>
            <a:r>
              <a:rPr lang="en-GB" dirty="0"/>
              <a:t>Internet</a:t>
            </a:r>
          </a:p>
        </p:txBody>
      </p:sp>
      <p:pic>
        <p:nvPicPr>
          <p:cNvPr id="31" name="Picture 30">
            <a:extLst>
              <a:ext uri="{FF2B5EF4-FFF2-40B4-BE49-F238E27FC236}">
                <a16:creationId xmlns:a16="http://schemas.microsoft.com/office/drawing/2014/main" id="{5FBA3032-D77A-4261-A1E6-730248DCBD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55068" y="409796"/>
            <a:ext cx="582131" cy="582131"/>
          </a:xfrm>
          <a:prstGeom prst="rect">
            <a:avLst/>
          </a:prstGeom>
        </p:spPr>
      </p:pic>
      <p:cxnSp>
        <p:nvCxnSpPr>
          <p:cNvPr id="33" name="Straight Arrow Connector 32">
            <a:extLst>
              <a:ext uri="{FF2B5EF4-FFF2-40B4-BE49-F238E27FC236}">
                <a16:creationId xmlns:a16="http://schemas.microsoft.com/office/drawing/2014/main" id="{32E26E59-C6E2-43C9-85B0-EFD6D9B71055}"/>
              </a:ext>
            </a:extLst>
          </p:cNvPr>
          <p:cNvCxnSpPr>
            <a:stCxn id="6" idx="0"/>
          </p:cNvCxnSpPr>
          <p:nvPr/>
        </p:nvCxnSpPr>
        <p:spPr>
          <a:xfrm flipV="1">
            <a:off x="1813739" y="829340"/>
            <a:ext cx="1884177" cy="478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B4C67CA-D82F-420D-9868-2308EC9F7B66}"/>
              </a:ext>
            </a:extLst>
          </p:cNvPr>
          <p:cNvCxnSpPr/>
          <p:nvPr/>
        </p:nvCxnSpPr>
        <p:spPr>
          <a:xfrm flipH="1" flipV="1">
            <a:off x="4157330" y="829340"/>
            <a:ext cx="1637414" cy="478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5402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MEMZ</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Whoops! </a:t>
            </a:r>
          </a:p>
          <a:p>
            <a:pPr algn="ctr"/>
            <a:r>
              <a:rPr lang="en-GB" dirty="0"/>
              <a:t>You messed up!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33192721"/>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shreg.wav"/>
          </p:stSnd>
        </p:sndAc>
      </p:transition>
    </mc:Choice>
    <mc:Fallback xmlns="">
      <p:transition spd="slow">
        <p:sndAc>
          <p:stSnd>
            <p:snd r:embed="rId5" name="cashreg.wav"/>
          </p:stSnd>
        </p:sndAc>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Control panel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BDF0FE34-03E1-4A32-AAB3-AA7E96DD8784}"/>
              </a:ext>
            </a:extLst>
          </p:cNvPr>
          <p:cNvSpPr txBox="1"/>
          <p:nvPr/>
        </p:nvSpPr>
        <p:spPr>
          <a:xfrm>
            <a:off x="212651" y="1504571"/>
            <a:ext cx="3147237" cy="369332"/>
          </a:xfrm>
          <a:prstGeom prst="rect">
            <a:avLst/>
          </a:prstGeom>
          <a:noFill/>
        </p:spPr>
        <p:txBody>
          <a:bodyPr wrap="square" rtlCol="0">
            <a:spAutoFit/>
          </a:bodyPr>
          <a:lstStyle/>
          <a:p>
            <a:r>
              <a:rPr lang="en-GB" dirty="0"/>
              <a:t>IE 22.5</a:t>
            </a:r>
          </a:p>
        </p:txBody>
      </p:sp>
      <p:pic>
        <p:nvPicPr>
          <p:cNvPr id="7" name="Picture 6">
            <a:extLst>
              <a:ext uri="{FF2B5EF4-FFF2-40B4-BE49-F238E27FC236}">
                <a16:creationId xmlns:a16="http://schemas.microsoft.com/office/drawing/2014/main" id="{55D3FFA5-9F06-4F27-9EEE-2871D3F40B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339" y="834720"/>
            <a:ext cx="457200" cy="457200"/>
          </a:xfrm>
          <a:prstGeom prst="rect">
            <a:avLst/>
          </a:prstGeom>
        </p:spPr>
      </p:pic>
      <p:sp>
        <p:nvSpPr>
          <p:cNvPr id="8" name="TextBox 7">
            <a:extLst>
              <a:ext uri="{FF2B5EF4-FFF2-40B4-BE49-F238E27FC236}">
                <a16:creationId xmlns:a16="http://schemas.microsoft.com/office/drawing/2014/main" id="{020D144A-D8C1-4790-8F1C-BC539D10D067}"/>
              </a:ext>
            </a:extLst>
          </p:cNvPr>
          <p:cNvSpPr txBox="1"/>
          <p:nvPr/>
        </p:nvSpPr>
        <p:spPr>
          <a:xfrm>
            <a:off x="1658679" y="1392865"/>
            <a:ext cx="2700670" cy="369332"/>
          </a:xfrm>
          <a:prstGeom prst="rect">
            <a:avLst/>
          </a:prstGeom>
          <a:noFill/>
        </p:spPr>
        <p:txBody>
          <a:bodyPr wrap="square" rtlCol="0">
            <a:spAutoFit/>
          </a:bodyPr>
          <a:lstStyle/>
          <a:p>
            <a:r>
              <a:rPr lang="en-GB" dirty="0"/>
              <a:t>users</a:t>
            </a:r>
          </a:p>
        </p:txBody>
      </p:sp>
      <p:pic>
        <p:nvPicPr>
          <p:cNvPr id="9" name="Picture 8">
            <a:hlinkClick r:id="rId4" action="ppaction://hlinksldjump"/>
            <a:extLst>
              <a:ext uri="{FF2B5EF4-FFF2-40B4-BE49-F238E27FC236}">
                <a16:creationId xmlns:a16="http://schemas.microsoft.com/office/drawing/2014/main" id="{4586A2A6-710D-4A1A-AFB6-27C6C17A60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9014" y="801493"/>
            <a:ext cx="523654" cy="523654"/>
          </a:xfrm>
          <a:prstGeom prst="rect">
            <a:avLst/>
          </a:prstGeom>
        </p:spPr>
      </p:pic>
      <p:sp>
        <p:nvSpPr>
          <p:cNvPr id="10" name="TextBox 9">
            <a:extLst>
              <a:ext uri="{FF2B5EF4-FFF2-40B4-BE49-F238E27FC236}">
                <a16:creationId xmlns:a16="http://schemas.microsoft.com/office/drawing/2014/main" id="{07AE0D37-463B-4253-AFF0-635804A5D1CA}"/>
              </a:ext>
            </a:extLst>
          </p:cNvPr>
          <p:cNvSpPr txBox="1"/>
          <p:nvPr/>
        </p:nvSpPr>
        <p:spPr>
          <a:xfrm>
            <a:off x="3009014" y="1392865"/>
            <a:ext cx="1350335" cy="369332"/>
          </a:xfrm>
          <a:prstGeom prst="rect">
            <a:avLst/>
          </a:prstGeom>
          <a:noFill/>
        </p:spPr>
        <p:txBody>
          <a:bodyPr wrap="square" rtlCol="0">
            <a:spAutoFit/>
          </a:bodyPr>
          <a:lstStyle/>
          <a:p>
            <a:r>
              <a:rPr lang="en-GB" dirty="0"/>
              <a:t>programs</a:t>
            </a:r>
          </a:p>
        </p:txBody>
      </p:sp>
      <p:pic>
        <p:nvPicPr>
          <p:cNvPr id="12" name="Picture 11">
            <a:extLst>
              <a:ext uri="{FF2B5EF4-FFF2-40B4-BE49-F238E27FC236}">
                <a16:creationId xmlns:a16="http://schemas.microsoft.com/office/drawing/2014/main" id="{70456078-5122-42EC-820A-02E55DE582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0596" y="660136"/>
            <a:ext cx="609600" cy="609600"/>
          </a:xfrm>
          <a:prstGeom prst="rect">
            <a:avLst/>
          </a:prstGeom>
        </p:spPr>
      </p:pic>
      <p:sp>
        <p:nvSpPr>
          <p:cNvPr id="13" name="TextBox 12">
            <a:extLst>
              <a:ext uri="{FF2B5EF4-FFF2-40B4-BE49-F238E27FC236}">
                <a16:creationId xmlns:a16="http://schemas.microsoft.com/office/drawing/2014/main" id="{1B9196D1-846D-49FF-9ED9-3BA9415F2799}"/>
              </a:ext>
            </a:extLst>
          </p:cNvPr>
          <p:cNvSpPr txBox="1"/>
          <p:nvPr/>
        </p:nvSpPr>
        <p:spPr>
          <a:xfrm>
            <a:off x="4603898" y="1504571"/>
            <a:ext cx="2615609" cy="369332"/>
          </a:xfrm>
          <a:prstGeom prst="rect">
            <a:avLst/>
          </a:prstGeom>
          <a:noFill/>
        </p:spPr>
        <p:txBody>
          <a:bodyPr wrap="square" rtlCol="0">
            <a:spAutoFit/>
          </a:bodyPr>
          <a:lstStyle/>
          <a:p>
            <a:r>
              <a:rPr lang="en-GB" dirty="0"/>
              <a:t>explorer</a:t>
            </a:r>
          </a:p>
        </p:txBody>
      </p:sp>
      <p:pic>
        <p:nvPicPr>
          <p:cNvPr id="14" name="Picture 13">
            <a:hlinkClick r:id="rId7" action="ppaction://hlinksldjump"/>
            <a:extLst>
              <a:ext uri="{FF2B5EF4-FFF2-40B4-BE49-F238E27FC236}">
                <a16:creationId xmlns:a16="http://schemas.microsoft.com/office/drawing/2014/main" id="{6C61849D-F2F2-4E36-943A-CF79F95A7B4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12707" y="696432"/>
            <a:ext cx="425303" cy="425303"/>
          </a:xfrm>
          <a:prstGeom prst="rect">
            <a:avLst/>
          </a:prstGeom>
        </p:spPr>
      </p:pic>
      <p:sp>
        <p:nvSpPr>
          <p:cNvPr id="11" name="TextBox 10">
            <a:extLst>
              <a:ext uri="{FF2B5EF4-FFF2-40B4-BE49-F238E27FC236}">
                <a16:creationId xmlns:a16="http://schemas.microsoft.com/office/drawing/2014/main" id="{7DF242FB-528C-4579-901A-2D120497CB32}"/>
              </a:ext>
            </a:extLst>
          </p:cNvPr>
          <p:cNvSpPr txBox="1"/>
          <p:nvPr/>
        </p:nvSpPr>
        <p:spPr>
          <a:xfrm>
            <a:off x="5837274" y="1269736"/>
            <a:ext cx="2317898" cy="369332"/>
          </a:xfrm>
          <a:prstGeom prst="rect">
            <a:avLst/>
          </a:prstGeom>
          <a:noFill/>
        </p:spPr>
        <p:txBody>
          <a:bodyPr wrap="square" rtlCol="0">
            <a:spAutoFit/>
          </a:bodyPr>
          <a:lstStyle/>
          <a:p>
            <a:r>
              <a:rPr lang="en-GB" dirty="0"/>
              <a:t>Internet</a:t>
            </a:r>
          </a:p>
        </p:txBody>
      </p:sp>
      <p:pic>
        <p:nvPicPr>
          <p:cNvPr id="15" name="Picture 14">
            <a:hlinkClick r:id="rId9" action="ppaction://hlinksldjump"/>
            <a:extLst>
              <a:ext uri="{FF2B5EF4-FFF2-40B4-BE49-F238E27FC236}">
                <a16:creationId xmlns:a16="http://schemas.microsoft.com/office/drawing/2014/main" id="{BDE46CC6-FD78-4F16-A609-54F83D357C1C}"/>
              </a:ext>
            </a:extLst>
          </p:cNvPr>
          <p:cNvPicPr>
            <a:picLocks noChangeAspect="1"/>
          </p:cNvPicPr>
          <p:nvPr/>
        </p:nvPicPr>
        <p:blipFill>
          <a:blip r:embed="rId10">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266150" y="590043"/>
            <a:ext cx="924054" cy="914528"/>
          </a:xfrm>
          <a:prstGeom prst="rect">
            <a:avLst/>
          </a:prstGeom>
        </p:spPr>
      </p:pic>
    </p:spTree>
    <p:extLst>
      <p:ext uri="{BB962C8B-B14F-4D97-AF65-F5344CB8AC3E}">
        <p14:creationId xmlns:p14="http://schemas.microsoft.com/office/powerpoint/2010/main" val="11707844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pic>
        <p:nvPicPr>
          <p:cNvPr id="8" name="Picture 7">
            <a:extLst>
              <a:ext uri="{FF2B5EF4-FFF2-40B4-BE49-F238E27FC236}">
                <a16:creationId xmlns:a16="http://schemas.microsoft.com/office/drawing/2014/main" id="{0240D35A-A509-4FBF-A637-D89F1E9597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1718444"/>
            <a:ext cx="457200" cy="457200"/>
          </a:xfrm>
          <a:prstGeom prst="rect">
            <a:avLst/>
          </a:prstGeom>
        </p:spPr>
      </p:pic>
      <p:pic>
        <p:nvPicPr>
          <p:cNvPr id="9" name="Picture 8">
            <a:extLst>
              <a:ext uri="{FF2B5EF4-FFF2-40B4-BE49-F238E27FC236}">
                <a16:creationId xmlns:a16="http://schemas.microsoft.com/office/drawing/2014/main" id="{A4E94A12-28C8-46D8-8761-F318C7A8F5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99" y="3829736"/>
            <a:ext cx="457200" cy="457200"/>
          </a:xfrm>
          <a:prstGeom prst="rect">
            <a:avLst/>
          </a:prstGeom>
        </p:spPr>
      </p:pic>
      <p:pic>
        <p:nvPicPr>
          <p:cNvPr id="10" name="Picture 9">
            <a:extLst>
              <a:ext uri="{FF2B5EF4-FFF2-40B4-BE49-F238E27FC236}">
                <a16:creationId xmlns:a16="http://schemas.microsoft.com/office/drawing/2014/main" id="{39838E19-DC10-449D-9BE5-1CB8924470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99" y="2634860"/>
            <a:ext cx="457200" cy="457200"/>
          </a:xfrm>
          <a:prstGeom prst="rect">
            <a:avLst/>
          </a:prstGeom>
        </p:spPr>
      </p:pic>
      <p:sp>
        <p:nvSpPr>
          <p:cNvPr id="11" name="TextBox 10">
            <a:extLst>
              <a:ext uri="{FF2B5EF4-FFF2-40B4-BE49-F238E27FC236}">
                <a16:creationId xmlns:a16="http://schemas.microsoft.com/office/drawing/2014/main" id="{C827AF10-AE24-43D4-91F9-BBBAC811EFCD}"/>
              </a:ext>
            </a:extLst>
          </p:cNvPr>
          <p:cNvSpPr txBox="1"/>
          <p:nvPr/>
        </p:nvSpPr>
        <p:spPr>
          <a:xfrm>
            <a:off x="949199" y="1718444"/>
            <a:ext cx="4069368" cy="646331"/>
          </a:xfrm>
          <a:prstGeom prst="rect">
            <a:avLst/>
          </a:prstGeom>
          <a:noFill/>
        </p:spPr>
        <p:txBody>
          <a:bodyPr wrap="square" rtlCol="0">
            <a:spAutoFit/>
          </a:bodyPr>
          <a:lstStyle/>
          <a:p>
            <a:r>
              <a:rPr lang="en-GB" dirty="0"/>
              <a:t>username; current user; standard user; default</a:t>
            </a:r>
          </a:p>
        </p:txBody>
      </p:sp>
      <p:sp>
        <p:nvSpPr>
          <p:cNvPr id="12" name="TextBox 11">
            <a:extLst>
              <a:ext uri="{FF2B5EF4-FFF2-40B4-BE49-F238E27FC236}">
                <a16:creationId xmlns:a16="http://schemas.microsoft.com/office/drawing/2014/main" id="{16E10FD4-2772-4007-92EC-18059DB99C1F}"/>
              </a:ext>
            </a:extLst>
          </p:cNvPr>
          <p:cNvSpPr txBox="1"/>
          <p:nvPr/>
        </p:nvSpPr>
        <p:spPr>
          <a:xfrm>
            <a:off x="1105786" y="2634860"/>
            <a:ext cx="4065182" cy="369332"/>
          </a:xfrm>
          <a:prstGeom prst="rect">
            <a:avLst/>
          </a:prstGeom>
          <a:noFill/>
        </p:spPr>
        <p:txBody>
          <a:bodyPr wrap="square" rtlCol="0">
            <a:spAutoFit/>
          </a:bodyPr>
          <a:lstStyle/>
          <a:p>
            <a:r>
              <a:rPr lang="en-GB" dirty="0"/>
              <a:t>Administrator; admin; system</a:t>
            </a:r>
          </a:p>
        </p:txBody>
      </p:sp>
      <p:sp>
        <p:nvSpPr>
          <p:cNvPr id="13" name="TextBox 12">
            <a:extLst>
              <a:ext uri="{FF2B5EF4-FFF2-40B4-BE49-F238E27FC236}">
                <a16:creationId xmlns:a16="http://schemas.microsoft.com/office/drawing/2014/main" id="{7E8C46AE-3622-4828-A501-89041232D820}"/>
              </a:ext>
            </a:extLst>
          </p:cNvPr>
          <p:cNvSpPr txBox="1"/>
          <p:nvPr/>
        </p:nvSpPr>
        <p:spPr>
          <a:xfrm>
            <a:off x="1031358" y="3753293"/>
            <a:ext cx="4065182" cy="369332"/>
          </a:xfrm>
          <a:prstGeom prst="rect">
            <a:avLst/>
          </a:prstGeom>
          <a:noFill/>
        </p:spPr>
        <p:txBody>
          <a:bodyPr wrap="square" rtlCol="0">
            <a:spAutoFit/>
          </a:bodyPr>
          <a:lstStyle/>
          <a:p>
            <a:r>
              <a:rPr lang="en-GB" dirty="0"/>
              <a:t>SYSTEM, power user; system</a:t>
            </a:r>
          </a:p>
        </p:txBody>
      </p:sp>
      <p:sp>
        <p:nvSpPr>
          <p:cNvPr id="14" name="Rectangle 13">
            <a:extLst>
              <a:ext uri="{FF2B5EF4-FFF2-40B4-BE49-F238E27FC236}">
                <a16:creationId xmlns:a16="http://schemas.microsoft.com/office/drawing/2014/main" id="{3D8E6675-AB0E-4668-AE84-CB8C24AD0209}"/>
              </a:ext>
            </a:extLst>
          </p:cNvPr>
          <p:cNvSpPr/>
          <p:nvPr/>
        </p:nvSpPr>
        <p:spPr>
          <a:xfrm>
            <a:off x="381000" y="4561367"/>
            <a:ext cx="4318591" cy="949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Only admins can manage user accounts! </a:t>
            </a:r>
          </a:p>
        </p:txBody>
      </p:sp>
    </p:spTree>
    <p:extLst>
      <p:ext uri="{BB962C8B-B14F-4D97-AF65-F5344CB8AC3E}">
        <p14:creationId xmlns:p14="http://schemas.microsoft.com/office/powerpoint/2010/main" val="34263557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 22.5</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9" name="TextBox 8">
            <a:extLst>
              <a:ext uri="{FF2B5EF4-FFF2-40B4-BE49-F238E27FC236}">
                <a16:creationId xmlns:a16="http://schemas.microsoft.com/office/drawing/2014/main" id="{79DCDE18-D70F-4F44-AC65-7CFCB1A0E56E}"/>
              </a:ext>
            </a:extLst>
          </p:cNvPr>
          <p:cNvSpPr txBox="1"/>
          <p:nvPr/>
        </p:nvSpPr>
        <p:spPr>
          <a:xfrm>
            <a:off x="1147827" y="1637414"/>
            <a:ext cx="3944678" cy="369332"/>
          </a:xfrm>
          <a:prstGeom prst="rect">
            <a:avLst/>
          </a:prstGeom>
          <a:noFill/>
        </p:spPr>
        <p:txBody>
          <a:bodyPr wrap="square" rtlCol="0">
            <a:spAutoFit/>
          </a:bodyPr>
          <a:lstStyle/>
          <a:p>
            <a:r>
              <a:rPr lang="en-GB" dirty="0"/>
              <a:t>Internet Explorer 23</a:t>
            </a:r>
          </a:p>
        </p:txBody>
      </p:sp>
      <p:sp>
        <p:nvSpPr>
          <p:cNvPr id="10" name="TextBox 9">
            <a:extLst>
              <a:ext uri="{FF2B5EF4-FFF2-40B4-BE49-F238E27FC236}">
                <a16:creationId xmlns:a16="http://schemas.microsoft.com/office/drawing/2014/main" id="{79BD29D3-072B-4875-BE49-42AB805F96CB}"/>
              </a:ext>
            </a:extLst>
          </p:cNvPr>
          <p:cNvSpPr txBox="1"/>
          <p:nvPr/>
        </p:nvSpPr>
        <p:spPr>
          <a:xfrm>
            <a:off x="287079" y="2636874"/>
            <a:ext cx="4883889" cy="1754326"/>
          </a:xfrm>
          <a:prstGeom prst="rect">
            <a:avLst/>
          </a:prstGeom>
          <a:noFill/>
        </p:spPr>
        <p:txBody>
          <a:bodyPr wrap="square" rtlCol="0">
            <a:spAutoFit/>
          </a:bodyPr>
          <a:lstStyle/>
          <a:p>
            <a:r>
              <a:rPr lang="en-GB" dirty="0"/>
              <a:t>Web protection 1.0 is OFF</a:t>
            </a:r>
          </a:p>
          <a:p>
            <a:r>
              <a:rPr lang="en-GB" dirty="0"/>
              <a:t>Web protection 2.0 is OFF</a:t>
            </a:r>
          </a:p>
          <a:p>
            <a:r>
              <a:rPr lang="en-GB" dirty="0"/>
              <a:t>Firewall is ON</a:t>
            </a:r>
          </a:p>
          <a:p>
            <a:r>
              <a:rPr lang="en-GB" dirty="0"/>
              <a:t>Pop up blocker ON without pop ups</a:t>
            </a:r>
          </a:p>
          <a:p>
            <a:r>
              <a:rPr lang="en-GB" dirty="0"/>
              <a:t>Up to date browser.</a:t>
            </a:r>
          </a:p>
          <a:p>
            <a:r>
              <a:rPr lang="en-GB" dirty="0"/>
              <a:t>22.5.0.1.12.16</a:t>
            </a:r>
          </a:p>
        </p:txBody>
      </p:sp>
      <p:sp>
        <p:nvSpPr>
          <p:cNvPr id="11" name="Rectangle 10">
            <a:extLst>
              <a:ext uri="{FF2B5EF4-FFF2-40B4-BE49-F238E27FC236}">
                <a16:creationId xmlns:a16="http://schemas.microsoft.com/office/drawing/2014/main" id="{179D9C05-CD8C-4FA9-AB23-6732DBEB6377}"/>
              </a:ext>
            </a:extLst>
          </p:cNvPr>
          <p:cNvSpPr/>
          <p:nvPr/>
        </p:nvSpPr>
        <p:spPr>
          <a:xfrm>
            <a:off x="361507" y="4625163"/>
            <a:ext cx="4730998" cy="127590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reinstall IE22.5 in order to change the settings! </a:t>
            </a:r>
          </a:p>
        </p:txBody>
      </p:sp>
      <p:pic>
        <p:nvPicPr>
          <p:cNvPr id="12" name="Picture 11">
            <a:hlinkClick r:id="rId5" action="ppaction://hlinksldjump"/>
            <a:extLst>
              <a:ext uri="{FF2B5EF4-FFF2-40B4-BE49-F238E27FC236}">
                <a16:creationId xmlns:a16="http://schemas.microsoft.com/office/drawing/2014/main" id="{F0DCEE6A-46E0-4B8A-9D82-CD01D336DA3C}"/>
              </a:ext>
            </a:extLst>
          </p:cNvPr>
          <p:cNvPicPr>
            <a:picLocks noChangeAspect="1"/>
          </p:cNvPicPr>
          <p:nvPr/>
        </p:nvPicPr>
        <p:blipFill>
          <a:blip r:embed="rId6">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47573" y="1477928"/>
            <a:ext cx="924054" cy="914528"/>
          </a:xfrm>
          <a:prstGeom prst="rect">
            <a:avLst/>
          </a:prstGeom>
        </p:spPr>
      </p:pic>
    </p:spTree>
    <p:extLst>
      <p:ext uri="{BB962C8B-B14F-4D97-AF65-F5344CB8AC3E}">
        <p14:creationId xmlns:p14="http://schemas.microsoft.com/office/powerpoint/2010/main" val="3589592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Programs and features</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Installed app list: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8" name="TextBox 7">
            <a:extLst>
              <a:ext uri="{FF2B5EF4-FFF2-40B4-BE49-F238E27FC236}">
                <a16:creationId xmlns:a16="http://schemas.microsoft.com/office/drawing/2014/main" id="{3C3C14AF-1305-4630-A03E-39E3A33BF1D9}"/>
              </a:ext>
            </a:extLst>
          </p:cNvPr>
          <p:cNvSpPr txBox="1"/>
          <p:nvPr/>
        </p:nvSpPr>
        <p:spPr>
          <a:xfrm>
            <a:off x="350874" y="2158409"/>
            <a:ext cx="4820094" cy="2031325"/>
          </a:xfrm>
          <a:prstGeom prst="rect">
            <a:avLst/>
          </a:prstGeom>
          <a:noFill/>
        </p:spPr>
        <p:txBody>
          <a:bodyPr wrap="square" rtlCol="0">
            <a:spAutoFit/>
          </a:bodyPr>
          <a:lstStyle/>
          <a:p>
            <a:r>
              <a:rPr lang="en-GB" dirty="0"/>
              <a:t>No apps installed by users</a:t>
            </a:r>
          </a:p>
          <a:p>
            <a:endParaRPr lang="en-GB" dirty="0"/>
          </a:p>
          <a:p>
            <a:r>
              <a:rPr lang="en-GB" dirty="0">
                <a:hlinkClick r:id="rId5" action="ppaction://hlinksldjump"/>
              </a:rPr>
              <a:t>Show all apps</a:t>
            </a:r>
            <a:endParaRPr lang="en-GB" dirty="0"/>
          </a:p>
          <a:p>
            <a:endParaRPr lang="en-GB" dirty="0"/>
          </a:p>
          <a:p>
            <a:r>
              <a:rPr lang="en-GB" dirty="0">
                <a:hlinkClick r:id="rId6" action="ppaction://hlinksldjump"/>
              </a:rPr>
              <a:t>Manage system apps</a:t>
            </a:r>
          </a:p>
          <a:p>
            <a:endParaRPr lang="en-GB" dirty="0">
              <a:hlinkClick r:id="rId6" action="ppaction://hlinksldjump"/>
            </a:endParaRPr>
          </a:p>
          <a:p>
            <a:r>
              <a:rPr lang="en-GB" dirty="0">
                <a:hlinkClick r:id="rId6" action="ppaction://hlinksldjump"/>
              </a:rPr>
              <a:t>Install an app</a:t>
            </a:r>
            <a:endParaRPr lang="en-GB" dirty="0"/>
          </a:p>
        </p:txBody>
      </p:sp>
    </p:spTree>
    <p:extLst>
      <p:ext uri="{BB962C8B-B14F-4D97-AF65-F5344CB8AC3E}">
        <p14:creationId xmlns:p14="http://schemas.microsoft.com/office/powerpoint/2010/main" val="22412834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settings</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8" name="TextBox 7">
            <a:extLst>
              <a:ext uri="{FF2B5EF4-FFF2-40B4-BE49-F238E27FC236}">
                <a16:creationId xmlns:a16="http://schemas.microsoft.com/office/drawing/2014/main" id="{EC9348AA-BEC7-40CD-8BE7-B8278B348280}"/>
              </a:ext>
            </a:extLst>
          </p:cNvPr>
          <p:cNvSpPr txBox="1"/>
          <p:nvPr/>
        </p:nvSpPr>
        <p:spPr>
          <a:xfrm>
            <a:off x="0" y="1541721"/>
            <a:ext cx="5316278" cy="2031325"/>
          </a:xfrm>
          <a:prstGeom prst="rect">
            <a:avLst/>
          </a:prstGeom>
          <a:noFill/>
        </p:spPr>
        <p:txBody>
          <a:bodyPr wrap="square" rtlCol="0">
            <a:spAutoFit/>
          </a:bodyPr>
          <a:lstStyle/>
          <a:p>
            <a:r>
              <a:rPr lang="en-GB" dirty="0"/>
              <a:t>Ha</a:t>
            </a:r>
          </a:p>
          <a:p>
            <a:r>
              <a:rPr lang="en-GB" dirty="0"/>
              <a:t>Only da admin can see zis</a:t>
            </a:r>
          </a:p>
          <a:p>
            <a:r>
              <a:rPr lang="en-GB" dirty="0"/>
              <a:t>Ha</a:t>
            </a:r>
          </a:p>
          <a:p>
            <a:r>
              <a:rPr lang="en-GB" dirty="0"/>
              <a:t>Ha</a:t>
            </a:r>
          </a:p>
          <a:p>
            <a:r>
              <a:rPr lang="en-GB" dirty="0"/>
              <a:t>Ha</a:t>
            </a:r>
          </a:p>
          <a:p>
            <a:r>
              <a:rPr lang="en-GB" dirty="0"/>
              <a:t>U doomed</a:t>
            </a:r>
          </a:p>
          <a:p>
            <a:r>
              <a:rPr lang="en-GB" dirty="0"/>
              <a:t>Pls h3lp m3 d3str0y m1cr0$0ft 4nd 3nd IE22.5 </a:t>
            </a:r>
          </a:p>
        </p:txBody>
      </p:sp>
    </p:spTree>
    <p:extLst>
      <p:ext uri="{BB962C8B-B14F-4D97-AF65-F5344CB8AC3E}">
        <p14:creationId xmlns:p14="http://schemas.microsoft.com/office/powerpoint/2010/main" val="515549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1348517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43986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
        <p:nvSpPr>
          <p:cNvPr id="5" name="TextBox 4">
            <a:extLst>
              <a:ext uri="{FF2B5EF4-FFF2-40B4-BE49-F238E27FC236}">
                <a16:creationId xmlns:a16="http://schemas.microsoft.com/office/drawing/2014/main" id="{99BAD984-DEEA-4611-8830-BF4F25EA2844}"/>
              </a:ext>
            </a:extLst>
          </p:cNvPr>
          <p:cNvSpPr txBox="1"/>
          <p:nvPr/>
        </p:nvSpPr>
        <p:spPr>
          <a:xfrm>
            <a:off x="255181" y="659219"/>
            <a:ext cx="9253870" cy="1200329"/>
          </a:xfrm>
          <a:prstGeom prst="rect">
            <a:avLst/>
          </a:prstGeom>
          <a:noFill/>
        </p:spPr>
        <p:txBody>
          <a:bodyPr wrap="square" rtlCol="0">
            <a:spAutoFit/>
          </a:bodyPr>
          <a:lstStyle/>
          <a:p>
            <a:r>
              <a:rPr lang="en-GB" dirty="0"/>
              <a:t>Welcome to Windos 98, a parody of Windows!</a:t>
            </a:r>
          </a:p>
          <a:p>
            <a:r>
              <a:rPr lang="en-GB" dirty="0"/>
              <a:t>This OS is just for the fun of it, so do as you wish!</a:t>
            </a:r>
          </a:p>
          <a:p>
            <a:r>
              <a:rPr lang="en-GB" dirty="0"/>
              <a:t>It was made by one person using PowerPoint. </a:t>
            </a:r>
          </a:p>
          <a:p>
            <a:r>
              <a:rPr lang="en-GB" dirty="0"/>
              <a:t>Ok, enough rambling. Let’s learn about how to use it. </a:t>
            </a:r>
          </a:p>
        </p:txBody>
      </p:sp>
    </p:spTree>
    <p:extLst>
      <p:ext uri="{BB962C8B-B14F-4D97-AF65-F5344CB8AC3E}">
        <p14:creationId xmlns:p14="http://schemas.microsoft.com/office/powerpoint/2010/main" val="432262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87C7B004-06D2-4608-9B40-F052652CFE4F}"/>
              </a:ext>
            </a:extLst>
          </p:cNvPr>
          <p:cNvSpPr/>
          <p:nvPr/>
        </p:nvSpPr>
        <p:spPr>
          <a:xfrm>
            <a:off x="2488019" y="2286000"/>
            <a:ext cx="4114800" cy="925033"/>
          </a:xfrm>
          <a:prstGeom prst="wedgeRectCallout">
            <a:avLst>
              <a:gd name="adj1" fmla="val 53519"/>
              <a:gd name="adj2" fmla="val -2667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title bar tells you where in the system you are. read it. It might be handy to know if you were redirected. </a:t>
            </a:r>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42485366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
        <p:nvSpPr>
          <p:cNvPr id="3" name="TextBox 2">
            <a:extLst>
              <a:ext uri="{FF2B5EF4-FFF2-40B4-BE49-F238E27FC236}">
                <a16:creationId xmlns:a16="http://schemas.microsoft.com/office/drawing/2014/main" id="{866244AE-FAEC-4218-BB2A-C5646C84EFBD}"/>
              </a:ext>
            </a:extLst>
          </p:cNvPr>
          <p:cNvSpPr txBox="1"/>
          <p:nvPr/>
        </p:nvSpPr>
        <p:spPr>
          <a:xfrm>
            <a:off x="340242" y="1541721"/>
            <a:ext cx="8282763" cy="923330"/>
          </a:xfrm>
          <a:prstGeom prst="rect">
            <a:avLst/>
          </a:prstGeom>
          <a:noFill/>
        </p:spPr>
        <p:txBody>
          <a:bodyPr wrap="square" rtlCol="0">
            <a:spAutoFit/>
          </a:bodyPr>
          <a:lstStyle/>
          <a:p>
            <a:r>
              <a:rPr lang="en-GB" dirty="0"/>
              <a:t>Buttons are there to help you move around.</a:t>
            </a:r>
          </a:p>
          <a:p>
            <a:r>
              <a:rPr lang="en-GB" dirty="0"/>
              <a:t>All you need is a mouse and you need to look out for what your mouse looks like when you hover over the next button. This varies by OS, but you should recognise it. </a:t>
            </a:r>
          </a:p>
        </p:txBody>
      </p:sp>
    </p:spTree>
    <p:extLst>
      <p:ext uri="{BB962C8B-B14F-4D97-AF65-F5344CB8AC3E}">
        <p14:creationId xmlns:p14="http://schemas.microsoft.com/office/powerpoint/2010/main" val="20534007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3" name="Speech Bubble: Rectangle 2">
            <a:extLst>
              <a:ext uri="{FF2B5EF4-FFF2-40B4-BE49-F238E27FC236}">
                <a16:creationId xmlns:a16="http://schemas.microsoft.com/office/drawing/2014/main" id="{476E9F51-6F1D-46E1-878E-0D5216BF24D4}"/>
              </a:ext>
            </a:extLst>
          </p:cNvPr>
          <p:cNvSpPr/>
          <p:nvPr/>
        </p:nvSpPr>
        <p:spPr>
          <a:xfrm>
            <a:off x="3359888" y="1531088"/>
            <a:ext cx="5475768" cy="3306726"/>
          </a:xfrm>
          <a:prstGeom prst="wedgeRectCallout">
            <a:avLst>
              <a:gd name="adj1" fmla="val -34814"/>
              <a:gd name="adj2" fmla="val 978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the taskbar. This lets you open the start menu and interact with the icons on the right.  </a:t>
            </a:r>
          </a:p>
        </p:txBody>
      </p:sp>
    </p:spTree>
    <p:extLst>
      <p:ext uri="{BB962C8B-B14F-4D97-AF65-F5344CB8AC3E}">
        <p14:creationId xmlns:p14="http://schemas.microsoft.com/office/powerpoint/2010/main" val="17863204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291112A0-4B1F-4F8C-9BDC-BBBCD346C367}"/>
              </a:ext>
            </a:extLst>
          </p:cNvPr>
          <p:cNvSpPr/>
          <p:nvPr/>
        </p:nvSpPr>
        <p:spPr>
          <a:xfrm>
            <a:off x="6921795" y="1977656"/>
            <a:ext cx="4019107" cy="2860158"/>
          </a:xfrm>
          <a:prstGeom prst="wedgeRectCallout">
            <a:avLst>
              <a:gd name="adj1" fmla="val 22818"/>
              <a:gd name="adj2" fmla="val 862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are the icons I was talking about.</a:t>
            </a:r>
          </a:p>
          <a:p>
            <a:pPr algn="ctr"/>
            <a:r>
              <a:rPr lang="en-GB" dirty="0"/>
              <a:t>Click on one to access the corresponding element. This is as of beta 3 by the way, so there may be more icons than this. </a:t>
            </a:r>
          </a:p>
        </p:txBody>
      </p:sp>
    </p:spTree>
    <p:extLst>
      <p:ext uri="{BB962C8B-B14F-4D97-AF65-F5344CB8AC3E}">
        <p14:creationId xmlns:p14="http://schemas.microsoft.com/office/powerpoint/2010/main" val="400434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E5D67259-6605-49A9-AB8D-B15DF64CC6F9}"/>
              </a:ext>
            </a:extLst>
          </p:cNvPr>
          <p:cNvSpPr/>
          <p:nvPr/>
        </p:nvSpPr>
        <p:spPr>
          <a:xfrm>
            <a:off x="6900530" y="2700670"/>
            <a:ext cx="3636335" cy="2328530"/>
          </a:xfrm>
          <a:prstGeom prst="wedgeRectCallout">
            <a:avLst>
              <a:gd name="adj1" fmla="val 8114"/>
              <a:gd name="adj2" fmla="val 1040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takes you to All Apps. From there you can see all the apps installed on the OS. There are not many as of beta 3 but there will be more! </a:t>
            </a:r>
          </a:p>
        </p:txBody>
      </p:sp>
    </p:spTree>
    <p:extLst>
      <p:ext uri="{BB962C8B-B14F-4D97-AF65-F5344CB8AC3E}">
        <p14:creationId xmlns:p14="http://schemas.microsoft.com/office/powerpoint/2010/main" val="32172243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18420"/>
              <a:gd name="adj2" fmla="val 768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icon does nothing as of beta 3, but it will open a volume mixer!</a:t>
            </a:r>
          </a:p>
          <a:p>
            <a:pPr algn="ctr"/>
            <a:r>
              <a:rPr lang="en-GB" dirty="0"/>
              <a:t>Click on it to open a volume mixer in future releases.  </a:t>
            </a:r>
          </a:p>
        </p:txBody>
      </p:sp>
    </p:spTree>
    <p:extLst>
      <p:ext uri="{BB962C8B-B14F-4D97-AF65-F5344CB8AC3E}">
        <p14:creationId xmlns:p14="http://schemas.microsoft.com/office/powerpoint/2010/main" val="496422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38046"/>
              <a:gd name="adj2" fmla="val 740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icon indicates that you are on a home network. Open it to go to the Home Network Manager. </a:t>
            </a:r>
          </a:p>
        </p:txBody>
      </p:sp>
    </p:spTree>
    <p:extLst>
      <p:ext uri="{BB962C8B-B14F-4D97-AF65-F5344CB8AC3E}">
        <p14:creationId xmlns:p14="http://schemas.microsoft.com/office/powerpoint/2010/main" val="36316226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52238"/>
              <a:gd name="adj2" fmla="val 726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action centre is a place to see what security issues you may have. It is an X because some settings are poorly configured. </a:t>
            </a:r>
          </a:p>
        </p:txBody>
      </p:sp>
    </p:spTree>
    <p:extLst>
      <p:ext uri="{BB962C8B-B14F-4D97-AF65-F5344CB8AC3E}">
        <p14:creationId xmlns:p14="http://schemas.microsoft.com/office/powerpoint/2010/main" val="25216553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77601"/>
              <a:gd name="adj2" fmla="val 828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opens the web browser, Internet Explorer 23. you can view websites added on to the OS. </a:t>
            </a:r>
          </a:p>
        </p:txBody>
      </p:sp>
    </p:spTree>
    <p:extLst>
      <p:ext uri="{BB962C8B-B14F-4D97-AF65-F5344CB8AC3E}">
        <p14:creationId xmlns:p14="http://schemas.microsoft.com/office/powerpoint/2010/main" val="11564911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pic>
        <p:nvPicPr>
          <p:cNvPr id="14" name="Picture 13">
            <a:extLst>
              <a:ext uri="{FF2B5EF4-FFF2-40B4-BE49-F238E27FC236}">
                <a16:creationId xmlns:a16="http://schemas.microsoft.com/office/drawing/2014/main" id="{365AAB9B-0691-47A1-AE77-709BAC0A1E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33800" y="4473649"/>
            <a:ext cx="1905000" cy="1257300"/>
          </a:xfrm>
          <a:prstGeom prst="rect">
            <a:avLst/>
          </a:prstGeom>
        </p:spPr>
      </p:pic>
      <p:sp>
        <p:nvSpPr>
          <p:cNvPr id="3" name="Speech Bubble: Rectangle 2">
            <a:extLst>
              <a:ext uri="{FF2B5EF4-FFF2-40B4-BE49-F238E27FC236}">
                <a16:creationId xmlns:a16="http://schemas.microsoft.com/office/drawing/2014/main" id="{91CCC154-D6AC-4DB1-B5FD-38C26D49FFB4}"/>
              </a:ext>
            </a:extLst>
          </p:cNvPr>
          <p:cNvSpPr/>
          <p:nvPr/>
        </p:nvSpPr>
        <p:spPr>
          <a:xfrm>
            <a:off x="3965944" y="1924493"/>
            <a:ext cx="2892056" cy="1786270"/>
          </a:xfrm>
          <a:prstGeom prst="wedgeRectCallout">
            <a:avLst>
              <a:gd name="adj1" fmla="val -29289"/>
              <a:gd name="adj2" fmla="val 1059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is who was talking to you the whole time!   </a:t>
            </a:r>
          </a:p>
        </p:txBody>
      </p:sp>
    </p:spTree>
    <p:extLst>
      <p:ext uri="{BB962C8B-B14F-4D97-AF65-F5344CB8AC3E}">
        <p14:creationId xmlns:p14="http://schemas.microsoft.com/office/powerpoint/2010/main" val="42150278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A45D01A6-4877-4265-ACD9-884120425C63}"/>
              </a:ext>
            </a:extLst>
          </p:cNvPr>
          <p:cNvSpPr/>
          <p:nvPr/>
        </p:nvSpPr>
        <p:spPr>
          <a:xfrm>
            <a:off x="1350335" y="1711842"/>
            <a:ext cx="4412512" cy="3508744"/>
          </a:xfrm>
          <a:prstGeom prst="wedgeRectCallout">
            <a:avLst>
              <a:gd name="adj1" fmla="val -66616"/>
              <a:gd name="adj2" fmla="val 791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opens the start menu. Nothing new, but it offers links to major areas of the system and shows a hint from Clippy. </a:t>
            </a:r>
          </a:p>
        </p:txBody>
      </p:sp>
    </p:spTree>
    <p:extLst>
      <p:ext uri="{BB962C8B-B14F-4D97-AF65-F5344CB8AC3E}">
        <p14:creationId xmlns:p14="http://schemas.microsoft.com/office/powerpoint/2010/main" val="853294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peech Bubble: Rectangle 4">
            <a:extLst>
              <a:ext uri="{FF2B5EF4-FFF2-40B4-BE49-F238E27FC236}">
                <a16:creationId xmlns:a16="http://schemas.microsoft.com/office/drawing/2014/main" id="{ECFFCF14-562B-4EE2-B29A-7D999E58A32C}"/>
              </a:ext>
            </a:extLst>
          </p:cNvPr>
          <p:cNvSpPr/>
          <p:nvPr/>
        </p:nvSpPr>
        <p:spPr>
          <a:xfrm>
            <a:off x="4391247" y="1360967"/>
            <a:ext cx="3763925" cy="2068033"/>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 Windos is built like windows. But how do I log on and start? </a:t>
            </a:r>
          </a:p>
        </p:txBody>
      </p:sp>
      <p:pic>
        <p:nvPicPr>
          <p:cNvPr id="16" name="Picture 15">
            <a:extLst>
              <a:ext uri="{FF2B5EF4-FFF2-40B4-BE49-F238E27FC236}">
                <a16:creationId xmlns:a16="http://schemas.microsoft.com/office/drawing/2014/main" id="{6F732381-2859-4F5F-A901-56B8D0757C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8833" y="3714750"/>
            <a:ext cx="1905000" cy="1257300"/>
          </a:xfrm>
          <a:prstGeom prst="rect">
            <a:avLst/>
          </a:prstGeom>
        </p:spPr>
      </p:pic>
    </p:spTree>
    <p:extLst>
      <p:ext uri="{BB962C8B-B14F-4D97-AF65-F5344CB8AC3E}">
        <p14:creationId xmlns:p14="http://schemas.microsoft.com/office/powerpoint/2010/main" val="36260876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peech Bubble: Rectangle 4">
            <a:extLst>
              <a:ext uri="{FF2B5EF4-FFF2-40B4-BE49-F238E27FC236}">
                <a16:creationId xmlns:a16="http://schemas.microsoft.com/office/drawing/2014/main" id="{ECFFCF14-562B-4EE2-B29A-7D999E58A32C}"/>
              </a:ext>
            </a:extLst>
          </p:cNvPr>
          <p:cNvSpPr/>
          <p:nvPr/>
        </p:nvSpPr>
        <p:spPr>
          <a:xfrm>
            <a:off x="4391247" y="1360967"/>
            <a:ext cx="3763925" cy="2068033"/>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need to close this terrible tour and start the setup wizard. Click on the next button to exit. </a:t>
            </a:r>
          </a:p>
        </p:txBody>
      </p:sp>
      <p:pic>
        <p:nvPicPr>
          <p:cNvPr id="16" name="Picture 15">
            <a:extLst>
              <a:ext uri="{FF2B5EF4-FFF2-40B4-BE49-F238E27FC236}">
                <a16:creationId xmlns:a16="http://schemas.microsoft.com/office/drawing/2014/main" id="{6F732381-2859-4F5F-A901-56B8D0757C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8833" y="3714750"/>
            <a:ext cx="1905000" cy="1257300"/>
          </a:xfrm>
          <a:prstGeom prst="rect">
            <a:avLst/>
          </a:prstGeom>
        </p:spPr>
      </p:pic>
    </p:spTree>
    <p:extLst>
      <p:ext uri="{BB962C8B-B14F-4D97-AF65-F5344CB8AC3E}">
        <p14:creationId xmlns:p14="http://schemas.microsoft.com/office/powerpoint/2010/main" val="40097768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found my Easter egg!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Elvis Presley once said:</a:t>
            </a:r>
          </a:p>
          <a:p>
            <a:pPr algn="ctr"/>
            <a:r>
              <a:rPr lang="en-GB" dirty="0"/>
              <a:t>‘Truth is like the sun. you can shut it away for a time, but it ain’t going away.’</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190311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ction="ppaction://hlinksldjump"/>
            <a:extLst>
              <a:ext uri="{FF2B5EF4-FFF2-40B4-BE49-F238E27FC236}">
                <a16:creationId xmlns:a16="http://schemas.microsoft.com/office/drawing/2014/main" id="{7B249E7B-0FF9-4C83-B498-1E06312D9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extLst>
      <p:ext uri="{BB962C8B-B14F-4D97-AF65-F5344CB8AC3E}">
        <p14:creationId xmlns:p14="http://schemas.microsoft.com/office/powerpoint/2010/main" val="8829926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Volume mixer 1.01</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8CCE70D6-581A-4F71-80EE-A1A7272438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859" y="4003840"/>
            <a:ext cx="926551" cy="695750"/>
          </a:xfrm>
          <a:prstGeom prst="rect">
            <a:avLst/>
          </a:prstGeom>
        </p:spPr>
      </p:pic>
      <p:sp>
        <p:nvSpPr>
          <p:cNvPr id="3" name="TextBox 2">
            <a:extLst>
              <a:ext uri="{FF2B5EF4-FFF2-40B4-BE49-F238E27FC236}">
                <a16:creationId xmlns:a16="http://schemas.microsoft.com/office/drawing/2014/main" id="{6C3D4E2A-C389-46AF-AFD4-CE881403DD12}"/>
              </a:ext>
            </a:extLst>
          </p:cNvPr>
          <p:cNvSpPr txBox="1"/>
          <p:nvPr/>
        </p:nvSpPr>
        <p:spPr>
          <a:xfrm>
            <a:off x="1541721" y="4003840"/>
            <a:ext cx="3739116" cy="2308324"/>
          </a:xfrm>
          <a:prstGeom prst="rect">
            <a:avLst/>
          </a:prstGeom>
          <a:noFill/>
        </p:spPr>
        <p:txBody>
          <a:bodyPr wrap="square" rtlCol="0">
            <a:spAutoFit/>
          </a:bodyPr>
          <a:lstStyle/>
          <a:p>
            <a:r>
              <a:rPr lang="en-GB" dirty="0"/>
              <a:t>Master Volume is 100%</a:t>
            </a:r>
          </a:p>
          <a:p>
            <a:endParaRPr lang="en-GB" dirty="0"/>
          </a:p>
          <a:p>
            <a:endParaRPr lang="en-GB" dirty="0"/>
          </a:p>
          <a:p>
            <a:r>
              <a:rPr lang="en-GB" dirty="0"/>
              <a:t>System 100%</a:t>
            </a:r>
          </a:p>
          <a:p>
            <a:r>
              <a:rPr lang="en-GB" dirty="0"/>
              <a:t>Apps 100%</a:t>
            </a:r>
          </a:p>
          <a:p>
            <a:r>
              <a:rPr lang="en-GB" dirty="0"/>
              <a:t>Games 100%</a:t>
            </a:r>
          </a:p>
          <a:p>
            <a:r>
              <a:rPr lang="en-GB" dirty="0"/>
              <a:t>Music 0%</a:t>
            </a:r>
          </a:p>
          <a:p>
            <a:r>
              <a:rPr lang="en-GB" dirty="0"/>
              <a:t>Etc 100%</a:t>
            </a:r>
          </a:p>
        </p:txBody>
      </p:sp>
    </p:spTree>
    <p:extLst>
      <p:ext uri="{BB962C8B-B14F-4D97-AF65-F5344CB8AC3E}">
        <p14:creationId xmlns:p14="http://schemas.microsoft.com/office/powerpoint/2010/main" val="18956366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5" y="514350"/>
            <a:ext cx="6981825" cy="5355312"/>
          </a:xfrm>
          <a:prstGeom prst="rect">
            <a:avLst/>
          </a:prstGeom>
          <a:noFill/>
        </p:spPr>
        <p:txBody>
          <a:bodyPr wrap="square" rtlCol="0">
            <a:spAutoFit/>
          </a:bodyPr>
          <a:lstStyle/>
          <a:p>
            <a:pPr marL="342900" indent="-342900">
              <a:buAutoNum type="arabicPeriod"/>
            </a:pPr>
            <a:r>
              <a:rPr lang="en-GB" dirty="0">
                <a:hlinkClick r:id="rId3" action="ppaction://hlinksldjump"/>
              </a:rPr>
              <a:t>Using Help</a:t>
            </a:r>
            <a:endParaRPr lang="en-GB" dirty="0"/>
          </a:p>
          <a:p>
            <a:pPr marL="342900" indent="-342900">
              <a:buAutoNum type="arabicPeriod"/>
            </a:pPr>
            <a:r>
              <a:rPr lang="en-GB" dirty="0">
                <a:hlinkClick r:id="rId4" action="ppaction://hlinksldjump"/>
              </a:rPr>
              <a:t>What is Windos?</a:t>
            </a:r>
            <a:endParaRPr lang="en-GB" dirty="0"/>
          </a:p>
          <a:p>
            <a:pPr marL="342900" indent="-342900">
              <a:buAutoNum type="arabicPeriod"/>
            </a:pPr>
            <a:r>
              <a:rPr lang="en-GB" dirty="0">
                <a:hlinkClick r:id="rId5" action="ppaction://hlinksldjump"/>
              </a:rPr>
              <a:t>Getting started</a:t>
            </a:r>
            <a:endParaRPr lang="en-GB" dirty="0"/>
          </a:p>
          <a:p>
            <a:pPr marL="342900" indent="-342900">
              <a:buAutoNum type="arabicPeriod"/>
            </a:pPr>
            <a:r>
              <a:rPr lang="en-GB" dirty="0">
                <a:hlinkClick r:id="rId6" action="ppaction://hlinksldjump"/>
              </a:rPr>
              <a:t>The tutorial</a:t>
            </a:r>
            <a:endParaRPr lang="en-GB" dirty="0"/>
          </a:p>
          <a:p>
            <a:pPr marL="342900" indent="-342900">
              <a:buAutoNum type="arabicPeriod"/>
            </a:pPr>
            <a:r>
              <a:rPr lang="en-GB" dirty="0">
                <a:hlinkClick r:id="rId7" action="ppaction://hlinksldjump"/>
              </a:rPr>
              <a:t>Setup wizard</a:t>
            </a:r>
            <a:endParaRPr lang="en-GB" dirty="0"/>
          </a:p>
          <a:p>
            <a:pPr marL="342900" indent="-342900">
              <a:buAutoNum type="arabicPeriod"/>
            </a:pPr>
            <a:r>
              <a:rPr lang="en-GB" dirty="0">
                <a:hlinkClick r:id="rId8" action="ppaction://hlinksldjump"/>
              </a:rPr>
              <a:t>Desktop</a:t>
            </a:r>
            <a:endParaRPr lang="en-GB" dirty="0"/>
          </a:p>
          <a:p>
            <a:pPr marL="342900" indent="-342900">
              <a:buAutoNum type="arabicPeriod"/>
            </a:pPr>
            <a:r>
              <a:rPr lang="en-GB" dirty="0">
                <a:hlinkClick r:id="rId9" action="ppaction://hlinksldjump"/>
              </a:rPr>
              <a:t>Start menu</a:t>
            </a:r>
            <a:endParaRPr lang="en-GB" dirty="0"/>
          </a:p>
          <a:p>
            <a:pPr marL="342900" indent="-342900">
              <a:buAutoNum type="arabicPeriod"/>
            </a:pPr>
            <a:r>
              <a:rPr lang="en-GB" dirty="0">
                <a:hlinkClick r:id="rId10" action="ppaction://hlinksldjump"/>
              </a:rPr>
              <a:t>Explorer</a:t>
            </a:r>
            <a:endParaRPr lang="en-GB" dirty="0"/>
          </a:p>
          <a:p>
            <a:pPr marL="342900" indent="-342900">
              <a:buAutoNum type="arabicPeriod"/>
            </a:pPr>
            <a:r>
              <a:rPr lang="en-GB" dirty="0">
                <a:hlinkClick r:id="rId11" action="ppaction://hlinksldjump"/>
              </a:rPr>
              <a:t>IE 23</a:t>
            </a:r>
            <a:endParaRPr lang="en-GB" dirty="0"/>
          </a:p>
          <a:p>
            <a:pPr marL="342900" indent="-342900">
              <a:buAutoNum type="arabicPeriod"/>
            </a:pPr>
            <a:r>
              <a:rPr lang="en-GB" dirty="0">
                <a:hlinkClick r:id="rId12" action="ppaction://hlinksldjump"/>
              </a:rPr>
              <a:t>Accessing websites</a:t>
            </a:r>
            <a:endParaRPr lang="en-GB" dirty="0"/>
          </a:p>
          <a:p>
            <a:pPr marL="342900" indent="-342900">
              <a:buAutoNum type="arabicPeriod"/>
            </a:pPr>
            <a:r>
              <a:rPr lang="en-GB" dirty="0">
                <a:hlinkClick r:id="rId13" action="ppaction://hlinksldjump"/>
              </a:rPr>
              <a:t>Basic elements</a:t>
            </a:r>
            <a:endParaRPr lang="en-GB" dirty="0"/>
          </a:p>
          <a:p>
            <a:pPr marL="342900" indent="-342900">
              <a:buAutoNum type="arabicPeriod"/>
            </a:pPr>
            <a:r>
              <a:rPr lang="en-GB" dirty="0">
                <a:hlinkClick r:id="rId14" action="ppaction://hlinksldjump"/>
              </a:rPr>
              <a:t>Email</a:t>
            </a:r>
            <a:endParaRPr lang="en-GB" dirty="0"/>
          </a:p>
          <a:p>
            <a:pPr marL="342900" indent="-342900">
              <a:buAutoNum type="arabicPeriod"/>
            </a:pPr>
            <a:r>
              <a:rPr lang="en-GB" dirty="0">
                <a:hlinkClick r:id="rId15" action="ppaction://hlinksldjump"/>
              </a:rPr>
              <a:t>Windows</a:t>
            </a:r>
            <a:endParaRPr lang="en-GB" dirty="0"/>
          </a:p>
          <a:p>
            <a:pPr marL="342900" indent="-342900">
              <a:buAutoNum type="arabicPeriod"/>
            </a:pPr>
            <a:r>
              <a:rPr lang="en-GB" dirty="0">
                <a:hlinkClick r:id="rId16" action="ppaction://hlinksldjump"/>
              </a:rPr>
              <a:t>Message boxes</a:t>
            </a:r>
            <a:endParaRPr lang="en-GB" dirty="0"/>
          </a:p>
          <a:p>
            <a:pPr marL="342900" indent="-342900">
              <a:buAutoNum type="arabicPeriod"/>
            </a:pPr>
            <a:r>
              <a:rPr lang="en-GB" dirty="0">
                <a:hlinkClick r:id="rId17" action="ppaction://hlinksldjump"/>
              </a:rPr>
              <a:t>Pop ups</a:t>
            </a:r>
            <a:endParaRPr lang="en-GB" dirty="0"/>
          </a:p>
          <a:p>
            <a:pPr marL="342900" indent="-342900">
              <a:buAutoNum type="arabicPeriod"/>
            </a:pPr>
            <a:r>
              <a:rPr lang="en-GB" dirty="0">
                <a:hlinkClick r:id="rId18" action="ppaction://hlinksldjump"/>
              </a:rPr>
              <a:t>Icons</a:t>
            </a:r>
            <a:endParaRPr lang="en-GB" dirty="0"/>
          </a:p>
          <a:p>
            <a:pPr marL="342900" indent="-342900">
              <a:buAutoNum type="arabicPeriod"/>
            </a:pPr>
            <a:r>
              <a:rPr lang="en-GB" dirty="0">
                <a:hlinkClick r:id="rId19" action="ppaction://hlinksldjump"/>
              </a:rPr>
              <a:t>Modifying Windos</a:t>
            </a:r>
            <a:endParaRPr lang="en-GB" dirty="0"/>
          </a:p>
          <a:p>
            <a:pPr marL="342900" indent="-342900">
              <a:buAutoNum type="arabicPeriod"/>
            </a:pPr>
            <a:r>
              <a:rPr lang="en-GB" dirty="0">
                <a:hlinkClick r:id="rId20" action="ppaction://hlinksldjump"/>
              </a:rPr>
              <a:t>Feedback</a:t>
            </a:r>
            <a:endParaRPr lang="en-GB" dirty="0"/>
          </a:p>
          <a:p>
            <a:pPr marL="342900" indent="-342900">
              <a:buAutoNum type="arabicPeriod"/>
            </a:pPr>
            <a:r>
              <a:rPr lang="en-GB" dirty="0"/>
              <a:t>notifications</a:t>
            </a:r>
          </a:p>
        </p:txBody>
      </p:sp>
      <p:pic>
        <p:nvPicPr>
          <p:cNvPr id="7" name="Picture 6">
            <a:hlinkClick r:id="rId21" action="ppaction://hlinksldjump"/>
            <a:extLst>
              <a:ext uri="{FF2B5EF4-FFF2-40B4-BE49-F238E27FC236}">
                <a16:creationId xmlns:a16="http://schemas.microsoft.com/office/drawing/2014/main" id="{217980A2-1FEB-4ABB-8AAB-498224B95176}"/>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9924996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Intro:</a:t>
            </a:r>
          </a:p>
          <a:p>
            <a:endParaRPr lang="en-GB" dirty="0"/>
          </a:p>
          <a:p>
            <a:r>
              <a:rPr lang="en-GB" dirty="0"/>
              <a:t>This help utility tries to answer common questions people may have while using Windos 98. navigate through the use of hyperlinks and read the help text.</a:t>
            </a:r>
          </a:p>
          <a:p>
            <a:r>
              <a:rPr lang="en-GB" dirty="0"/>
              <a:t>Click on the ? Icon next to the close button to go back to the index.  </a:t>
            </a:r>
          </a:p>
          <a:p>
            <a:endParaRPr lang="en-GB" dirty="0"/>
          </a:p>
          <a:p>
            <a:r>
              <a:rPr lang="en-GB" dirty="0"/>
              <a:t>See also:</a:t>
            </a:r>
          </a:p>
          <a:p>
            <a:r>
              <a:rPr lang="en-GB" dirty="0"/>
              <a:t>Getting started</a:t>
            </a:r>
          </a:p>
          <a:p>
            <a:r>
              <a:rPr lang="en-GB" dirty="0"/>
              <a:t>Desktop</a:t>
            </a:r>
          </a:p>
          <a:p>
            <a:r>
              <a:rPr lang="en-GB" dirty="0"/>
              <a:t>Setup wizard</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41831929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754326"/>
          </a:xfrm>
          <a:prstGeom prst="rect">
            <a:avLst/>
          </a:prstGeom>
          <a:noFill/>
        </p:spPr>
        <p:txBody>
          <a:bodyPr wrap="square" rtlCol="0">
            <a:spAutoFit/>
          </a:bodyPr>
          <a:lstStyle/>
          <a:p>
            <a:r>
              <a:rPr lang="en-GB" u="sng" dirty="0"/>
              <a:t>What is Windos?</a:t>
            </a:r>
          </a:p>
          <a:p>
            <a:endParaRPr lang="en-GB" u="sng" dirty="0"/>
          </a:p>
          <a:p>
            <a:r>
              <a:rPr lang="en-GB" dirty="0"/>
              <a:t>Windos 98 is a parody of Windows.</a:t>
            </a:r>
          </a:p>
          <a:p>
            <a:r>
              <a:rPr lang="en-GB" dirty="0"/>
              <a:t>It is supposed to look like Windows but with a basic UI and limited features. To get help, click on one of the see also links.  </a:t>
            </a:r>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6275775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Getting started</a:t>
            </a:r>
          </a:p>
          <a:p>
            <a:endParaRPr lang="en-GB" u="sng" dirty="0"/>
          </a:p>
          <a:p>
            <a:r>
              <a:rPr lang="en-GB" dirty="0"/>
              <a:t>Windos 98 is a basic OS if you learn how to use it.</a:t>
            </a:r>
          </a:p>
          <a:p>
            <a:r>
              <a:rPr lang="en-GB" dirty="0"/>
              <a:t>It contains many elements, Easter eggs and jokes. </a:t>
            </a:r>
          </a:p>
          <a:p>
            <a:r>
              <a:rPr lang="en-GB" dirty="0"/>
              <a:t>When you first booted up you pressed the start now button.</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redirected you to a  prompt asking you if you wanted to use the tutorial. You probably pressed yes. When you hover over a clickable element, your cursor changed. Make sure to recognise it otherwise you will move onto the next slide. `</a:t>
            </a:r>
          </a:p>
          <a:p>
            <a:r>
              <a:rPr lang="en-GB" dirty="0"/>
              <a:t>select one of the following:</a:t>
            </a:r>
          </a:p>
          <a:p>
            <a:endParaRPr lang="en-GB" dirty="0"/>
          </a:p>
          <a:p>
            <a:r>
              <a:rPr lang="en-GB" dirty="0"/>
              <a:t>The tutorial</a:t>
            </a:r>
          </a:p>
          <a:p>
            <a:r>
              <a:rPr lang="en-GB" dirty="0"/>
              <a:t>Desktop</a:t>
            </a:r>
          </a:p>
          <a:p>
            <a:r>
              <a:rPr lang="en-GB" dirty="0"/>
              <a:t>What is Windos?</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94A10F8F-F949-41C7-9259-AB59007BF1ED}"/>
              </a:ext>
            </a:extLst>
          </p:cNvPr>
          <p:cNvPicPr>
            <a:picLocks noChangeAspect="1"/>
          </p:cNvPicPr>
          <p:nvPr/>
        </p:nvPicPr>
        <p:blipFill>
          <a:blip r:embed="rId5"/>
          <a:stretch>
            <a:fillRect/>
          </a:stretch>
        </p:blipFill>
        <p:spPr>
          <a:xfrm>
            <a:off x="285516" y="2142946"/>
            <a:ext cx="2543409" cy="1950910"/>
          </a:xfrm>
          <a:prstGeom prst="rect">
            <a:avLst/>
          </a:prstGeom>
        </p:spPr>
      </p:pic>
    </p:spTree>
    <p:extLst>
      <p:ext uri="{BB962C8B-B14F-4D97-AF65-F5344CB8AC3E}">
        <p14:creationId xmlns:p14="http://schemas.microsoft.com/office/powerpoint/2010/main" val="784465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585323"/>
          </a:xfrm>
          <a:prstGeom prst="rect">
            <a:avLst/>
          </a:prstGeom>
          <a:noFill/>
        </p:spPr>
        <p:txBody>
          <a:bodyPr wrap="square" rtlCol="0">
            <a:spAutoFit/>
          </a:bodyPr>
          <a:lstStyle/>
          <a:p>
            <a:r>
              <a:rPr lang="en-GB" u="sng" dirty="0"/>
              <a:t>The Tutorial</a:t>
            </a:r>
          </a:p>
          <a:p>
            <a:endParaRPr lang="en-GB" dirty="0"/>
          </a:p>
          <a:p>
            <a:r>
              <a:rPr lang="en-GB" dirty="0"/>
              <a:t>The tutorial tells you what the desktop looks like in an nutshell. It does not go to very deep context on what the entire OS does. To open it, you need to reboot and accept he request to open it.</a:t>
            </a:r>
          </a:p>
          <a:p>
            <a:endParaRPr lang="en-GB" dirty="0"/>
          </a:p>
          <a:p>
            <a:r>
              <a:rPr lang="en-GB" dirty="0"/>
              <a:t>See also:</a:t>
            </a:r>
          </a:p>
          <a:p>
            <a:r>
              <a:rPr lang="en-GB" dirty="0"/>
              <a:t>Desktop</a:t>
            </a:r>
          </a:p>
          <a:p>
            <a:r>
              <a:rPr lang="en-GB" dirty="0"/>
              <a:t>Getting started</a:t>
            </a:r>
          </a:p>
          <a:p>
            <a:r>
              <a:rPr lang="en-GB" dirty="0"/>
              <a:t>Using help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5110010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754326"/>
          </a:xfrm>
          <a:prstGeom prst="rect">
            <a:avLst/>
          </a:prstGeom>
          <a:noFill/>
        </p:spPr>
        <p:txBody>
          <a:bodyPr wrap="square" rtlCol="0">
            <a:spAutoFit/>
          </a:bodyPr>
          <a:lstStyle/>
          <a:p>
            <a:r>
              <a:rPr lang="en-GB" u="sng" dirty="0"/>
              <a:t>Setup wizard</a:t>
            </a:r>
          </a:p>
          <a:p>
            <a:endParaRPr lang="en-GB" u="sng" dirty="0"/>
          </a:p>
          <a:p>
            <a:r>
              <a:rPr lang="en-GB" dirty="0"/>
              <a:t>The setup wizard helps you install Windos. It is designed to annoy you and imitate installing Windos. Please note that it existed when Windos was 1</a:t>
            </a:r>
            <a:r>
              <a:rPr lang="en-GB" baseline="30000" dirty="0"/>
              <a:t>st</a:t>
            </a:r>
            <a:r>
              <a:rPr lang="en-GB" dirty="0"/>
              <a:t> created. You need to follow the instructions, close windows, click on boxes, click outside of them, install updates, etc. </a:t>
            </a:r>
          </a:p>
          <a:p>
            <a:r>
              <a:rPr lang="en-GB" dirty="0"/>
              <a:t>Follow the on-screen instructions to get onto the desktop.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2697001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923330"/>
          </a:xfrm>
          <a:prstGeom prst="rect">
            <a:avLst/>
          </a:prstGeom>
          <a:noFill/>
        </p:spPr>
        <p:txBody>
          <a:bodyPr wrap="square" rtlCol="0">
            <a:spAutoFit/>
          </a:bodyPr>
          <a:lstStyle/>
          <a:p>
            <a:r>
              <a:rPr lang="en-GB" u="sng" dirty="0"/>
              <a:t>Desktop</a:t>
            </a:r>
          </a:p>
          <a:p>
            <a:endParaRPr lang="en-GB" u="sng"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4D795D93-D549-4825-861A-B25208F05EE4}"/>
              </a:ext>
            </a:extLst>
          </p:cNvPr>
          <p:cNvPicPr>
            <a:picLocks noChangeAspect="1"/>
          </p:cNvPicPr>
          <p:nvPr/>
        </p:nvPicPr>
        <p:blipFill>
          <a:blip r:embed="rId5"/>
          <a:stretch>
            <a:fillRect/>
          </a:stretch>
        </p:blipFill>
        <p:spPr>
          <a:xfrm>
            <a:off x="1051774" y="868327"/>
            <a:ext cx="9878495" cy="5564371"/>
          </a:xfrm>
          <a:prstGeom prst="rect">
            <a:avLst/>
          </a:prstGeom>
        </p:spPr>
      </p:pic>
      <p:sp>
        <p:nvSpPr>
          <p:cNvPr id="8" name="Speech Bubble: Rectangle 7">
            <a:extLst>
              <a:ext uri="{FF2B5EF4-FFF2-40B4-BE49-F238E27FC236}">
                <a16:creationId xmlns:a16="http://schemas.microsoft.com/office/drawing/2014/main" id="{3B3E3CAD-CCE7-459C-B8A9-E2A41A4727A7}"/>
              </a:ext>
            </a:extLst>
          </p:cNvPr>
          <p:cNvSpPr/>
          <p:nvPr/>
        </p:nvSpPr>
        <p:spPr>
          <a:xfrm>
            <a:off x="5895975" y="1619250"/>
            <a:ext cx="2228850" cy="2181225"/>
          </a:xfrm>
          <a:prstGeom prst="wedgeRectCallout">
            <a:avLst>
              <a:gd name="adj1" fmla="val -135955"/>
              <a:gd name="adj2" fmla="val 498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What’s new  screen shows what was updated in the version of Windos</a:t>
            </a:r>
          </a:p>
        </p:txBody>
      </p:sp>
      <p:sp>
        <p:nvSpPr>
          <p:cNvPr id="9" name="Speech Bubble: Rectangle 8">
            <a:extLst>
              <a:ext uri="{FF2B5EF4-FFF2-40B4-BE49-F238E27FC236}">
                <a16:creationId xmlns:a16="http://schemas.microsoft.com/office/drawing/2014/main" id="{D041D461-B010-45A8-A2A0-89BD7F3AC680}"/>
              </a:ext>
            </a:extLst>
          </p:cNvPr>
          <p:cNvSpPr/>
          <p:nvPr/>
        </p:nvSpPr>
        <p:spPr>
          <a:xfrm>
            <a:off x="8304028" y="3530009"/>
            <a:ext cx="1722474" cy="1084521"/>
          </a:xfrm>
          <a:prstGeom prst="wedgeRectCallout">
            <a:avLst>
              <a:gd name="adj1" fmla="val -463"/>
              <a:gd name="adj2" fmla="val -1424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Desktop icons to get to places</a:t>
            </a:r>
          </a:p>
        </p:txBody>
      </p:sp>
      <p:sp>
        <p:nvSpPr>
          <p:cNvPr id="10" name="Speech Bubble: Rectangle 9">
            <a:extLst>
              <a:ext uri="{FF2B5EF4-FFF2-40B4-BE49-F238E27FC236}">
                <a16:creationId xmlns:a16="http://schemas.microsoft.com/office/drawing/2014/main" id="{C7EB922F-D396-4260-B773-FC4458CBD668}"/>
              </a:ext>
            </a:extLst>
          </p:cNvPr>
          <p:cNvSpPr/>
          <p:nvPr/>
        </p:nvSpPr>
        <p:spPr>
          <a:xfrm>
            <a:off x="6687879" y="4614530"/>
            <a:ext cx="1722474" cy="923330"/>
          </a:xfrm>
          <a:prstGeom prst="wedgeRectCallout">
            <a:avLst>
              <a:gd name="adj1" fmla="val 145834"/>
              <a:gd name="adj2" fmla="val 38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Build info states the Windos version</a:t>
            </a:r>
          </a:p>
        </p:txBody>
      </p:sp>
      <p:sp>
        <p:nvSpPr>
          <p:cNvPr id="11" name="Speech Bubble: Rectangle 10">
            <a:extLst>
              <a:ext uri="{FF2B5EF4-FFF2-40B4-BE49-F238E27FC236}">
                <a16:creationId xmlns:a16="http://schemas.microsoft.com/office/drawing/2014/main" id="{957F5C63-F2F4-4D89-94C9-AC17B3567CB1}"/>
              </a:ext>
            </a:extLst>
          </p:cNvPr>
          <p:cNvSpPr/>
          <p:nvPr/>
        </p:nvSpPr>
        <p:spPr>
          <a:xfrm>
            <a:off x="3795823" y="4157330"/>
            <a:ext cx="2300177" cy="1380530"/>
          </a:xfrm>
          <a:prstGeom prst="wedgeRectCallout">
            <a:avLst>
              <a:gd name="adj1" fmla="val -19619"/>
              <a:gd name="adj2" fmla="val 984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Taskbar with icons to access some areas. Learn more in the tutorial</a:t>
            </a:r>
          </a:p>
        </p:txBody>
      </p:sp>
      <p:sp>
        <p:nvSpPr>
          <p:cNvPr id="12" name="Speech Bubble: Rectangle 11">
            <a:extLst>
              <a:ext uri="{FF2B5EF4-FFF2-40B4-BE49-F238E27FC236}">
                <a16:creationId xmlns:a16="http://schemas.microsoft.com/office/drawing/2014/main" id="{A3078B42-0E91-4BD5-A9BA-90FD8AA9353F}"/>
              </a:ext>
            </a:extLst>
          </p:cNvPr>
          <p:cNvSpPr/>
          <p:nvPr/>
        </p:nvSpPr>
        <p:spPr>
          <a:xfrm>
            <a:off x="1488558" y="3646967"/>
            <a:ext cx="2052084" cy="1190847"/>
          </a:xfrm>
          <a:prstGeom prst="wedgeRectCallout">
            <a:avLst>
              <a:gd name="adj1" fmla="val -52439"/>
              <a:gd name="adj2" fmla="val 155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Start button opens start menu</a:t>
            </a:r>
          </a:p>
        </p:txBody>
      </p:sp>
    </p:spTree>
    <p:extLst>
      <p:ext uri="{BB962C8B-B14F-4D97-AF65-F5344CB8AC3E}">
        <p14:creationId xmlns:p14="http://schemas.microsoft.com/office/powerpoint/2010/main" val="11608821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46331"/>
          </a:xfrm>
          <a:prstGeom prst="rect">
            <a:avLst/>
          </a:prstGeom>
          <a:noFill/>
        </p:spPr>
        <p:txBody>
          <a:bodyPr wrap="square" rtlCol="0">
            <a:spAutoFit/>
          </a:bodyPr>
          <a:lstStyle/>
          <a:p>
            <a:r>
              <a:rPr lang="en-GB" u="sng" dirty="0"/>
              <a:t>Start menu:</a:t>
            </a:r>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13" name="Picture 12">
            <a:extLst>
              <a:ext uri="{FF2B5EF4-FFF2-40B4-BE49-F238E27FC236}">
                <a16:creationId xmlns:a16="http://schemas.microsoft.com/office/drawing/2014/main" id="{0ECC5B7B-21D9-4480-B989-570ABDFB970F}"/>
              </a:ext>
            </a:extLst>
          </p:cNvPr>
          <p:cNvPicPr>
            <a:picLocks noChangeAspect="1"/>
          </p:cNvPicPr>
          <p:nvPr/>
        </p:nvPicPr>
        <p:blipFill>
          <a:blip r:embed="rId5"/>
          <a:stretch>
            <a:fillRect/>
          </a:stretch>
        </p:blipFill>
        <p:spPr>
          <a:xfrm>
            <a:off x="492588" y="1585983"/>
            <a:ext cx="8697539" cy="3953427"/>
          </a:xfrm>
          <a:prstGeom prst="rect">
            <a:avLst/>
          </a:prstGeom>
        </p:spPr>
      </p:pic>
      <p:sp>
        <p:nvSpPr>
          <p:cNvPr id="14" name="Speech Bubble: Rectangle 13">
            <a:extLst>
              <a:ext uri="{FF2B5EF4-FFF2-40B4-BE49-F238E27FC236}">
                <a16:creationId xmlns:a16="http://schemas.microsoft.com/office/drawing/2014/main" id="{4810BBB8-FC91-4D80-B514-F6505D6BDA03}"/>
              </a:ext>
            </a:extLst>
          </p:cNvPr>
          <p:cNvSpPr/>
          <p:nvPr/>
        </p:nvSpPr>
        <p:spPr>
          <a:xfrm>
            <a:off x="7400260" y="888222"/>
            <a:ext cx="2558903" cy="723014"/>
          </a:xfrm>
          <a:prstGeom prst="wedgeRectCallout">
            <a:avLst>
              <a:gd name="adj1" fmla="val -51581"/>
              <a:gd name="adj2" fmla="val 1183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 info and access to old start menu</a:t>
            </a:r>
          </a:p>
        </p:txBody>
      </p:sp>
      <p:sp>
        <p:nvSpPr>
          <p:cNvPr id="16" name="Rectangle 15">
            <a:extLst>
              <a:ext uri="{FF2B5EF4-FFF2-40B4-BE49-F238E27FC236}">
                <a16:creationId xmlns:a16="http://schemas.microsoft.com/office/drawing/2014/main" id="{6AB8D05B-15B6-4F8A-AABB-58EBA75E8F9B}"/>
              </a:ext>
            </a:extLst>
          </p:cNvPr>
          <p:cNvSpPr/>
          <p:nvPr/>
        </p:nvSpPr>
        <p:spPr>
          <a:xfrm>
            <a:off x="6315740" y="2137144"/>
            <a:ext cx="2874387" cy="34022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Speech Bubble: Rectangle 16">
            <a:extLst>
              <a:ext uri="{FF2B5EF4-FFF2-40B4-BE49-F238E27FC236}">
                <a16:creationId xmlns:a16="http://schemas.microsoft.com/office/drawing/2014/main" id="{993197B0-232F-4DC9-9F88-4129FED3354D}"/>
              </a:ext>
            </a:extLst>
          </p:cNvPr>
          <p:cNvSpPr/>
          <p:nvPr/>
        </p:nvSpPr>
        <p:spPr>
          <a:xfrm>
            <a:off x="1782725" y="332469"/>
            <a:ext cx="2013098" cy="1253514"/>
          </a:xfrm>
          <a:prstGeom prst="wedgeRectCallout">
            <a:avLst>
              <a:gd name="adj1" fmla="val -18877"/>
              <a:gd name="adj2" fmla="val 1006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Clippy gives a hint every few versions. They can reveal Easter eggs</a:t>
            </a:r>
          </a:p>
        </p:txBody>
      </p:sp>
      <p:sp>
        <p:nvSpPr>
          <p:cNvPr id="18" name="Speech Bubble: Rectangle 17">
            <a:extLst>
              <a:ext uri="{FF2B5EF4-FFF2-40B4-BE49-F238E27FC236}">
                <a16:creationId xmlns:a16="http://schemas.microsoft.com/office/drawing/2014/main" id="{391F1664-7C2B-4113-8338-8FD3889DAF90}"/>
              </a:ext>
            </a:extLst>
          </p:cNvPr>
          <p:cNvSpPr/>
          <p:nvPr/>
        </p:nvSpPr>
        <p:spPr>
          <a:xfrm>
            <a:off x="4997302" y="5422605"/>
            <a:ext cx="3072810" cy="1010093"/>
          </a:xfrm>
          <a:prstGeom prst="wedgeRectCallout">
            <a:avLst>
              <a:gd name="adj1" fmla="val -62009"/>
              <a:gd name="adj2" fmla="val -553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menu access. </a:t>
            </a:r>
          </a:p>
        </p:txBody>
      </p:sp>
      <p:sp>
        <p:nvSpPr>
          <p:cNvPr id="19" name="Speech Bubble: Rectangle 18">
            <a:extLst>
              <a:ext uri="{FF2B5EF4-FFF2-40B4-BE49-F238E27FC236}">
                <a16:creationId xmlns:a16="http://schemas.microsoft.com/office/drawing/2014/main" id="{812CD0AC-0FC9-43B0-9393-CD05B6A2906B}"/>
              </a:ext>
            </a:extLst>
          </p:cNvPr>
          <p:cNvSpPr/>
          <p:nvPr/>
        </p:nvSpPr>
        <p:spPr>
          <a:xfrm>
            <a:off x="8963247" y="2551814"/>
            <a:ext cx="1733106" cy="1977656"/>
          </a:xfrm>
          <a:prstGeom prst="wedgeRectCallout">
            <a:avLst>
              <a:gd name="adj1" fmla="val -282796"/>
              <a:gd name="adj2" fmla="val 71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Shortcuts for easy access to system areas. </a:t>
            </a:r>
          </a:p>
        </p:txBody>
      </p:sp>
    </p:spTree>
    <p:extLst>
      <p:ext uri="{BB962C8B-B14F-4D97-AF65-F5344CB8AC3E}">
        <p14:creationId xmlns:p14="http://schemas.microsoft.com/office/powerpoint/2010/main" val="37144064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Explorer:</a:t>
            </a:r>
          </a:p>
          <a:p>
            <a:endParaRPr lang="en-GB" u="sng" dirty="0"/>
          </a:p>
          <a:p>
            <a:r>
              <a:rPr lang="en-GB" dirty="0"/>
              <a:t>File explorer lets you access the C drive and your personal folder. It looks like this when opened:</a:t>
            </a:r>
          </a:p>
          <a:p>
            <a:endParaRPr lang="en-GB" dirty="0"/>
          </a:p>
          <a:p>
            <a:endParaRPr lang="en-GB" dirty="0"/>
          </a:p>
          <a:p>
            <a:endParaRPr lang="en-GB" dirty="0"/>
          </a:p>
          <a:p>
            <a:endParaRPr lang="en-GB" dirty="0"/>
          </a:p>
          <a:p>
            <a:r>
              <a:rPr lang="en-GB" dirty="0"/>
              <a:t>The explorer icons can be pressed to view the corresponding file or folder. some areas just give you an access denied prompt and take you to the desktop. It looks like this: </a:t>
            </a:r>
          </a:p>
          <a:p>
            <a:endParaRPr lang="en-GB" dirty="0"/>
          </a:p>
          <a:p>
            <a:endParaRPr lang="en-GB" dirty="0"/>
          </a:p>
          <a:p>
            <a:endParaRPr lang="en-GB" dirty="0"/>
          </a:p>
          <a:p>
            <a:endParaRPr lang="en-GB" dirty="0"/>
          </a:p>
          <a:p>
            <a:endParaRPr lang="en-GB" dirty="0"/>
          </a:p>
          <a:p>
            <a:endParaRPr lang="en-GB" dirty="0"/>
          </a:p>
          <a:p>
            <a:r>
              <a:rPr lang="en-GB" dirty="0"/>
              <a:t>Click outside of the pop up to close it. </a:t>
            </a:r>
          </a:p>
          <a:p>
            <a:r>
              <a:rPr lang="en-GB" dirty="0"/>
              <a:t>See also:</a:t>
            </a:r>
          </a:p>
          <a:p>
            <a:r>
              <a:rPr lang="en-GB" dirty="0"/>
              <a:t>IE 23</a:t>
            </a:r>
          </a:p>
          <a:p>
            <a:r>
              <a:rPr lang="en-GB" dirty="0"/>
              <a:t>Email </a:t>
            </a:r>
          </a:p>
          <a:p>
            <a:r>
              <a:rPr lang="en-GB" dirty="0"/>
              <a:t>Using Help</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5DA9A25A-23F1-49F9-94EB-074BEA67853C}"/>
              </a:ext>
            </a:extLst>
          </p:cNvPr>
          <p:cNvPicPr>
            <a:picLocks noChangeAspect="1"/>
          </p:cNvPicPr>
          <p:nvPr/>
        </p:nvPicPr>
        <p:blipFill>
          <a:blip r:embed="rId5"/>
          <a:stretch>
            <a:fillRect/>
          </a:stretch>
        </p:blipFill>
        <p:spPr>
          <a:xfrm>
            <a:off x="142875" y="1611628"/>
            <a:ext cx="6608800" cy="782243"/>
          </a:xfrm>
          <a:prstGeom prst="rect">
            <a:avLst/>
          </a:prstGeom>
        </p:spPr>
      </p:pic>
      <p:pic>
        <p:nvPicPr>
          <p:cNvPr id="9" name="Picture 8">
            <a:extLst>
              <a:ext uri="{FF2B5EF4-FFF2-40B4-BE49-F238E27FC236}">
                <a16:creationId xmlns:a16="http://schemas.microsoft.com/office/drawing/2014/main" id="{EEB2E8B0-D842-4DEA-B82F-0A7C169CF8E7}"/>
              </a:ext>
            </a:extLst>
          </p:cNvPr>
          <p:cNvPicPr>
            <a:picLocks noChangeAspect="1"/>
          </p:cNvPicPr>
          <p:nvPr/>
        </p:nvPicPr>
        <p:blipFill>
          <a:blip r:embed="rId6"/>
          <a:stretch>
            <a:fillRect/>
          </a:stretch>
        </p:blipFill>
        <p:spPr>
          <a:xfrm>
            <a:off x="324935" y="3083724"/>
            <a:ext cx="3109381" cy="1586776"/>
          </a:xfrm>
          <a:prstGeom prst="rect">
            <a:avLst/>
          </a:prstGeom>
        </p:spPr>
      </p:pic>
    </p:spTree>
    <p:extLst>
      <p:ext uri="{BB962C8B-B14F-4D97-AF65-F5344CB8AC3E}">
        <p14:creationId xmlns:p14="http://schemas.microsoft.com/office/powerpoint/2010/main" val="3240755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186309"/>
          </a:xfrm>
          <a:prstGeom prst="rect">
            <a:avLst/>
          </a:prstGeom>
          <a:noFill/>
        </p:spPr>
        <p:txBody>
          <a:bodyPr wrap="square" rtlCol="0">
            <a:spAutoFit/>
          </a:bodyPr>
          <a:lstStyle/>
          <a:p>
            <a:r>
              <a:rPr lang="en-GB" u="sng" dirty="0"/>
              <a:t>IE 23:</a:t>
            </a:r>
          </a:p>
          <a:p>
            <a:endParaRPr lang="en-GB" u="sng" dirty="0"/>
          </a:p>
          <a:p>
            <a:r>
              <a:rPr lang="en-GB" dirty="0"/>
              <a:t>The web browser, Internet Explorer 23, can be opened in several ways. Click on the desktop icon, start menu entry, network icon on taskbar, etc.  </a:t>
            </a:r>
          </a:p>
          <a:p>
            <a:r>
              <a:rPr lang="en-GB" dirty="0"/>
              <a:t>The home screen looks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Click on a link to access a website and press the close button to exit.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C6786C29-21FA-469E-9A78-5988051CB18C}"/>
              </a:ext>
            </a:extLst>
          </p:cNvPr>
          <p:cNvPicPr>
            <a:picLocks noChangeAspect="1"/>
          </p:cNvPicPr>
          <p:nvPr/>
        </p:nvPicPr>
        <p:blipFill>
          <a:blip r:embed="rId5"/>
          <a:stretch>
            <a:fillRect/>
          </a:stretch>
        </p:blipFill>
        <p:spPr>
          <a:xfrm>
            <a:off x="251322" y="1991678"/>
            <a:ext cx="7297794" cy="41354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844302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186309"/>
          </a:xfrm>
          <a:prstGeom prst="rect">
            <a:avLst/>
          </a:prstGeom>
          <a:noFill/>
        </p:spPr>
        <p:txBody>
          <a:bodyPr wrap="square" rtlCol="0">
            <a:spAutoFit/>
          </a:bodyPr>
          <a:lstStyle/>
          <a:p>
            <a:r>
              <a:rPr lang="en-GB" u="sng" dirty="0"/>
              <a:t>Accessing websites</a:t>
            </a:r>
          </a:p>
          <a:p>
            <a:endParaRPr lang="en-GB" u="sng" dirty="0"/>
          </a:p>
          <a:p>
            <a:r>
              <a:rPr lang="en-GB" dirty="0"/>
              <a:t>When you are on  a website you can browse it by clicking on links. As of beta 4 there are 4 websites added. One website looks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is a static web page. You can read It and click on links.</a:t>
            </a:r>
          </a:p>
          <a:p>
            <a:r>
              <a:rPr lang="en-GB" dirty="0"/>
              <a:t>Close the window to go back to the IE 23 homepage. </a:t>
            </a:r>
          </a:p>
          <a:p>
            <a:r>
              <a:rPr lang="en-GB" dirty="0"/>
              <a: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8" name="Picture 7">
            <a:extLst>
              <a:ext uri="{FF2B5EF4-FFF2-40B4-BE49-F238E27FC236}">
                <a16:creationId xmlns:a16="http://schemas.microsoft.com/office/drawing/2014/main" id="{30212363-2CED-42F0-9A73-1AA3840D1E10}"/>
              </a:ext>
            </a:extLst>
          </p:cNvPr>
          <p:cNvPicPr>
            <a:picLocks noChangeAspect="1"/>
          </p:cNvPicPr>
          <p:nvPr/>
        </p:nvPicPr>
        <p:blipFill>
          <a:blip r:embed="rId5"/>
          <a:stretch>
            <a:fillRect/>
          </a:stretch>
        </p:blipFill>
        <p:spPr>
          <a:xfrm>
            <a:off x="294959" y="1698168"/>
            <a:ext cx="6871385" cy="3886966"/>
          </a:xfrm>
          <a:prstGeom prst="rect">
            <a:avLst/>
          </a:prstGeom>
        </p:spPr>
      </p:pic>
    </p:spTree>
    <p:extLst>
      <p:ext uri="{BB962C8B-B14F-4D97-AF65-F5344CB8AC3E}">
        <p14:creationId xmlns:p14="http://schemas.microsoft.com/office/powerpoint/2010/main" val="27892513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3139321"/>
          </a:xfrm>
          <a:prstGeom prst="rect">
            <a:avLst/>
          </a:prstGeom>
          <a:noFill/>
        </p:spPr>
        <p:txBody>
          <a:bodyPr wrap="square" rtlCol="0">
            <a:spAutoFit/>
          </a:bodyPr>
          <a:lstStyle/>
          <a:p>
            <a:r>
              <a:rPr lang="en-GB" u="sng" dirty="0"/>
              <a:t>Basic element:</a:t>
            </a:r>
          </a:p>
          <a:p>
            <a:endParaRPr lang="en-GB" u="sng" dirty="0"/>
          </a:p>
          <a:p>
            <a:r>
              <a:rPr lang="en-GB" dirty="0"/>
              <a:t>This is a link page. It redirects you to other help pages about something related to this.</a:t>
            </a:r>
          </a:p>
          <a:p>
            <a:endParaRPr lang="en-GB" dirty="0"/>
          </a:p>
          <a:p>
            <a:endParaRPr lang="en-GB" dirty="0"/>
          </a:p>
          <a:p>
            <a:r>
              <a:rPr lang="en-GB" dirty="0"/>
              <a:t>Help on message boxes</a:t>
            </a:r>
          </a:p>
          <a:p>
            <a:r>
              <a:rPr lang="en-GB" dirty="0"/>
              <a:t>Pop ups</a:t>
            </a:r>
          </a:p>
          <a:p>
            <a:r>
              <a:rPr lang="en-GB" dirty="0"/>
              <a:t>Windows</a:t>
            </a:r>
          </a:p>
          <a:p>
            <a:r>
              <a:rPr lang="en-GB" dirty="0"/>
              <a:t>Message boxes </a:t>
            </a:r>
          </a:p>
          <a:p>
            <a:r>
              <a:rPr lang="en-GB" dirty="0"/>
              <a:t>Icons</a:t>
            </a:r>
          </a:p>
          <a:p>
            <a:r>
              <a:rPr lang="en-GB" dirty="0"/>
              <a:t>buttons</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1206422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200329"/>
          </a:xfrm>
          <a:prstGeom prst="rect">
            <a:avLst/>
          </a:prstGeom>
          <a:noFill/>
        </p:spPr>
        <p:txBody>
          <a:bodyPr wrap="square" rtlCol="0">
            <a:spAutoFit/>
          </a:bodyPr>
          <a:lstStyle/>
          <a:p>
            <a:r>
              <a:rPr lang="en-GB" u="sng" dirty="0"/>
              <a:t>Email:</a:t>
            </a:r>
          </a:p>
          <a:p>
            <a:endParaRPr lang="en-GB" u="sng" dirty="0"/>
          </a:p>
          <a:p>
            <a:r>
              <a:rPr lang="en-GB" dirty="0"/>
              <a:t>The email client lets you read emails. It also lets you contact the developer. Email is discontinued and has no emails as of beta 4 but this may change.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6633355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Windows</a:t>
            </a:r>
          </a:p>
          <a:p>
            <a:endParaRPr lang="en-GB" u="sng" dirty="0"/>
          </a:p>
          <a:p>
            <a:r>
              <a:rPr lang="en-GB" dirty="0"/>
              <a:t>Windows look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They are full screen items that can be interacted with.</a:t>
            </a:r>
          </a:p>
          <a:p>
            <a:r>
              <a:rPr lang="en-GB" dirty="0"/>
              <a:t>Click the close button to close it.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6D876EA1-92E6-49E7-8648-AADD861C212F}"/>
              </a:ext>
            </a:extLst>
          </p:cNvPr>
          <p:cNvPicPr>
            <a:picLocks noChangeAspect="1"/>
          </p:cNvPicPr>
          <p:nvPr/>
        </p:nvPicPr>
        <p:blipFill>
          <a:blip r:embed="rId5"/>
          <a:stretch>
            <a:fillRect/>
          </a:stretch>
        </p:blipFill>
        <p:spPr>
          <a:xfrm>
            <a:off x="142874" y="1605047"/>
            <a:ext cx="6442764" cy="3647906"/>
          </a:xfrm>
          <a:prstGeom prst="rect">
            <a:avLst/>
          </a:prstGeom>
        </p:spPr>
      </p:pic>
      <p:cxnSp>
        <p:nvCxnSpPr>
          <p:cNvPr id="9" name="Straight Connector 8">
            <a:extLst>
              <a:ext uri="{FF2B5EF4-FFF2-40B4-BE49-F238E27FC236}">
                <a16:creationId xmlns:a16="http://schemas.microsoft.com/office/drawing/2014/main" id="{7E4DB0BC-185C-4E60-9300-E3FBD1CE0161}"/>
              </a:ext>
            </a:extLst>
          </p:cNvPr>
          <p:cNvCxnSpPr/>
          <p:nvPr/>
        </p:nvCxnSpPr>
        <p:spPr>
          <a:xfrm flipV="1">
            <a:off x="6400800" y="1456660"/>
            <a:ext cx="2307265" cy="255182"/>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FEE8EAE-C8F3-473D-96CF-223D6B296E30}"/>
              </a:ext>
            </a:extLst>
          </p:cNvPr>
          <p:cNvSpPr txBox="1"/>
          <p:nvPr/>
        </p:nvSpPr>
        <p:spPr>
          <a:xfrm>
            <a:off x="8708065" y="1190847"/>
            <a:ext cx="2634880" cy="369332"/>
          </a:xfrm>
          <a:prstGeom prst="rect">
            <a:avLst/>
          </a:prstGeom>
          <a:noFill/>
        </p:spPr>
        <p:txBody>
          <a:bodyPr wrap="square" rtlCol="0">
            <a:spAutoFit/>
          </a:bodyPr>
          <a:lstStyle/>
          <a:p>
            <a:r>
              <a:rPr lang="en-GB" dirty="0"/>
              <a:t>Close button</a:t>
            </a:r>
          </a:p>
        </p:txBody>
      </p:sp>
      <p:cxnSp>
        <p:nvCxnSpPr>
          <p:cNvPr id="12" name="Straight Connector 11">
            <a:extLst>
              <a:ext uri="{FF2B5EF4-FFF2-40B4-BE49-F238E27FC236}">
                <a16:creationId xmlns:a16="http://schemas.microsoft.com/office/drawing/2014/main" id="{DCA98B5C-5C50-463C-8732-753394AC1886}"/>
              </a:ext>
            </a:extLst>
          </p:cNvPr>
          <p:cNvCxnSpPr/>
          <p:nvPr/>
        </p:nvCxnSpPr>
        <p:spPr>
          <a:xfrm>
            <a:off x="4869712" y="1605047"/>
            <a:ext cx="2860158" cy="1053093"/>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6EBD6F-4D56-43D3-9E4B-FFB0AFDED58C}"/>
              </a:ext>
            </a:extLst>
          </p:cNvPr>
          <p:cNvSpPr txBox="1"/>
          <p:nvPr/>
        </p:nvSpPr>
        <p:spPr>
          <a:xfrm>
            <a:off x="7872744" y="2502489"/>
            <a:ext cx="2796362" cy="369332"/>
          </a:xfrm>
          <a:prstGeom prst="rect">
            <a:avLst/>
          </a:prstGeom>
          <a:noFill/>
        </p:spPr>
        <p:txBody>
          <a:bodyPr wrap="square" rtlCol="0">
            <a:spAutoFit/>
          </a:bodyPr>
          <a:lstStyle/>
          <a:p>
            <a:r>
              <a:rPr lang="en-GB" dirty="0"/>
              <a:t>Title bar</a:t>
            </a:r>
          </a:p>
        </p:txBody>
      </p:sp>
      <p:cxnSp>
        <p:nvCxnSpPr>
          <p:cNvPr id="15" name="Straight Connector 14">
            <a:extLst>
              <a:ext uri="{FF2B5EF4-FFF2-40B4-BE49-F238E27FC236}">
                <a16:creationId xmlns:a16="http://schemas.microsoft.com/office/drawing/2014/main" id="{5A0AC9F7-10BD-4EB4-9009-3229875F790B}"/>
              </a:ext>
            </a:extLst>
          </p:cNvPr>
          <p:cNvCxnSpPr/>
          <p:nvPr/>
        </p:nvCxnSpPr>
        <p:spPr>
          <a:xfrm>
            <a:off x="4869712" y="2687155"/>
            <a:ext cx="3391786" cy="1587133"/>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A9703CB-66EE-4685-9815-D8C710037BA4}"/>
              </a:ext>
            </a:extLst>
          </p:cNvPr>
          <p:cNvSpPr txBox="1"/>
          <p:nvPr/>
        </p:nvSpPr>
        <p:spPr>
          <a:xfrm>
            <a:off x="8378456" y="3902149"/>
            <a:ext cx="2964489" cy="369332"/>
          </a:xfrm>
          <a:prstGeom prst="rect">
            <a:avLst/>
          </a:prstGeom>
          <a:noFill/>
        </p:spPr>
        <p:txBody>
          <a:bodyPr wrap="square" rtlCol="0">
            <a:spAutoFit/>
          </a:bodyPr>
          <a:lstStyle/>
          <a:p>
            <a:r>
              <a:rPr lang="en-GB" dirty="0"/>
              <a:t>Window</a:t>
            </a:r>
          </a:p>
        </p:txBody>
      </p:sp>
    </p:spTree>
    <p:extLst>
      <p:ext uri="{BB962C8B-B14F-4D97-AF65-F5344CB8AC3E}">
        <p14:creationId xmlns:p14="http://schemas.microsoft.com/office/powerpoint/2010/main" val="20312053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909310"/>
          </a:xfrm>
          <a:prstGeom prst="rect">
            <a:avLst/>
          </a:prstGeom>
          <a:noFill/>
        </p:spPr>
        <p:txBody>
          <a:bodyPr wrap="square" rtlCol="0">
            <a:spAutoFit/>
          </a:bodyPr>
          <a:lstStyle/>
          <a:p>
            <a:r>
              <a:rPr lang="en-GB" u="sng" dirty="0"/>
              <a:t>Message boxes</a:t>
            </a:r>
          </a:p>
          <a:p>
            <a:endParaRPr lang="en-GB" u="sng" dirty="0"/>
          </a:p>
          <a:p>
            <a:r>
              <a:rPr lang="en-GB" dirty="0"/>
              <a:t>Message boxes look like this:</a:t>
            </a:r>
          </a:p>
          <a:p>
            <a:endParaRPr lang="en-GB" dirty="0"/>
          </a:p>
          <a:p>
            <a:endParaRPr lang="en-GB" dirty="0"/>
          </a:p>
          <a:p>
            <a:endParaRPr lang="en-GB" dirty="0"/>
          </a:p>
          <a:p>
            <a:endParaRPr lang="en-GB" dirty="0"/>
          </a:p>
          <a:p>
            <a:endParaRPr lang="en-GB" dirty="0"/>
          </a:p>
          <a:p>
            <a:endParaRPr lang="en-GB" dirty="0"/>
          </a:p>
          <a:p>
            <a:endParaRPr lang="en-GB" dirty="0"/>
          </a:p>
          <a:p>
            <a:r>
              <a:rPr lang="en-GB" dirty="0"/>
              <a:t>they occupy the bottom left of the screen. You often need to close the window to proceed. Some message boxes have buttons.  Such boxes look like this:</a:t>
            </a:r>
          </a:p>
          <a:p>
            <a:endParaRPr lang="en-GB" dirty="0"/>
          </a:p>
          <a:p>
            <a:endParaRPr lang="en-GB" dirty="0"/>
          </a:p>
          <a:p>
            <a:endParaRPr lang="en-GB" dirty="0"/>
          </a:p>
          <a:p>
            <a:endParaRPr lang="en-GB" dirty="0"/>
          </a:p>
          <a:p>
            <a:endParaRPr lang="en-GB" dirty="0"/>
          </a:p>
          <a:p>
            <a:endParaRPr lang="en-GB" dirty="0"/>
          </a:p>
          <a:p>
            <a:endParaRPr lang="en-GB" dirty="0"/>
          </a:p>
          <a:p>
            <a:r>
              <a:rPr lang="en-GB" dirty="0"/>
              <a:t>You either close the box or press the button to choose an option. </a:t>
            </a:r>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8" name="Picture 7">
            <a:extLst>
              <a:ext uri="{FF2B5EF4-FFF2-40B4-BE49-F238E27FC236}">
                <a16:creationId xmlns:a16="http://schemas.microsoft.com/office/drawing/2014/main" id="{905F5E4B-49C4-4A63-8ADC-FBD8A3081EF9}"/>
              </a:ext>
            </a:extLst>
          </p:cNvPr>
          <p:cNvPicPr>
            <a:picLocks noChangeAspect="1"/>
          </p:cNvPicPr>
          <p:nvPr/>
        </p:nvPicPr>
        <p:blipFill>
          <a:blip r:embed="rId5"/>
          <a:stretch>
            <a:fillRect/>
          </a:stretch>
        </p:blipFill>
        <p:spPr>
          <a:xfrm>
            <a:off x="289473" y="1489440"/>
            <a:ext cx="2952014" cy="1765983"/>
          </a:xfrm>
          <a:prstGeom prst="rect">
            <a:avLst/>
          </a:prstGeom>
        </p:spPr>
      </p:pic>
      <p:pic>
        <p:nvPicPr>
          <p:cNvPr id="11" name="Picture 10">
            <a:extLst>
              <a:ext uri="{FF2B5EF4-FFF2-40B4-BE49-F238E27FC236}">
                <a16:creationId xmlns:a16="http://schemas.microsoft.com/office/drawing/2014/main" id="{0D3524E5-90CC-464D-823A-6A4FC518517F}"/>
              </a:ext>
            </a:extLst>
          </p:cNvPr>
          <p:cNvPicPr>
            <a:picLocks noChangeAspect="1"/>
          </p:cNvPicPr>
          <p:nvPr/>
        </p:nvPicPr>
        <p:blipFill>
          <a:blip r:embed="rId6"/>
          <a:stretch>
            <a:fillRect/>
          </a:stretch>
        </p:blipFill>
        <p:spPr>
          <a:xfrm>
            <a:off x="492935" y="3836537"/>
            <a:ext cx="2952014" cy="1788137"/>
          </a:xfrm>
          <a:prstGeom prst="rect">
            <a:avLst/>
          </a:prstGeom>
        </p:spPr>
      </p:pic>
    </p:spTree>
    <p:extLst>
      <p:ext uri="{BB962C8B-B14F-4D97-AF65-F5344CB8AC3E}">
        <p14:creationId xmlns:p14="http://schemas.microsoft.com/office/powerpoint/2010/main" val="36766619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8679299"/>
          </a:xfrm>
          <a:prstGeom prst="rect">
            <a:avLst/>
          </a:prstGeom>
          <a:noFill/>
        </p:spPr>
        <p:txBody>
          <a:bodyPr wrap="square" rtlCol="0">
            <a:spAutoFit/>
          </a:bodyPr>
          <a:lstStyle/>
          <a:p>
            <a:r>
              <a:rPr lang="en-GB" u="sng" dirty="0"/>
              <a:t>Pop ups</a:t>
            </a:r>
          </a:p>
          <a:p>
            <a:endParaRPr lang="en-GB" u="sng" dirty="0"/>
          </a:p>
          <a:p>
            <a:r>
              <a:rPr lang="en-GB" dirty="0"/>
              <a:t>Pop ups look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You need to read the last line to determine how to exit. Sometimes you click outside of it, sometimes it.</a:t>
            </a:r>
          </a:p>
          <a:p>
            <a:r>
              <a:rPr lang="en-GB" dirty="0"/>
              <a:t>Some pop ups have loading bars:</a:t>
            </a:r>
          </a:p>
          <a:p>
            <a:endParaRPr lang="en-GB" dirty="0"/>
          </a:p>
          <a:p>
            <a:endParaRPr lang="en-GB" dirty="0"/>
          </a:p>
          <a:p>
            <a:endParaRPr lang="en-GB" dirty="0"/>
          </a:p>
          <a:p>
            <a:endParaRPr lang="en-GB" dirty="0"/>
          </a:p>
          <a:p>
            <a:endParaRPr lang="en-GB" dirty="0"/>
          </a:p>
          <a:p>
            <a:endParaRPr lang="en-GB" dirty="0"/>
          </a:p>
          <a:p>
            <a:endParaRPr lang="en-GB" dirty="0"/>
          </a:p>
          <a:p>
            <a:r>
              <a:rPr lang="en-GB" dirty="0"/>
              <a:t>Click on the bar to exit.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9" name="Picture 8">
            <a:extLst>
              <a:ext uri="{FF2B5EF4-FFF2-40B4-BE49-F238E27FC236}">
                <a16:creationId xmlns:a16="http://schemas.microsoft.com/office/drawing/2014/main" id="{C9D4ACBA-4430-4DA0-9D92-C469B58B77F0}"/>
              </a:ext>
            </a:extLst>
          </p:cNvPr>
          <p:cNvPicPr>
            <a:picLocks noChangeAspect="1"/>
          </p:cNvPicPr>
          <p:nvPr/>
        </p:nvPicPr>
        <p:blipFill>
          <a:blip r:embed="rId5"/>
          <a:stretch>
            <a:fillRect/>
          </a:stretch>
        </p:blipFill>
        <p:spPr>
          <a:xfrm>
            <a:off x="274324" y="1524035"/>
            <a:ext cx="3840476" cy="1942059"/>
          </a:xfrm>
          <a:prstGeom prst="rect">
            <a:avLst/>
          </a:prstGeom>
        </p:spPr>
      </p:pic>
      <p:pic>
        <p:nvPicPr>
          <p:cNvPr id="10" name="Picture 9">
            <a:extLst>
              <a:ext uri="{FF2B5EF4-FFF2-40B4-BE49-F238E27FC236}">
                <a16:creationId xmlns:a16="http://schemas.microsoft.com/office/drawing/2014/main" id="{F6260ED6-2133-4F22-BEB4-CBB967E85E23}"/>
              </a:ext>
            </a:extLst>
          </p:cNvPr>
          <p:cNvPicPr>
            <a:picLocks noChangeAspect="1"/>
          </p:cNvPicPr>
          <p:nvPr/>
        </p:nvPicPr>
        <p:blipFill>
          <a:blip r:embed="rId6"/>
          <a:stretch>
            <a:fillRect/>
          </a:stretch>
        </p:blipFill>
        <p:spPr>
          <a:xfrm>
            <a:off x="380650" y="4218031"/>
            <a:ext cx="3627825" cy="1851631"/>
          </a:xfrm>
          <a:prstGeom prst="rect">
            <a:avLst/>
          </a:prstGeom>
        </p:spPr>
      </p:pic>
    </p:spTree>
    <p:extLst>
      <p:ext uri="{BB962C8B-B14F-4D97-AF65-F5344CB8AC3E}">
        <p14:creationId xmlns:p14="http://schemas.microsoft.com/office/powerpoint/2010/main" val="915737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Icons</a:t>
            </a:r>
          </a:p>
          <a:p>
            <a:endParaRPr lang="en-GB" u="sng" dirty="0"/>
          </a:p>
          <a:p>
            <a:r>
              <a:rPr lang="en-GB" dirty="0"/>
              <a:t>Windos 98  uses many icons taken  from Windows 7, Office,  and the Internet. To see all icons:</a:t>
            </a:r>
          </a:p>
          <a:p>
            <a:pPr marL="342900" indent="-342900">
              <a:buAutoNum type="arabicPeriod"/>
            </a:pPr>
            <a:r>
              <a:rPr lang="en-GB" dirty="0"/>
              <a:t>Open explorer</a:t>
            </a:r>
          </a:p>
          <a:p>
            <a:pPr marL="342900" indent="-342900">
              <a:buAutoNum type="arabicPeriod"/>
            </a:pPr>
            <a:r>
              <a:rPr lang="en-GB" dirty="0"/>
              <a:t>Go to C:\</a:t>
            </a:r>
          </a:p>
          <a:p>
            <a:pPr marL="342900" indent="-342900">
              <a:buAutoNum type="arabicPeriod"/>
            </a:pPr>
            <a:r>
              <a:rPr lang="en-GB" dirty="0"/>
              <a:t>Go to Windos</a:t>
            </a:r>
          </a:p>
          <a:p>
            <a:pPr marL="342900" indent="-342900">
              <a:buAutoNum type="arabicPeriod"/>
            </a:pPr>
            <a:r>
              <a:rPr lang="en-GB" dirty="0"/>
              <a:t>Click on shell32.dll</a:t>
            </a:r>
          </a:p>
          <a:p>
            <a:r>
              <a:rPr lang="en-GB" dirty="0"/>
              <a:t>There are many icons, as you can see. All the icons are:</a:t>
            </a:r>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2B7716F3-F0C0-4B1E-A8D3-49FAA1B90D28}"/>
              </a:ext>
            </a:extLst>
          </p:cNvPr>
          <p:cNvPicPr>
            <a:picLocks noChangeAspect="1"/>
          </p:cNvPicPr>
          <p:nvPr/>
        </p:nvPicPr>
        <p:blipFill>
          <a:blip r:embed="rId5"/>
          <a:stretch>
            <a:fillRect/>
          </a:stretch>
        </p:blipFill>
        <p:spPr>
          <a:xfrm>
            <a:off x="1249338" y="3056184"/>
            <a:ext cx="6533694" cy="3229821"/>
          </a:xfrm>
          <a:prstGeom prst="rect">
            <a:avLst/>
          </a:prstGeom>
        </p:spPr>
      </p:pic>
    </p:spTree>
    <p:extLst>
      <p:ext uri="{BB962C8B-B14F-4D97-AF65-F5344CB8AC3E}">
        <p14:creationId xmlns:p14="http://schemas.microsoft.com/office/powerpoint/2010/main" val="21972207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Modifying Windos</a:t>
            </a:r>
          </a:p>
          <a:p>
            <a:endParaRPr lang="en-GB" u="sng" dirty="0"/>
          </a:p>
          <a:p>
            <a:r>
              <a:rPr lang="en-GB" dirty="0"/>
              <a:t>You are allowed to modify the code of Windos 98, as long as you:</a:t>
            </a:r>
          </a:p>
          <a:p>
            <a:endParaRPr lang="en-GB" dirty="0"/>
          </a:p>
          <a:p>
            <a:pPr marL="342900" indent="-342900">
              <a:buAutoNum type="arabicPeriod"/>
            </a:pPr>
            <a:r>
              <a:rPr lang="en-GB" dirty="0"/>
              <a:t>Ensure that the developer’s name is NOT in the OS. </a:t>
            </a:r>
          </a:p>
          <a:p>
            <a:pPr marL="342900" indent="-342900">
              <a:buAutoNum type="arabicPeriod"/>
            </a:pPr>
            <a:r>
              <a:rPr lang="en-GB" dirty="0"/>
              <a:t>Name it something else</a:t>
            </a:r>
          </a:p>
          <a:p>
            <a:pPr marL="342900" indent="-342900">
              <a:buAutoNum type="arabicPeriod"/>
            </a:pPr>
            <a:r>
              <a:rPr lang="en-GB" dirty="0"/>
              <a:t>Not make money from it. </a:t>
            </a:r>
          </a:p>
          <a:p>
            <a:pPr marL="342900" indent="-342900">
              <a:buAutoNum type="arabicPeriod"/>
            </a:pPr>
            <a:endParaRPr lang="en-GB" dirty="0"/>
          </a:p>
          <a:p>
            <a:r>
              <a:rPr lang="en-GB" dirty="0"/>
              <a:t>Feel free to open up PowerPoint and start making changes!</a:t>
            </a:r>
          </a:p>
          <a:p>
            <a:r>
              <a:rPr lang="en-GB" dirty="0"/>
              <a:t>Windos 98 is open source.</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82681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4247317"/>
          </a:xfrm>
          <a:prstGeom prst="rect">
            <a:avLst/>
          </a:prstGeom>
          <a:noFill/>
        </p:spPr>
        <p:txBody>
          <a:bodyPr wrap="square" rtlCol="0">
            <a:spAutoFit/>
          </a:bodyPr>
          <a:lstStyle/>
          <a:p>
            <a:r>
              <a:rPr lang="en-GB" u="sng" dirty="0"/>
              <a:t>Feedback</a:t>
            </a:r>
          </a:p>
          <a:p>
            <a:endParaRPr lang="en-GB" u="sng" dirty="0"/>
          </a:p>
          <a:p>
            <a:r>
              <a:rPr lang="en-GB" dirty="0"/>
              <a:t>Click the button below to give feedback:</a:t>
            </a:r>
          </a:p>
          <a:p>
            <a:endParaRPr lang="en-GB" dirty="0"/>
          </a:p>
          <a:p>
            <a:endParaRPr lang="en-GB" dirty="0"/>
          </a:p>
          <a:p>
            <a:endParaRPr lang="en-GB" dirty="0"/>
          </a:p>
          <a:p>
            <a:endParaRPr lang="en-GB" dirty="0"/>
          </a:p>
          <a:p>
            <a:endParaRPr lang="en-GB" dirty="0"/>
          </a:p>
          <a:p>
            <a:endParaRPr lang="en-GB" dirty="0"/>
          </a:p>
          <a:p>
            <a:endParaRPr lang="en-GB" dirty="0"/>
          </a:p>
          <a:p>
            <a:r>
              <a:rPr lang="en-GB" dirty="0"/>
              <a:t>Be sure to state the:</a:t>
            </a:r>
          </a:p>
          <a:p>
            <a:endParaRPr lang="en-GB" dirty="0"/>
          </a:p>
          <a:p>
            <a:pPr marL="342900" indent="-342900">
              <a:buAutoNum type="arabicPeriod"/>
            </a:pPr>
            <a:r>
              <a:rPr lang="en-GB" dirty="0"/>
              <a:t>Version of Windos 98</a:t>
            </a:r>
          </a:p>
          <a:p>
            <a:pPr marL="342900" indent="-342900">
              <a:buAutoNum type="arabicPeriod"/>
            </a:pPr>
            <a:r>
              <a:rPr lang="en-GB" dirty="0"/>
              <a:t>The issue or suggestion</a:t>
            </a:r>
          </a:p>
          <a:p>
            <a:pPr marL="342900" indent="-342900">
              <a:buAutoNum type="arabicPeriod"/>
            </a:pPr>
            <a:r>
              <a:rPr lang="en-GB" dirty="0"/>
              <a:t>If you want a reply or not.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
        <p:nvSpPr>
          <p:cNvPr id="6" name="Rectangle 5">
            <a:hlinkClick r:id="rId5"/>
            <a:extLst>
              <a:ext uri="{FF2B5EF4-FFF2-40B4-BE49-F238E27FC236}">
                <a16:creationId xmlns:a16="http://schemas.microsoft.com/office/drawing/2014/main" id="{F33F525A-A29D-4D08-B861-BEB47322873C}"/>
              </a:ext>
            </a:extLst>
          </p:cNvPr>
          <p:cNvSpPr/>
          <p:nvPr/>
        </p:nvSpPr>
        <p:spPr>
          <a:xfrm>
            <a:off x="3944679" y="2221062"/>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452048411"/>
      </p:ext>
    </p:extLst>
  </p:cSld>
  <p:clrMapOvr>
    <a:masterClrMapping/>
  </p:clrMapOvr>
</p:sld>
</file>

<file path=ppt/theme/theme1.xml><?xml version="1.0" encoding="utf-8"?>
<a:theme xmlns:a="http://schemas.openxmlformats.org/drawingml/2006/main" name="Office Theme">
  <a:themeElements>
    <a:clrScheme name="No more purpl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4472C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769</TotalTime>
  <Words>2957</Words>
  <Application>Microsoft Office PowerPoint</Application>
  <PresentationFormat>Widescreen</PresentationFormat>
  <Paragraphs>715</Paragraphs>
  <Slides>103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103</vt:i4>
      </vt:variant>
    </vt:vector>
  </HeadingPairs>
  <TitlesOfParts>
    <vt:vector size="10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1079</cp:revision>
  <dcterms:created xsi:type="dcterms:W3CDTF">2020-07-18T17:31:31Z</dcterms:created>
  <dcterms:modified xsi:type="dcterms:W3CDTF">2020-07-20T16:29:51Z</dcterms:modified>
</cp:coreProperties>
</file>